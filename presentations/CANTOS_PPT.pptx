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24"/>
  </p:notesMasterIdLst>
  <p:sldIdLst>
    <p:sldId id="256" r:id="rId5"/>
    <p:sldId id="257" r:id="rId6"/>
    <p:sldId id="260" r:id="rId7"/>
    <p:sldId id="261" r:id="rId8"/>
    <p:sldId id="262" r:id="rId9"/>
    <p:sldId id="263" r:id="rId10"/>
    <p:sldId id="273" r:id="rId11"/>
    <p:sldId id="258" r:id="rId12"/>
    <p:sldId id="267" r:id="rId13"/>
    <p:sldId id="265" r:id="rId14"/>
    <p:sldId id="272" r:id="rId15"/>
    <p:sldId id="268" r:id="rId16"/>
    <p:sldId id="266" r:id="rId17"/>
    <p:sldId id="269" r:id="rId18"/>
    <p:sldId id="270" r:id="rId19"/>
    <p:sldId id="271" r:id="rId20"/>
    <p:sldId id="274" r:id="rId21"/>
    <p:sldId id="264" r:id="rId22"/>
    <p:sldId id="25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1960"/>
    <a:srgbClr val="584B3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839" autoAdjust="0"/>
    <p:restoredTop sz="94660"/>
  </p:normalViewPr>
  <p:slideViewPr>
    <p:cSldViewPr snapToGrid="0">
      <p:cViewPr varScale="1">
        <p:scale>
          <a:sx n="149" d="100"/>
          <a:sy n="149" d="100"/>
        </p:scale>
        <p:origin x="192" y="24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374326-AD78-4E67-8599-BA8A5604D89A}"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8EB8B-B78C-4FCA-B737-0D9226F57ED2}" type="slidenum">
              <a:rPr lang="en-US" smtClean="0"/>
              <a:t>‹#›</a:t>
            </a:fld>
            <a:endParaRPr lang="en-US"/>
          </a:p>
        </p:txBody>
      </p:sp>
    </p:spTree>
    <p:extLst>
      <p:ext uri="{BB962C8B-B14F-4D97-AF65-F5344CB8AC3E}">
        <p14:creationId xmlns:p14="http://schemas.microsoft.com/office/powerpoint/2010/main" val="222933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838199" y="592924"/>
            <a:ext cx="5577591" cy="1207008"/>
          </a:xfrm>
        </p:spPr>
        <p:txBody>
          <a:bodyPr anchor="ctr"/>
          <a:lstStyle>
            <a:lvl1pPr algn="l">
              <a:defRPr sz="3600" b="1" cap="all" baseline="0">
                <a:solidFill>
                  <a:srgbClr val="3E9CC9"/>
                </a:solidFill>
                <a:latin typeface="+mj-lt"/>
              </a:defRPr>
            </a:lvl1pPr>
          </a:lstStyle>
          <a:p>
            <a:r>
              <a:rPr lang="en-US" cap="all" baseline="0" dirty="0"/>
              <a:t>Click to add title</a:t>
            </a:r>
            <a:endParaRPr lang="en-US" dirty="0"/>
          </a:p>
        </p:txBody>
      </p:sp>
      <p:sp>
        <p:nvSpPr>
          <p:cNvPr id="3" name="Subtitle 2"/>
          <p:cNvSpPr>
            <a:spLocks noGrp="1"/>
          </p:cNvSpPr>
          <p:nvPr>
            <p:ph type="subTitle" idx="1" hasCustomPrompt="1"/>
          </p:nvPr>
        </p:nvSpPr>
        <p:spPr>
          <a:xfrm>
            <a:off x="838199" y="1994858"/>
            <a:ext cx="5577589" cy="497951"/>
          </a:xfrm>
        </p:spPr>
        <p:txBody>
          <a:bodyPr>
            <a:normAutofit/>
          </a:bodyPr>
          <a:lstStyle>
            <a:lvl1pPr marL="0" indent="0" algn="l">
              <a:buNone/>
              <a:defRPr sz="2800" b="0" baseline="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Slide Number Placeholder 5"/>
          <p:cNvSpPr>
            <a:spLocks noGrp="1"/>
          </p:cNvSpPr>
          <p:nvPr>
            <p:ph type="sldNum" sz="quarter" idx="12"/>
          </p:nvPr>
        </p:nvSpPr>
        <p:spPr>
          <a:xfrm>
            <a:off x="11309685" y="6356352"/>
            <a:ext cx="563768" cy="365125"/>
          </a:xfrm>
        </p:spPr>
        <p:txBody>
          <a:bodyPr/>
          <a:lstStyle>
            <a:lvl1pPr>
              <a:defRPr>
                <a:solidFill>
                  <a:schemeClr val="bg1"/>
                </a:solidFill>
              </a:defRPr>
            </a:lvl1pPr>
          </a:lstStyle>
          <a:p>
            <a:fld id="{AD40181A-01B0-4CB8-8614-1473649F6741}" type="slidenum">
              <a:rPr lang="en-US" smtClean="0"/>
              <a:pPr/>
              <a:t>‹#›</a:t>
            </a:fld>
            <a:endParaRPr lang="en-US" dirty="0"/>
          </a:p>
        </p:txBody>
      </p:sp>
      <p:sp>
        <p:nvSpPr>
          <p:cNvPr id="12" name="Text Placeholder 11"/>
          <p:cNvSpPr>
            <a:spLocks noGrp="1"/>
          </p:cNvSpPr>
          <p:nvPr>
            <p:ph type="body" sz="quarter" idx="13" hasCustomPrompt="1"/>
          </p:nvPr>
        </p:nvSpPr>
        <p:spPr>
          <a:xfrm>
            <a:off x="838200" y="2764852"/>
            <a:ext cx="5577417" cy="502920"/>
          </a:xfrm>
        </p:spPr>
        <p:txBody>
          <a:bodyPr>
            <a:normAutofit/>
          </a:bodyPr>
          <a:lstStyle>
            <a:lvl1pPr marL="0" indent="0">
              <a:buNone/>
              <a:defRPr sz="2400" b="0" baseline="0">
                <a:latin typeface="Arial" panose="020B0604020202020204" pitchFamily="34" charset="0"/>
                <a:cs typeface="Arial" panose="020B0604020202020204" pitchFamily="34" charset="0"/>
              </a:defRPr>
            </a:lvl1pPr>
          </a:lstStyle>
          <a:p>
            <a:pPr lvl="0"/>
            <a:r>
              <a:rPr lang="en-US" dirty="0"/>
              <a:t>Click to add date</a:t>
            </a:r>
          </a:p>
        </p:txBody>
      </p:sp>
    </p:spTree>
    <p:extLst>
      <p:ext uri="{BB962C8B-B14F-4D97-AF65-F5344CB8AC3E}">
        <p14:creationId xmlns:p14="http://schemas.microsoft.com/office/powerpoint/2010/main" val="2282824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222052" y="320156"/>
            <a:ext cx="11010595" cy="1143000"/>
          </a:xfrm>
        </p:spPr>
        <p:txBody>
          <a:bodyPr/>
          <a:lstStyle>
            <a:lvl1pPr>
              <a:defRPr b="1">
                <a:latin typeface="+mj-lt"/>
              </a:defRPr>
            </a:lvl1pPr>
          </a:lstStyle>
          <a:p>
            <a:r>
              <a:rPr lang="en-US" dirty="0"/>
              <a:t>Click to add title</a:t>
            </a:r>
          </a:p>
        </p:txBody>
      </p:sp>
      <p:sp>
        <p:nvSpPr>
          <p:cNvPr id="3" name="Content Placeholder 2"/>
          <p:cNvSpPr>
            <a:spLocks noGrp="1"/>
          </p:cNvSpPr>
          <p:nvPr>
            <p:ph idx="1" hasCustomPrompt="1"/>
          </p:nvPr>
        </p:nvSpPr>
        <p:spPr>
          <a:xfrm>
            <a:off x="1222052" y="1736231"/>
            <a:ext cx="11010595" cy="3895344"/>
          </a:xfrm>
        </p:spPr>
        <p:txBody>
          <a:bodyPr/>
          <a:lstStyle>
            <a:lvl1pPr>
              <a:defRPr>
                <a:latin typeface="Arial" panose="020B0604020202020204" pitchFamily="34" charset="0"/>
                <a:cs typeface="Arial" panose="020B0604020202020204" pitchFamily="34" charset="0"/>
              </a:defRPr>
            </a:lvl1pPr>
          </a:lstStyle>
          <a:p>
            <a:pPr lvl="0"/>
            <a:r>
              <a:rPr lang="en-US" dirty="0"/>
              <a:t>Click to add text</a:t>
            </a:r>
          </a:p>
        </p:txBody>
      </p:sp>
      <p:sp>
        <p:nvSpPr>
          <p:cNvPr id="6" name="Slide Number Placeholder 5"/>
          <p:cNvSpPr>
            <a:spLocks noGrp="1"/>
          </p:cNvSpPr>
          <p:nvPr>
            <p:ph type="sldNum" sz="quarter" idx="12"/>
          </p:nvPr>
        </p:nvSpPr>
        <p:spPr>
          <a:xfrm>
            <a:off x="11325727" y="6356352"/>
            <a:ext cx="547727" cy="365125"/>
          </a:xfrm>
        </p:spPr>
        <p:txBody>
          <a:bodyPr/>
          <a:lstStyle>
            <a:lvl1pPr>
              <a:defRPr>
                <a:solidFill>
                  <a:srgbClr val="FFFFFE"/>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4200670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11325727" y="6356352"/>
            <a:ext cx="548647" cy="365125"/>
          </a:xfrm>
        </p:spPr>
        <p:txBody>
          <a:bodyPr/>
          <a:lstStyle>
            <a:lvl1pPr>
              <a:defRPr>
                <a:solidFill>
                  <a:srgbClr val="FFFFFE"/>
                </a:solidFill>
              </a:defRPr>
            </a:lvl1pPr>
          </a:lstStyle>
          <a:p>
            <a:fld id="{AD40181A-01B0-4CB8-8614-1473649F6741}" type="slidenum">
              <a:rPr lang="en-US" smtClean="0"/>
              <a:pPr/>
              <a:t>‹#›</a:t>
            </a:fld>
            <a:endParaRPr lang="en-US" dirty="0"/>
          </a:p>
        </p:txBody>
      </p:sp>
      <p:sp>
        <p:nvSpPr>
          <p:cNvPr id="2" name="Title 1"/>
          <p:cNvSpPr>
            <a:spLocks noGrp="1"/>
          </p:cNvSpPr>
          <p:nvPr>
            <p:ph type="title" hasCustomPrompt="1"/>
          </p:nvPr>
        </p:nvSpPr>
        <p:spPr>
          <a:xfrm>
            <a:off x="1745733" y="1543930"/>
            <a:ext cx="9753600" cy="1444752"/>
          </a:xfrm>
        </p:spPr>
        <p:txBody>
          <a:bodyPr/>
          <a:lstStyle>
            <a:lvl1pPr>
              <a:defRPr b="1">
                <a:latin typeface="+mj-lt"/>
              </a:defRPr>
            </a:lvl1pPr>
          </a:lstStyle>
          <a:p>
            <a:r>
              <a:rPr lang="en-US" dirty="0"/>
              <a:t>Click to add title</a:t>
            </a:r>
          </a:p>
        </p:txBody>
      </p:sp>
    </p:spTree>
    <p:extLst>
      <p:ext uri="{BB962C8B-B14F-4D97-AF65-F5344CB8AC3E}">
        <p14:creationId xmlns:p14="http://schemas.microsoft.com/office/powerpoint/2010/main" val="5109936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Autofit/>
          </a:bodyPr>
          <a:lstStyle/>
          <a:p>
            <a:r>
              <a:rPr lang="en-US" dirty="0"/>
              <a:t>Click to add TITLE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rgbClr val="3E9CC9"/>
                </a:solidFill>
              </a:defRPr>
            </a:lvl1pPr>
          </a:lstStyle>
          <a:p>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rgbClr val="3E9CC9"/>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accent3"/>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995964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defTabSz="914400" rtl="0" eaLnBrk="1" latinLnBrk="0" hangingPunct="1">
        <a:lnSpc>
          <a:spcPct val="90000"/>
        </a:lnSpc>
        <a:spcBef>
          <a:spcPct val="0"/>
        </a:spcBef>
        <a:buNone/>
        <a:defRPr sz="3600" b="0" i="0" kern="1200" cap="all" baseline="0">
          <a:solidFill>
            <a:srgbClr val="3E9CC9"/>
          </a:solidFill>
          <a:latin typeface="Rubrik-SemiBold"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0" y="0"/>
            <a:ext cx="7168896" cy="1849990"/>
          </a:xfrm>
        </p:spPr>
        <p:txBody>
          <a:bodyPr/>
          <a:lstStyle/>
          <a:p>
            <a:r>
              <a:rPr lang="en-US" sz="2400" dirty="0">
                <a:solidFill>
                  <a:schemeClr val="accent1"/>
                </a:solidFill>
              </a:rPr>
              <a:t>CANTOS: </a:t>
            </a:r>
            <a:r>
              <a:rPr lang="en-US" sz="2400" dirty="0">
                <a:solidFill>
                  <a:schemeClr val="accent1"/>
                </a:solidFill>
                <a:latin typeface="+mn-lt"/>
                <a:cs typeface="+mn-cs"/>
              </a:rPr>
              <a:t>Clinical trials Automated Nomenclature and Tumor Ontology Standardization PIPELINE</a:t>
            </a:r>
            <a:endParaRPr lang="en-US" sz="2400" dirty="0">
              <a:solidFill>
                <a:schemeClr val="accent1"/>
              </a:solidFill>
            </a:endParaRPr>
          </a:p>
        </p:txBody>
      </p:sp>
      <p:sp>
        <p:nvSpPr>
          <p:cNvPr id="5" name="Subtitle 4"/>
          <p:cNvSpPr>
            <a:spLocks noGrp="1"/>
          </p:cNvSpPr>
          <p:nvPr>
            <p:ph type="subTitle" idx="1"/>
          </p:nvPr>
        </p:nvSpPr>
        <p:spPr>
          <a:xfrm>
            <a:off x="143255" y="1965318"/>
            <a:ext cx="6723889" cy="1016027"/>
          </a:xfrm>
        </p:spPr>
        <p:txBody>
          <a:bodyPr>
            <a:normAutofit/>
          </a:bodyPr>
          <a:lstStyle/>
          <a:p>
            <a:r>
              <a:rPr lang="en-US" sz="1800" b="0" i="0" u="none" strike="noStrike" dirty="0">
                <a:solidFill>
                  <a:srgbClr val="000000"/>
                </a:solidFill>
                <a:effectLst/>
                <a:latin typeface="Times New Roman" panose="02020603050405020304" pitchFamily="18" charset="0"/>
              </a:rPr>
              <a:t>Aditya Lahiri, Sangeeta Shukla, Ben </a:t>
            </a:r>
            <a:r>
              <a:rPr lang="en-US" sz="1800" b="0" i="0" u="none" strike="noStrike" dirty="0" err="1">
                <a:solidFill>
                  <a:srgbClr val="000000"/>
                </a:solidFill>
                <a:effectLst/>
                <a:latin typeface="Times New Roman" panose="02020603050405020304" pitchFamily="18" charset="0"/>
              </a:rPr>
              <a:t>Stear</a:t>
            </a:r>
            <a:r>
              <a:rPr lang="en-US" sz="1800" b="0" i="0" u="none" strike="noStrike" dirty="0">
                <a:solidFill>
                  <a:srgbClr val="000000"/>
                </a:solidFill>
                <a:effectLst/>
                <a:latin typeface="Times New Roman" panose="02020603050405020304" pitchFamily="18" charset="0"/>
              </a:rPr>
              <a:t>, Taha Mohseni </a:t>
            </a:r>
            <a:r>
              <a:rPr lang="en-US" sz="1800" b="0" i="0" u="none" strike="noStrike" dirty="0" err="1">
                <a:solidFill>
                  <a:srgbClr val="000000"/>
                </a:solidFill>
                <a:effectLst/>
                <a:latin typeface="Times New Roman" panose="02020603050405020304" pitchFamily="18" charset="0"/>
              </a:rPr>
              <a:t>Ahooyi</a:t>
            </a:r>
            <a:r>
              <a:rPr lang="en-US" sz="1800" b="0" i="0" u="none" strike="noStrike" dirty="0">
                <a:solidFill>
                  <a:srgbClr val="000000"/>
                </a:solidFill>
                <a:effectLst/>
                <a:latin typeface="Times New Roman" panose="02020603050405020304" pitchFamily="18" charset="0"/>
              </a:rPr>
              <a:t>, Katherine Beigel, Elizabeth </a:t>
            </a:r>
            <a:r>
              <a:rPr lang="en-US" sz="1800" b="0" i="0" u="none" strike="noStrike" dirty="0" err="1">
                <a:solidFill>
                  <a:srgbClr val="000000"/>
                </a:solidFill>
                <a:effectLst/>
                <a:latin typeface="Times New Roman" panose="02020603050405020304" pitchFamily="18" charset="0"/>
              </a:rPr>
              <a:t>Margolskee</a:t>
            </a:r>
            <a:r>
              <a:rPr lang="en-US" sz="1800" b="0" i="0" u="none" strike="noStrike" dirty="0">
                <a:solidFill>
                  <a:srgbClr val="000000"/>
                </a:solidFill>
                <a:effectLst/>
                <a:latin typeface="Times New Roman" panose="02020603050405020304" pitchFamily="18" charset="0"/>
              </a:rPr>
              <a:t>, Deanne Taylor </a:t>
            </a:r>
            <a:endParaRPr lang="en-US" dirty="0"/>
          </a:p>
        </p:txBody>
      </p:sp>
      <p:sp>
        <p:nvSpPr>
          <p:cNvPr id="4" name="Slide Number Placeholder 3"/>
          <p:cNvSpPr>
            <a:spLocks noGrp="1"/>
          </p:cNvSpPr>
          <p:nvPr>
            <p:ph type="sldNum" sz="quarter" idx="12"/>
          </p:nvPr>
        </p:nvSpPr>
        <p:spPr/>
        <p:txBody>
          <a:bodyPr/>
          <a:lstStyle/>
          <a:p>
            <a:fld id="{AD40181A-01B0-4CB8-8614-1473649F6741}" type="slidenum">
              <a:rPr lang="en-US" smtClean="0"/>
              <a:t>1</a:t>
            </a:fld>
            <a:endParaRPr lang="en-US" dirty="0"/>
          </a:p>
        </p:txBody>
      </p:sp>
      <p:sp>
        <p:nvSpPr>
          <p:cNvPr id="2" name="TextBox 1"/>
          <p:cNvSpPr txBox="1"/>
          <p:nvPr/>
        </p:nvSpPr>
        <p:spPr>
          <a:xfrm>
            <a:off x="8247758" y="1780652"/>
            <a:ext cx="184666"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82876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p:cNvSpPr>
            <a:spLocks noGrp="1"/>
          </p:cNvSpPr>
          <p:nvPr>
            <p:ph type="sldNum" sz="quarter" idx="12"/>
          </p:nvPr>
        </p:nvSpPr>
        <p:spPr/>
        <p:txBody>
          <a:bodyPr/>
          <a:lstStyle/>
          <a:p>
            <a:fld id="{AD40181A-01B0-4CB8-8614-1473649F6741}" type="slidenum">
              <a:rPr lang="en-US" smtClean="0">
                <a:solidFill>
                  <a:schemeClr val="bg1"/>
                </a:solidFill>
              </a:rPr>
              <a:t>2</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A18857C-B046-09F1-9416-720821612124}"/>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3007CFA9-434F-8970-63DB-3BEDE685070B}"/>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F43AB81-9950-65C5-AE75-3C6ED7B101BD}"/>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3" name="Rectangle 12">
            <a:extLst>
              <a:ext uri="{FF2B5EF4-FFF2-40B4-BE49-F238E27FC236}">
                <a16:creationId xmlns:a16="http://schemas.microsoft.com/office/drawing/2014/main" id="{B3B92896-E57F-5C6E-81D3-86816D039FB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3" name="Right Arrow 22">
            <a:extLst>
              <a:ext uri="{FF2B5EF4-FFF2-40B4-BE49-F238E27FC236}">
                <a16:creationId xmlns:a16="http://schemas.microsoft.com/office/drawing/2014/main" id="{379600C1-4BE1-99D6-DA05-2F684F20672C}"/>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728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2652D-5529-680B-A167-1C44C4A42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10EA6-7D6C-7E19-1CD8-E54A6787B37B}"/>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9043F883-275D-4544-F0B9-E35E9067DC80}"/>
              </a:ext>
            </a:extLst>
          </p:cNvPr>
          <p:cNvSpPr>
            <a:spLocks noGrp="1"/>
          </p:cNvSpPr>
          <p:nvPr>
            <p:ph type="sldNum" sz="quarter" idx="12"/>
          </p:nvPr>
        </p:nvSpPr>
        <p:spPr/>
        <p:txBody>
          <a:bodyPr/>
          <a:lstStyle/>
          <a:p>
            <a:fld id="{AD40181A-01B0-4CB8-8614-1473649F6741}" type="slidenum">
              <a:rPr lang="en-US" smtClean="0">
                <a:solidFill>
                  <a:schemeClr val="bg1"/>
                </a:solidFill>
              </a:rPr>
              <a:t>3</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40DC8898-86B4-57BF-1948-1FEE81AD7CB1}"/>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DDAC97F1-143B-0FFF-28AB-F39804DAA7F0}"/>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8A1724EC-1264-943A-5FE8-A03AEF194515}"/>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DD656638-5CDC-27E2-7B42-F66CAD1B7302}"/>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1552BA12-BCB8-162A-9F27-466BC0C5BD5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2" name="Right Arrow 21">
            <a:extLst>
              <a:ext uri="{FF2B5EF4-FFF2-40B4-BE49-F238E27FC236}">
                <a16:creationId xmlns:a16="http://schemas.microsoft.com/office/drawing/2014/main" id="{877111A2-86D6-BD1C-0EA3-959DC8F720B8}"/>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D5791DC-CF64-996C-DD47-DC43E8C1C89B}"/>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C0FB-6016-6F0F-EB3E-4B438E47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2C9B35-B9B8-FB5A-B6AC-AFE889852AE9}"/>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B689177F-49C3-DF0A-09BB-F7255201DC99}"/>
              </a:ext>
            </a:extLst>
          </p:cNvPr>
          <p:cNvSpPr>
            <a:spLocks noGrp="1"/>
          </p:cNvSpPr>
          <p:nvPr>
            <p:ph type="sldNum" sz="quarter" idx="12"/>
          </p:nvPr>
        </p:nvSpPr>
        <p:spPr/>
        <p:txBody>
          <a:bodyPr/>
          <a:lstStyle/>
          <a:p>
            <a:fld id="{AD40181A-01B0-4CB8-8614-1473649F6741}" type="slidenum">
              <a:rPr lang="en-US" smtClean="0">
                <a:solidFill>
                  <a:schemeClr val="bg1"/>
                </a:solidFill>
              </a:rPr>
              <a:t>4</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47F5C01-DA34-79F5-CB9E-3E6DCCF42C0C}"/>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7C17AAD4-0BBC-7EDF-DCDB-CC6D21F946CE}"/>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9DB618C-07FF-8DC4-E3CC-A2420C3DA134}"/>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FC3833CC-00C9-7E9A-51E4-59643EE30BFD}"/>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D2291399-4D19-928E-060C-7505B313DE2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49AE5A82-F779-1D63-60FC-7C2D62B9EE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884AF72-6ECF-62D9-ECD6-78F56086063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0AF9611E-21E1-21C7-6536-4B9F85B47D3E}"/>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1BE8C055-881B-3E4A-A5AF-623B32C8416A}"/>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C615022A-6D21-C710-823C-CCA668F88C7D}"/>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BAFB85F-CC33-935C-1B6B-8492F34F6D4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A06CBE06-71A1-9A82-031E-18DDD8E6CE15}"/>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1AF1282B-94D5-EAE4-BD50-6438B9B04157}"/>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035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BF6D-3FB8-90FA-4141-3CD29B447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20A40-AED4-E4A1-01EA-264D8273E7B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CFF0B9FA-34FC-82EF-09AE-B01ED83114EB}"/>
              </a:ext>
            </a:extLst>
          </p:cNvPr>
          <p:cNvSpPr>
            <a:spLocks noGrp="1"/>
          </p:cNvSpPr>
          <p:nvPr>
            <p:ph type="sldNum" sz="quarter" idx="12"/>
          </p:nvPr>
        </p:nvSpPr>
        <p:spPr/>
        <p:txBody>
          <a:bodyPr/>
          <a:lstStyle/>
          <a:p>
            <a:fld id="{AD40181A-01B0-4CB8-8614-1473649F6741}" type="slidenum">
              <a:rPr lang="en-US" smtClean="0">
                <a:solidFill>
                  <a:schemeClr val="bg1"/>
                </a:solidFill>
              </a:rPr>
              <a:t>5</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D63BD362-5AED-C364-624A-40906A8FFA6B}"/>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8497C344-3249-D0DD-C4A2-A8077B66C7E7}"/>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544F9AE-89A5-3A9D-F314-F823395F98A6}"/>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5A7229DE-3FD2-E978-17A2-29C130CB899B}"/>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F47E2FB5-CF89-06C0-D04B-A15A3CAFADA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8D7507A1-E35C-F63B-4A00-DB3A52AC5A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AD80547-62CB-C387-5F6C-EA1FB84A25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10C10235-7C96-47E0-6762-0ED491BA63B9}"/>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5A4812B3-4259-0897-3B4F-EB88DBBF3093}"/>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E28767B-45ED-C362-32C4-169FCF4F21B3}"/>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3654F060-6E8A-1D0A-E818-9B123E78C5C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F0A84076-01BC-8A90-4D91-34DBC1C808D6}"/>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CB42DA62-D4C0-D004-92A7-E0137DA777DF}"/>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ACDA329E-BDF2-2F24-CF1E-96E0A8EA33C9}"/>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1DD0282-8814-22A4-9728-6E528C8EBCC9}"/>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Tree>
    <p:extLst>
      <p:ext uri="{BB962C8B-B14F-4D97-AF65-F5344CB8AC3E}">
        <p14:creationId xmlns:p14="http://schemas.microsoft.com/office/powerpoint/2010/main" val="74268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00A5F-458B-B24E-E0B7-C65E2AC77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C8C67-29C8-EA43-6689-5B7F972B2F0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5F7CCCEA-AE59-D3A6-CB52-199E43F54A92}"/>
              </a:ext>
            </a:extLst>
          </p:cNvPr>
          <p:cNvSpPr>
            <a:spLocks noGrp="1"/>
          </p:cNvSpPr>
          <p:nvPr>
            <p:ph type="sldNum" sz="quarter" idx="12"/>
          </p:nvPr>
        </p:nvSpPr>
        <p:spPr/>
        <p:txBody>
          <a:bodyPr/>
          <a:lstStyle/>
          <a:p>
            <a:fld id="{AD40181A-01B0-4CB8-8614-1473649F6741}" type="slidenum">
              <a:rPr lang="en-US" smtClean="0">
                <a:solidFill>
                  <a:schemeClr val="bg1"/>
                </a:solidFill>
              </a:rPr>
              <a:t>6</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6EDB998-68E1-AD17-716A-78FAED898F7A}"/>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C5B46770-B05D-D544-EBA1-BA836127AA2A}"/>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B68742D-1F7E-9CD1-6BA4-7DD7BC91FC9F}"/>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6245BBB5-4661-7EC5-62C2-3AD7E197C4B0}"/>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C130E80D-F761-C46B-0B74-D83E0D4D6F45}"/>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D9813EFA-86CD-823E-3D84-28C37F21B6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55446897-A0ED-1E2C-0F08-6C2D4BE10E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D834A011-45D1-4ABC-8A32-8A00898C8A8A}"/>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76356B19-6B3F-7B2F-7558-4A06C6A26305}"/>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83A785D-3ED7-645C-5D7B-5ED5E9EC15B7}"/>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FFC6DBB-025C-FFDB-6CF7-190EC5E3073D}"/>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06CF1118-B838-CDEF-F620-D15A3D1288E8}"/>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70096815-009D-BEF4-DCB6-E8F9D649D0AE}"/>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B71E8DA3-F389-9793-F689-9B21E8ECEEB2}"/>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7FCF9D19-5B91-8E26-D5FC-EC12367CB2B8}"/>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
        <p:nvSpPr>
          <p:cNvPr id="11" name="TextBox 10">
            <a:extLst>
              <a:ext uri="{FF2B5EF4-FFF2-40B4-BE49-F238E27FC236}">
                <a16:creationId xmlns:a16="http://schemas.microsoft.com/office/drawing/2014/main" id="{574E9C16-68E9-B059-7BAB-8D0153960D46}"/>
              </a:ext>
            </a:extLst>
          </p:cNvPr>
          <p:cNvSpPr txBox="1"/>
          <p:nvPr/>
        </p:nvSpPr>
        <p:spPr>
          <a:xfrm>
            <a:off x="547439" y="4863349"/>
            <a:ext cx="11176475" cy="1200329"/>
          </a:xfrm>
          <a:prstGeom prst="rect">
            <a:avLst/>
          </a:prstGeom>
          <a:noFill/>
        </p:spPr>
        <p:txBody>
          <a:bodyPr wrap="square" rtlCol="0">
            <a:spAutoFit/>
          </a:bodyPr>
          <a:lstStyle/>
          <a:p>
            <a:pPr algn="just"/>
            <a:r>
              <a:rPr lang="en-US" dirty="0"/>
              <a:t>Challenge: disease names, including tumor names in clinical trials registry  contain extraneous information, typographical errors, missing values, non-standard nomenclature and other inconsistencies which create barriers for data integration and downstream analysis of the CTR data.</a:t>
            </a:r>
          </a:p>
          <a:p>
            <a:endParaRPr lang="en-US" dirty="0"/>
          </a:p>
        </p:txBody>
      </p:sp>
    </p:spTree>
    <p:extLst>
      <p:ext uri="{BB962C8B-B14F-4D97-AF65-F5344CB8AC3E}">
        <p14:creationId xmlns:p14="http://schemas.microsoft.com/office/powerpoint/2010/main" val="124028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0BC4-226F-1C7E-C03F-DB4EDB8B0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E62623-4BFD-F401-CF0F-6BA335860E7F}"/>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4DAA777-9AE5-7322-5281-E39DFE489E1E}"/>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database.</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We evaluate standardization accuracies with respect to only the WHO tumor classification system. </a:t>
            </a:r>
          </a:p>
          <a:p>
            <a:pPr marL="0" indent="0" algn="just">
              <a:buNone/>
            </a:pPr>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570F7BE-2DA3-DA00-140C-40720C4A2B3B}"/>
              </a:ext>
            </a:extLst>
          </p:cNvPr>
          <p:cNvSpPr>
            <a:spLocks noGrp="1"/>
          </p:cNvSpPr>
          <p:nvPr>
            <p:ph type="sldNum" sz="quarter" idx="12"/>
          </p:nvPr>
        </p:nvSpPr>
        <p:spPr/>
        <p:txBody>
          <a:bodyPr/>
          <a:lstStyle/>
          <a:p>
            <a:fld id="{AD40181A-01B0-4CB8-8614-1473649F6741}" type="slidenum">
              <a:rPr lang="en-US" smtClean="0">
                <a:solidFill>
                  <a:schemeClr val="bg1"/>
                </a:solidFill>
              </a:rPr>
              <a:t>7</a:t>
            </a:fld>
            <a:endParaRPr lang="en-US" dirty="0">
              <a:solidFill>
                <a:schemeClr val="bg1"/>
              </a:solidFill>
            </a:endParaRPr>
          </a:p>
        </p:txBody>
      </p:sp>
    </p:spTree>
    <p:extLst>
      <p:ext uri="{BB962C8B-B14F-4D97-AF65-F5344CB8AC3E}">
        <p14:creationId xmlns:p14="http://schemas.microsoft.com/office/powerpoint/2010/main" val="198146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AD40181A-01B0-4CB8-8614-1473649F6741}" type="slidenum">
              <a:rPr lang="en-US" smtClean="0">
                <a:solidFill>
                  <a:srgbClr val="FFFFFE"/>
                </a:solidFill>
              </a:rPr>
              <a:t>8</a:t>
            </a:fld>
            <a:endParaRPr lang="en-US" dirty="0">
              <a:solidFill>
                <a:srgbClr val="FFFFFE"/>
              </a:solidFill>
            </a:endParaRPr>
          </a:p>
        </p:txBody>
      </p:sp>
      <p:sp>
        <p:nvSpPr>
          <p:cNvPr id="3" name="Title 2"/>
          <p:cNvSpPr>
            <a:spLocks noGrp="1"/>
          </p:cNvSpPr>
          <p:nvPr>
            <p:ph type="title"/>
          </p:nvPr>
        </p:nvSpPr>
        <p:spPr>
          <a:xfrm>
            <a:off x="0" y="-294409"/>
            <a:ext cx="11660242" cy="1272422"/>
          </a:xfrm>
        </p:spPr>
        <p:txBody>
          <a:bodyPr/>
          <a:lstStyle/>
          <a:p>
            <a:r>
              <a:rPr lang="en-US" dirty="0"/>
              <a:t>CANTOS phase 1: Tumor identification</a:t>
            </a:r>
          </a:p>
        </p:txBody>
      </p:sp>
      <p:pic>
        <p:nvPicPr>
          <p:cNvPr id="4" name="Content Placeholder 8" descr="A blue and black logo&#10;&#10;Description automatically generated">
            <a:extLst>
              <a:ext uri="{FF2B5EF4-FFF2-40B4-BE49-F238E27FC236}">
                <a16:creationId xmlns:a16="http://schemas.microsoft.com/office/drawing/2014/main" id="{19C3A9C1-93F1-99D1-8570-48F0B1D01BD1}"/>
              </a:ext>
            </a:extLst>
          </p:cNvPr>
          <p:cNvPicPr>
            <a:picLocks noChangeAspect="1"/>
          </p:cNvPicPr>
          <p:nvPr/>
        </p:nvPicPr>
        <p:blipFill>
          <a:blip r:embed="rId2"/>
          <a:stretch>
            <a:fillRect/>
          </a:stretch>
        </p:blipFill>
        <p:spPr>
          <a:xfrm>
            <a:off x="307654" y="2337770"/>
            <a:ext cx="1782457" cy="1433858"/>
          </a:xfrm>
          <a:prstGeom prst="rect">
            <a:avLst/>
          </a:prstGeom>
        </p:spPr>
      </p:pic>
      <p:pic>
        <p:nvPicPr>
          <p:cNvPr id="5" name="Graphic 4" descr="Document outline">
            <a:extLst>
              <a:ext uri="{FF2B5EF4-FFF2-40B4-BE49-F238E27FC236}">
                <a16:creationId xmlns:a16="http://schemas.microsoft.com/office/drawing/2014/main" id="{35DFDB22-5FF4-65DD-75A8-BA8476C1E7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61564" y="2241763"/>
            <a:ext cx="1122081" cy="1122081"/>
          </a:xfrm>
          <a:prstGeom prst="rect">
            <a:avLst/>
          </a:prstGeom>
        </p:spPr>
      </p:pic>
      <p:sp>
        <p:nvSpPr>
          <p:cNvPr id="7" name="TextBox 6">
            <a:extLst>
              <a:ext uri="{FF2B5EF4-FFF2-40B4-BE49-F238E27FC236}">
                <a16:creationId xmlns:a16="http://schemas.microsoft.com/office/drawing/2014/main" id="{679CA8DB-EE78-BB29-19B5-1FAA56F5D1ED}"/>
              </a:ext>
            </a:extLst>
          </p:cNvPr>
          <p:cNvSpPr txBox="1"/>
          <p:nvPr/>
        </p:nvSpPr>
        <p:spPr>
          <a:xfrm>
            <a:off x="3238585" y="3316516"/>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8" name="Right Arrow 7">
            <a:extLst>
              <a:ext uri="{FF2B5EF4-FFF2-40B4-BE49-F238E27FC236}">
                <a16:creationId xmlns:a16="http://schemas.microsoft.com/office/drawing/2014/main" id="{9F1004FD-3068-A67A-3EC2-49B333972427}"/>
              </a:ext>
            </a:extLst>
          </p:cNvPr>
          <p:cNvSpPr/>
          <p:nvPr/>
        </p:nvSpPr>
        <p:spPr>
          <a:xfrm>
            <a:off x="2213090" y="2642314"/>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8D1C32A-F598-2AFF-5354-C13FA1267869}"/>
              </a:ext>
            </a:extLst>
          </p:cNvPr>
          <p:cNvSpPr/>
          <p:nvPr/>
        </p:nvSpPr>
        <p:spPr>
          <a:xfrm>
            <a:off x="5605054" y="2455978"/>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Fuzzy String Match</a:t>
            </a:r>
          </a:p>
        </p:txBody>
      </p:sp>
      <p:pic>
        <p:nvPicPr>
          <p:cNvPr id="13" name="Graphic 12" descr="Database outline">
            <a:extLst>
              <a:ext uri="{FF2B5EF4-FFF2-40B4-BE49-F238E27FC236}">
                <a16:creationId xmlns:a16="http://schemas.microsoft.com/office/drawing/2014/main" id="{CA8A991E-041C-F9B3-E255-517A56F317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23666" y="3972217"/>
            <a:ext cx="1244416" cy="1244416"/>
          </a:xfrm>
          <a:prstGeom prst="rect">
            <a:avLst/>
          </a:prstGeom>
        </p:spPr>
      </p:pic>
      <p:pic>
        <p:nvPicPr>
          <p:cNvPr id="14" name="Graphic 13" descr="Database outline">
            <a:extLst>
              <a:ext uri="{FF2B5EF4-FFF2-40B4-BE49-F238E27FC236}">
                <a16:creationId xmlns:a16="http://schemas.microsoft.com/office/drawing/2014/main" id="{301F0597-96AD-7EFF-38C3-B4AFFAB602E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25211" y="862584"/>
            <a:ext cx="1244416" cy="1244416"/>
          </a:xfrm>
          <a:prstGeom prst="rect">
            <a:avLst/>
          </a:prstGeom>
        </p:spPr>
      </p:pic>
      <p:sp>
        <p:nvSpPr>
          <p:cNvPr id="16" name="TextBox 15">
            <a:extLst>
              <a:ext uri="{FF2B5EF4-FFF2-40B4-BE49-F238E27FC236}">
                <a16:creationId xmlns:a16="http://schemas.microsoft.com/office/drawing/2014/main" id="{0DB0385E-F451-CD90-1DAF-EBD6E13D3162}"/>
              </a:ext>
            </a:extLst>
          </p:cNvPr>
          <p:cNvSpPr txBox="1"/>
          <p:nvPr/>
        </p:nvSpPr>
        <p:spPr>
          <a:xfrm>
            <a:off x="5258608" y="5094863"/>
            <a:ext cx="4034478" cy="369332"/>
          </a:xfrm>
          <a:prstGeom prst="rect">
            <a:avLst/>
          </a:prstGeom>
          <a:noFill/>
        </p:spPr>
        <p:txBody>
          <a:bodyPr wrap="square" rtlCol="0">
            <a:spAutoFit/>
          </a:bodyPr>
          <a:lstStyle/>
          <a:p>
            <a:r>
              <a:rPr lang="en-US" dirty="0">
                <a:solidFill>
                  <a:schemeClr val="bg2">
                    <a:lumMod val="50000"/>
                  </a:schemeClr>
                </a:solidFill>
              </a:rPr>
              <a:t>WHO Tumor Classification System</a:t>
            </a:r>
          </a:p>
        </p:txBody>
      </p:sp>
      <p:sp>
        <p:nvSpPr>
          <p:cNvPr id="17" name="TextBox 16">
            <a:extLst>
              <a:ext uri="{FF2B5EF4-FFF2-40B4-BE49-F238E27FC236}">
                <a16:creationId xmlns:a16="http://schemas.microsoft.com/office/drawing/2014/main" id="{A8E0CCAA-3593-6500-6D5D-A0A1FB7B2BCD}"/>
              </a:ext>
            </a:extLst>
          </p:cNvPr>
          <p:cNvSpPr txBox="1"/>
          <p:nvPr/>
        </p:nvSpPr>
        <p:spPr>
          <a:xfrm>
            <a:off x="5830121" y="616009"/>
            <a:ext cx="2031506" cy="369332"/>
          </a:xfrm>
          <a:prstGeom prst="rect">
            <a:avLst/>
          </a:prstGeom>
          <a:noFill/>
        </p:spPr>
        <p:txBody>
          <a:bodyPr wrap="square" rtlCol="0">
            <a:spAutoFit/>
          </a:bodyPr>
          <a:lstStyle/>
          <a:p>
            <a:r>
              <a:rPr lang="en-US" dirty="0">
                <a:solidFill>
                  <a:schemeClr val="bg2">
                    <a:lumMod val="50000"/>
                  </a:schemeClr>
                </a:solidFill>
              </a:rPr>
              <a:t>Tumor key words</a:t>
            </a:r>
          </a:p>
        </p:txBody>
      </p:sp>
      <p:sp>
        <p:nvSpPr>
          <p:cNvPr id="18" name="Right Arrow 17">
            <a:extLst>
              <a:ext uri="{FF2B5EF4-FFF2-40B4-BE49-F238E27FC236}">
                <a16:creationId xmlns:a16="http://schemas.microsoft.com/office/drawing/2014/main" id="{2B39A889-FCA5-B400-E8D3-B49F754BEE2E}"/>
              </a:ext>
            </a:extLst>
          </p:cNvPr>
          <p:cNvSpPr/>
          <p:nvPr/>
        </p:nvSpPr>
        <p:spPr>
          <a:xfrm>
            <a:off x="4385513" y="2616592"/>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B216ECB-C5A2-8803-328E-44CE7D138A72}"/>
              </a:ext>
            </a:extLst>
          </p:cNvPr>
          <p:cNvSpPr/>
          <p:nvPr/>
        </p:nvSpPr>
        <p:spPr>
          <a:xfrm>
            <a:off x="6595019" y="2023084"/>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a:extLst>
              <a:ext uri="{FF2B5EF4-FFF2-40B4-BE49-F238E27FC236}">
                <a16:creationId xmlns:a16="http://schemas.microsoft.com/office/drawing/2014/main" id="{73310A80-86DB-204B-8D96-19402D444123}"/>
              </a:ext>
            </a:extLst>
          </p:cNvPr>
          <p:cNvSpPr/>
          <p:nvPr/>
        </p:nvSpPr>
        <p:spPr>
          <a:xfrm>
            <a:off x="6589500" y="3443485"/>
            <a:ext cx="512747" cy="562340"/>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44FC835-E36F-AA70-EB8A-A508E553CA79}"/>
              </a:ext>
            </a:extLst>
          </p:cNvPr>
          <p:cNvSpPr/>
          <p:nvPr/>
        </p:nvSpPr>
        <p:spPr>
          <a:xfrm>
            <a:off x="9158480" y="2383892"/>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Flag tumor and manually validate</a:t>
            </a:r>
          </a:p>
        </p:txBody>
      </p:sp>
      <p:sp>
        <p:nvSpPr>
          <p:cNvPr id="22" name="Right Arrow 21">
            <a:extLst>
              <a:ext uri="{FF2B5EF4-FFF2-40B4-BE49-F238E27FC236}">
                <a16:creationId xmlns:a16="http://schemas.microsoft.com/office/drawing/2014/main" id="{3F4E4C5A-9D0E-A829-80F2-9E0BA92A71AB}"/>
              </a:ext>
            </a:extLst>
          </p:cNvPr>
          <p:cNvSpPr/>
          <p:nvPr/>
        </p:nvSpPr>
        <p:spPr>
          <a:xfrm>
            <a:off x="7996271" y="2616591"/>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descr="Document outline">
            <a:extLst>
              <a:ext uri="{FF2B5EF4-FFF2-40B4-BE49-F238E27FC236}">
                <a16:creationId xmlns:a16="http://schemas.microsoft.com/office/drawing/2014/main" id="{1D642C46-64FD-E1CF-991E-3E2C3B5A90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03646" y="3771628"/>
            <a:ext cx="1122081" cy="1122081"/>
          </a:xfrm>
          <a:prstGeom prst="rect">
            <a:avLst/>
          </a:prstGeom>
        </p:spPr>
      </p:pic>
      <p:sp>
        <p:nvSpPr>
          <p:cNvPr id="24" name="TextBox 23">
            <a:extLst>
              <a:ext uri="{FF2B5EF4-FFF2-40B4-BE49-F238E27FC236}">
                <a16:creationId xmlns:a16="http://schemas.microsoft.com/office/drawing/2014/main" id="{A7D4910C-3261-8D5E-DF44-BD78E4DFD445}"/>
              </a:ext>
            </a:extLst>
          </p:cNvPr>
          <p:cNvSpPr txBox="1"/>
          <p:nvPr/>
        </p:nvSpPr>
        <p:spPr>
          <a:xfrm>
            <a:off x="9825967" y="4900084"/>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sp>
        <p:nvSpPr>
          <p:cNvPr id="25" name="Down Arrow 24">
            <a:extLst>
              <a:ext uri="{FF2B5EF4-FFF2-40B4-BE49-F238E27FC236}">
                <a16:creationId xmlns:a16="http://schemas.microsoft.com/office/drawing/2014/main" id="{7908E861-195C-F6AA-4218-CCC0E64A857F}"/>
              </a:ext>
            </a:extLst>
          </p:cNvPr>
          <p:cNvSpPr/>
          <p:nvPr/>
        </p:nvSpPr>
        <p:spPr>
          <a:xfrm>
            <a:off x="10486690" y="3442087"/>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73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722E-3FCD-FD45-A0E6-12A95F208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D30D7-FC81-7A2E-2D28-63AA04393E7F}"/>
              </a:ext>
            </a:extLst>
          </p:cNvPr>
          <p:cNvSpPr>
            <a:spLocks noGrp="1"/>
          </p:cNvSpPr>
          <p:nvPr>
            <p:ph type="title"/>
          </p:nvPr>
        </p:nvSpPr>
        <p:spPr>
          <a:xfrm>
            <a:off x="87085" y="21771"/>
            <a:ext cx="12279086" cy="925286"/>
          </a:xfrm>
        </p:spPr>
        <p:txBody>
          <a:bodyPr/>
          <a:lstStyle/>
          <a:p>
            <a:r>
              <a:rPr lang="en-US" dirty="0"/>
              <a:t>CANTOS PHASE 2: Tumor Name Standardization		</a:t>
            </a:r>
          </a:p>
        </p:txBody>
      </p:sp>
      <p:sp>
        <p:nvSpPr>
          <p:cNvPr id="3" name="Content Placeholder 2">
            <a:extLst>
              <a:ext uri="{FF2B5EF4-FFF2-40B4-BE49-F238E27FC236}">
                <a16:creationId xmlns:a16="http://schemas.microsoft.com/office/drawing/2014/main" id="{03E5FCE7-F75E-2327-9C5F-55E00B34D11D}"/>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Text matching (edit distances): 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a:t>
            </a:r>
            <a:r>
              <a:rPr lang="en-US" sz="1800" dirty="0">
                <a:solidFill>
                  <a:schemeClr val="tx1"/>
                </a:solidFill>
                <a:latin typeface="+mn-lt"/>
                <a:cs typeface="+mn-cs"/>
              </a:rPr>
              <a:t>-Winkler etc. </a:t>
            </a:r>
          </a:p>
          <a:p>
            <a:pPr lvl="1" algn="just"/>
            <a:endParaRPr lang="en-US" sz="1400" dirty="0">
              <a:solidFill>
                <a:schemeClr val="tx1"/>
              </a:solidFill>
              <a:latin typeface="+mn-lt"/>
            </a:endParaRPr>
          </a:p>
          <a:p>
            <a:pPr lvl="1" algn="just"/>
            <a:r>
              <a:rPr lang="en-US" sz="1400" dirty="0">
                <a:solidFill>
                  <a:schemeClr val="tx1"/>
                </a:solidFill>
                <a:latin typeface="+mn-lt"/>
              </a:rPr>
              <a:t>Example : Lung Cancer  and Liver Cancer :  </a:t>
            </a:r>
            <a:r>
              <a:rPr lang="en-US" sz="1400" dirty="0" err="1">
                <a:solidFill>
                  <a:schemeClr val="tx1"/>
                </a:solidFill>
                <a:latin typeface="+mn-lt"/>
              </a:rPr>
              <a:t>Levenshtein</a:t>
            </a:r>
            <a:r>
              <a:rPr lang="en-US" sz="1400" dirty="0">
                <a:solidFill>
                  <a:schemeClr val="tx1"/>
                </a:solidFill>
                <a:latin typeface="+mn-lt"/>
              </a:rPr>
              <a:t> Distance =4</a:t>
            </a:r>
          </a:p>
          <a:p>
            <a:pPr lvl="1" algn="just"/>
            <a:r>
              <a:rPr lang="en-US" sz="1400" dirty="0">
                <a:solidFill>
                  <a:schemeClr val="tx1"/>
                </a:solidFill>
                <a:latin typeface="+mn-lt"/>
                <a:cs typeface="+mn-cs"/>
              </a:rPr>
              <a:t>Example:  Lung Cancer and Non Smal</a:t>
            </a:r>
            <a:r>
              <a:rPr lang="en-US" sz="1400" dirty="0">
                <a:solidFill>
                  <a:schemeClr val="tx1"/>
                </a:solidFill>
                <a:latin typeface="+mn-lt"/>
              </a:rPr>
              <a:t>l Cell Lung Cancer:  </a:t>
            </a:r>
            <a:r>
              <a:rPr lang="en-US" sz="1400" dirty="0" err="1">
                <a:solidFill>
                  <a:schemeClr val="tx1"/>
                </a:solidFill>
                <a:latin typeface="+mn-lt"/>
              </a:rPr>
              <a:t>Levenshtein</a:t>
            </a:r>
            <a:r>
              <a:rPr lang="en-US" sz="1400" dirty="0">
                <a:solidFill>
                  <a:schemeClr val="tx1"/>
                </a:solidFill>
                <a:latin typeface="+mn-lt"/>
              </a:rPr>
              <a:t> Distance =14</a:t>
            </a:r>
            <a:endParaRPr lang="en-US" sz="1400" dirty="0">
              <a:solidFill>
                <a:schemeClr val="tx1"/>
              </a:solidFill>
              <a:latin typeface="+mn-lt"/>
              <a:cs typeface="+mn-cs"/>
            </a:endParaRPr>
          </a:p>
          <a:p>
            <a:pPr algn="just"/>
            <a:endParaRPr lang="en-US" sz="1800" dirty="0">
              <a:solidFill>
                <a:schemeClr val="tx1"/>
              </a:solidFill>
              <a:latin typeface="+mn-lt"/>
              <a:cs typeface="+mn-cs"/>
            </a:endParaRP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9537068-5C1D-29E8-6A44-3E3880B225DF}"/>
              </a:ext>
            </a:extLst>
          </p:cNvPr>
          <p:cNvSpPr>
            <a:spLocks noGrp="1"/>
          </p:cNvSpPr>
          <p:nvPr>
            <p:ph type="sldNum" sz="quarter" idx="12"/>
          </p:nvPr>
        </p:nvSpPr>
        <p:spPr/>
        <p:txBody>
          <a:bodyPr/>
          <a:lstStyle/>
          <a:p>
            <a:fld id="{AD40181A-01B0-4CB8-8614-1473649F6741}" type="slidenum">
              <a:rPr lang="en-US" smtClean="0">
                <a:solidFill>
                  <a:schemeClr val="bg1"/>
                </a:solidFill>
              </a:rPr>
              <a:t>9</a:t>
            </a:fld>
            <a:endParaRPr lang="en-US" dirty="0">
              <a:solidFill>
                <a:schemeClr val="bg1"/>
              </a:solidFill>
            </a:endParaRPr>
          </a:p>
        </p:txBody>
      </p:sp>
    </p:spTree>
    <p:extLst>
      <p:ext uri="{BB962C8B-B14F-4D97-AF65-F5344CB8AC3E}">
        <p14:creationId xmlns:p14="http://schemas.microsoft.com/office/powerpoint/2010/main" val="2648807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60D5-0ADE-5792-F38B-E62C062F6D1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CD26A8-2FC8-DD30-97D2-0E40EAF5ADBF}"/>
              </a:ext>
            </a:extLst>
          </p:cNvPr>
          <p:cNvSpPr>
            <a:spLocks noGrp="1"/>
          </p:cNvSpPr>
          <p:nvPr>
            <p:ph type="sldNum" sz="quarter" idx="12"/>
          </p:nvPr>
        </p:nvSpPr>
        <p:spPr/>
        <p:txBody>
          <a:bodyPr/>
          <a:lstStyle/>
          <a:p>
            <a:fld id="{AD40181A-01B0-4CB8-8614-1473649F6741}" type="slidenum">
              <a:rPr lang="en-US" smtClean="0">
                <a:solidFill>
                  <a:srgbClr val="FFFFFE"/>
                </a:solidFill>
              </a:rPr>
              <a:t>10</a:t>
            </a:fld>
            <a:endParaRPr lang="en-US" dirty="0">
              <a:solidFill>
                <a:srgbClr val="FFFFFE"/>
              </a:solidFill>
            </a:endParaRPr>
          </a:p>
        </p:txBody>
      </p:sp>
      <p:sp>
        <p:nvSpPr>
          <p:cNvPr id="3" name="Title 2">
            <a:extLst>
              <a:ext uri="{FF2B5EF4-FFF2-40B4-BE49-F238E27FC236}">
                <a16:creationId xmlns:a16="http://schemas.microsoft.com/office/drawing/2014/main" id="{B1C6C862-386D-12B2-A6B7-8D9654E3FF35}"/>
              </a:ext>
            </a:extLst>
          </p:cNvPr>
          <p:cNvSpPr>
            <a:spLocks noGrp="1"/>
          </p:cNvSpPr>
          <p:nvPr>
            <p:ph type="title"/>
          </p:nvPr>
        </p:nvSpPr>
        <p:spPr>
          <a:xfrm>
            <a:off x="-1" y="-294409"/>
            <a:ext cx="12398829" cy="1262474"/>
          </a:xfrm>
        </p:spPr>
        <p:txBody>
          <a:bodyPr/>
          <a:lstStyle/>
          <a:p>
            <a:r>
              <a:rPr lang="en-US" dirty="0"/>
              <a:t>CANTOS Phase 2: Tumor Name Standardization</a:t>
            </a:r>
          </a:p>
        </p:txBody>
      </p:sp>
      <p:pic>
        <p:nvPicPr>
          <p:cNvPr id="5" name="Graphic 4" descr="Document outline">
            <a:extLst>
              <a:ext uri="{FF2B5EF4-FFF2-40B4-BE49-F238E27FC236}">
                <a16:creationId xmlns:a16="http://schemas.microsoft.com/office/drawing/2014/main" id="{42B33DF4-60C2-1A56-0331-095B57C419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776795F-7ACE-3F42-6A31-D87C253DD4B3}"/>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D1933F5-1AFB-BFD9-ED47-ABC750D74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F3AF1533-C3BE-BE71-98C1-E47E9B9F2B8C}"/>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2DACE30A-D8C5-7184-1BB4-91D4E0E5CA43}"/>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B2CF8BF-C061-21CA-3A3F-608F28B494D7}"/>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5DF64D4-81B9-73C2-DD97-9F86B72DC86F}"/>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9" name="Right Arrow 28">
            <a:extLst>
              <a:ext uri="{FF2B5EF4-FFF2-40B4-BE49-F238E27FC236}">
                <a16:creationId xmlns:a16="http://schemas.microsoft.com/office/drawing/2014/main" id="{84CCA57B-3C8C-41BE-8EA3-47D5E0FB7917}"/>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81EB917E-25B1-AE1F-4FAD-C37EBF6AB563}"/>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ight Brace 37">
            <a:extLst>
              <a:ext uri="{FF2B5EF4-FFF2-40B4-BE49-F238E27FC236}">
                <a16:creationId xmlns:a16="http://schemas.microsoft.com/office/drawing/2014/main" id="{5B15DFEF-EFF7-8D4C-54A0-DC38BE50E2DC}"/>
              </a:ext>
            </a:extLst>
          </p:cNvPr>
          <p:cNvSpPr/>
          <p:nvPr/>
        </p:nvSpPr>
        <p:spPr>
          <a:xfrm>
            <a:off x="10663790" y="7164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53EDA427-5FAF-58FC-D28C-F17CF15A4D06}"/>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Tree>
    <p:extLst>
      <p:ext uri="{BB962C8B-B14F-4D97-AF65-F5344CB8AC3E}">
        <p14:creationId xmlns:p14="http://schemas.microsoft.com/office/powerpoint/2010/main" val="2050892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4ED1-CC20-05D0-6BC7-56326469E2D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06B9107-0F19-98A4-E646-E896FF646D8A}"/>
              </a:ext>
            </a:extLst>
          </p:cNvPr>
          <p:cNvSpPr>
            <a:spLocks noGrp="1"/>
          </p:cNvSpPr>
          <p:nvPr>
            <p:ph type="sldNum" sz="quarter" idx="12"/>
          </p:nvPr>
        </p:nvSpPr>
        <p:spPr/>
        <p:txBody>
          <a:bodyPr/>
          <a:lstStyle/>
          <a:p>
            <a:fld id="{AD40181A-01B0-4CB8-8614-1473649F6741}" type="slidenum">
              <a:rPr lang="en-US" smtClean="0">
                <a:solidFill>
                  <a:srgbClr val="FFFFFE"/>
                </a:solidFill>
              </a:rPr>
              <a:t>11</a:t>
            </a:fld>
            <a:endParaRPr lang="en-US" dirty="0">
              <a:solidFill>
                <a:srgbClr val="FFFFFE"/>
              </a:solidFill>
            </a:endParaRPr>
          </a:p>
        </p:txBody>
      </p:sp>
      <p:sp>
        <p:nvSpPr>
          <p:cNvPr id="3" name="Title 2">
            <a:extLst>
              <a:ext uri="{FF2B5EF4-FFF2-40B4-BE49-F238E27FC236}">
                <a16:creationId xmlns:a16="http://schemas.microsoft.com/office/drawing/2014/main" id="{EE90D74E-F19F-C162-1C71-6A609F4707FB}"/>
              </a:ext>
            </a:extLst>
          </p:cNvPr>
          <p:cNvSpPr>
            <a:spLocks noGrp="1"/>
          </p:cNvSpPr>
          <p:nvPr>
            <p:ph type="title"/>
          </p:nvPr>
        </p:nvSpPr>
        <p:spPr>
          <a:xfrm>
            <a:off x="0" y="-294409"/>
            <a:ext cx="12192000" cy="1316304"/>
          </a:xfrm>
        </p:spPr>
        <p:txBody>
          <a:bodyPr/>
          <a:lstStyle/>
          <a:p>
            <a:r>
              <a:rPr lang="en-US" dirty="0"/>
              <a:t>CANTOS Phase 2: Tumor Name Standardization</a:t>
            </a:r>
          </a:p>
        </p:txBody>
      </p:sp>
      <p:pic>
        <p:nvPicPr>
          <p:cNvPr id="5" name="Graphic 4" descr="Document outline">
            <a:extLst>
              <a:ext uri="{FF2B5EF4-FFF2-40B4-BE49-F238E27FC236}">
                <a16:creationId xmlns:a16="http://schemas.microsoft.com/office/drawing/2014/main" id="{0D927044-A174-2479-82B2-24AA656D7C3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A1866D3-1891-9631-47E4-E1B933627280}"/>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08D9A37F-8F90-D6BE-3E02-F15A527112B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2D6DDF39-BA25-89EB-E669-D0571B03E686}"/>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E83079F9-18CC-2DE7-4934-F07C486C4F5D}"/>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matrices: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EC3A602-79D5-D2EF-F1FF-AA77FF310725}"/>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76B41CF-C4EB-66B7-4C73-89122363C57B}"/>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7AE309AD-F675-F3D6-75E6-1BED41292FA7}"/>
              </a:ext>
            </a:extLst>
          </p:cNvPr>
          <p:cNvSpPr/>
          <p:nvPr/>
        </p:nvSpPr>
        <p:spPr>
          <a:xfrm>
            <a:off x="2683316" y="2700388"/>
            <a:ext cx="3071488" cy="7179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edit distance to cluster: Affinity Propagation</a:t>
            </a:r>
          </a:p>
        </p:txBody>
      </p:sp>
      <p:sp>
        <p:nvSpPr>
          <p:cNvPr id="27" name="Right Arrow 26">
            <a:extLst>
              <a:ext uri="{FF2B5EF4-FFF2-40B4-BE49-F238E27FC236}">
                <a16:creationId xmlns:a16="http://schemas.microsoft.com/office/drawing/2014/main" id="{AE710EF4-4533-E403-8B35-8E5CE41FF361}"/>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91C0645-72CC-2657-A1C0-F52E72460D40}"/>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3FD0F542-0B77-26F1-7CE8-9516EB30B754}"/>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EADDD32C-3077-2C2D-D980-404210817F74}"/>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72015DEA-0C6D-AD5B-FE85-B8BC8A39B033}"/>
              </a:ext>
            </a:extLst>
          </p:cNvPr>
          <p:cNvSpPr/>
          <p:nvPr/>
        </p:nvSpPr>
        <p:spPr>
          <a:xfrm rot="5400000">
            <a:off x="3831138" y="3593062"/>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F35627-7B35-81FC-9A8A-8EFE150EA062}"/>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F47600FE-E23D-E916-7575-E73E22F29AB3}"/>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9AC9C69E-8BD0-83A7-8EE6-C9BFDFB9DBC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Brace 3">
            <a:extLst>
              <a:ext uri="{FF2B5EF4-FFF2-40B4-BE49-F238E27FC236}">
                <a16:creationId xmlns:a16="http://schemas.microsoft.com/office/drawing/2014/main" id="{600FA181-A992-DD0D-5CB4-088E693E75FB}"/>
              </a:ext>
            </a:extLst>
          </p:cNvPr>
          <p:cNvSpPr/>
          <p:nvPr/>
        </p:nvSpPr>
        <p:spPr>
          <a:xfrm>
            <a:off x="11046758" y="3686560"/>
            <a:ext cx="1140035" cy="22357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E239C3DB-2C35-219F-451D-86A29531D9E5}"/>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
        <p:nvSpPr>
          <p:cNvPr id="8" name="Right Brace 7">
            <a:extLst>
              <a:ext uri="{FF2B5EF4-FFF2-40B4-BE49-F238E27FC236}">
                <a16:creationId xmlns:a16="http://schemas.microsoft.com/office/drawing/2014/main" id="{5AAD7296-6D9B-0524-2F1F-4564768692A3}"/>
              </a:ext>
            </a:extLst>
          </p:cNvPr>
          <p:cNvSpPr/>
          <p:nvPr/>
        </p:nvSpPr>
        <p:spPr>
          <a:xfrm>
            <a:off x="10816190" y="8688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6A03E6C-FEDA-1054-D40F-FABECE919F01}"/>
              </a:ext>
            </a:extLst>
          </p:cNvPr>
          <p:cNvSpPr txBox="1"/>
          <p:nvPr/>
        </p:nvSpPr>
        <p:spPr>
          <a:xfrm>
            <a:off x="8809861" y="5585353"/>
            <a:ext cx="2576346" cy="369332"/>
          </a:xfrm>
          <a:prstGeom prst="rect">
            <a:avLst/>
          </a:prstGeom>
          <a:noFill/>
        </p:spPr>
        <p:txBody>
          <a:bodyPr wrap="none" rtlCol="0">
            <a:spAutoFit/>
          </a:bodyPr>
          <a:lstStyle/>
          <a:p>
            <a:r>
              <a:rPr lang="en-US" dirty="0"/>
              <a:t>Cluster based approach</a:t>
            </a:r>
          </a:p>
        </p:txBody>
      </p:sp>
    </p:spTree>
    <p:extLst>
      <p:ext uri="{BB962C8B-B14F-4D97-AF65-F5344CB8AC3E}">
        <p14:creationId xmlns:p14="http://schemas.microsoft.com/office/powerpoint/2010/main" val="38179559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C1EB9-9B68-70A2-3AE0-52EF6172BB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261B09-5FE2-1F2B-B4DA-07731E7651A6}"/>
              </a:ext>
            </a:extLst>
          </p:cNvPr>
          <p:cNvSpPr>
            <a:spLocks noGrp="1"/>
          </p:cNvSpPr>
          <p:nvPr>
            <p:ph type="title"/>
          </p:nvPr>
        </p:nvSpPr>
        <p:spPr>
          <a:xfrm>
            <a:off x="87086" y="21771"/>
            <a:ext cx="12104914" cy="892629"/>
          </a:xfrm>
        </p:spPr>
        <p:txBody>
          <a:bodyPr/>
          <a:lstStyle/>
          <a:p>
            <a:r>
              <a:rPr lang="en-US" dirty="0"/>
              <a:t>CANTOS Phase 2: Tumor Name Standardization</a:t>
            </a:r>
          </a:p>
        </p:txBody>
      </p:sp>
      <p:sp>
        <p:nvSpPr>
          <p:cNvPr id="3" name="Content Placeholder 2">
            <a:extLst>
              <a:ext uri="{FF2B5EF4-FFF2-40B4-BE49-F238E27FC236}">
                <a16:creationId xmlns:a16="http://schemas.microsoft.com/office/drawing/2014/main" id="{746048D8-729C-FD55-857D-1B1119FA6E74}"/>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lvl="1" algn="just"/>
            <a:r>
              <a:rPr lang="en-US" sz="1400" dirty="0">
                <a:solidFill>
                  <a:schemeClr val="tx1"/>
                </a:solidFill>
                <a:latin typeface="+mn-lt"/>
              </a:rPr>
              <a:t>Example : Lung Cancer  and Liver Cancer :  </a:t>
            </a:r>
            <a:r>
              <a:rPr lang="en-US" sz="1400" dirty="0" err="1">
                <a:solidFill>
                  <a:schemeClr val="tx1"/>
                </a:solidFill>
                <a:latin typeface="+mn-lt"/>
              </a:rPr>
              <a:t>Levenshtein</a:t>
            </a:r>
            <a:r>
              <a:rPr lang="en-US" sz="1400" dirty="0">
                <a:solidFill>
                  <a:schemeClr val="tx1"/>
                </a:solidFill>
                <a:latin typeface="+mn-lt"/>
              </a:rPr>
              <a:t> Distance =4</a:t>
            </a:r>
          </a:p>
          <a:p>
            <a:pPr lvl="1" algn="just"/>
            <a:r>
              <a:rPr lang="en-US" sz="1400" dirty="0">
                <a:solidFill>
                  <a:schemeClr val="tx1"/>
                </a:solidFill>
                <a:latin typeface="+mn-lt"/>
                <a:cs typeface="+mn-cs"/>
              </a:rPr>
              <a:t>Example:  Lung Cancer and Non Smal</a:t>
            </a:r>
            <a:r>
              <a:rPr lang="en-US" sz="1400" dirty="0">
                <a:solidFill>
                  <a:schemeClr val="tx1"/>
                </a:solidFill>
                <a:latin typeface="+mn-lt"/>
              </a:rPr>
              <a:t>l Cell Lung Cancer:  </a:t>
            </a:r>
            <a:r>
              <a:rPr lang="en-US" sz="1400" dirty="0" err="1">
                <a:solidFill>
                  <a:schemeClr val="tx1"/>
                </a:solidFill>
                <a:latin typeface="+mn-lt"/>
              </a:rPr>
              <a:t>Levenshtein</a:t>
            </a:r>
            <a:r>
              <a:rPr lang="en-US" sz="1400" dirty="0">
                <a:solidFill>
                  <a:schemeClr val="tx1"/>
                </a:solidFill>
                <a:latin typeface="+mn-lt"/>
              </a:rPr>
              <a:t> Distance =14</a:t>
            </a:r>
            <a:endParaRPr lang="en-US" sz="1400" dirty="0">
              <a:solidFill>
                <a:schemeClr val="tx1"/>
              </a:solidFill>
              <a:latin typeface="+mn-lt"/>
              <a:cs typeface="+mn-cs"/>
            </a:endParaRPr>
          </a:p>
          <a:p>
            <a:pPr algn="just"/>
            <a:endParaRPr lang="en-US" sz="1800" dirty="0">
              <a:solidFill>
                <a:schemeClr val="tx1"/>
              </a:solidFill>
              <a:latin typeface="+mn-lt"/>
              <a:cs typeface="+mn-cs"/>
            </a:endParaRPr>
          </a:p>
          <a:p>
            <a:r>
              <a:rPr lang="en-US" sz="1800" dirty="0">
                <a:solidFill>
                  <a:schemeClr val="tx1"/>
                </a:solidFill>
                <a:latin typeface="+mn-lt"/>
                <a:cs typeface="+mn-cs"/>
              </a:rPr>
              <a:t>Text Embeddings: Text embeddings are numerical vector representations of text — words, phrases, or entire documents — that capture their meaning and semantic relationships in a high-dimensional space.</a:t>
            </a:r>
          </a:p>
          <a:p>
            <a:pPr lvl="1"/>
            <a:r>
              <a:rPr lang="en-US" sz="1400" dirty="0">
                <a:solidFill>
                  <a:schemeClr val="tx1"/>
                </a:solidFill>
                <a:latin typeface="+mn-lt"/>
                <a:cs typeface="+mn-cs"/>
              </a:rPr>
              <a:t>Similar meanings → vectors that are close together</a:t>
            </a:r>
            <a:br>
              <a:rPr lang="en-US" sz="1400" dirty="0">
                <a:solidFill>
                  <a:schemeClr val="tx1"/>
                </a:solidFill>
                <a:latin typeface="+mn-lt"/>
                <a:cs typeface="+mn-cs"/>
              </a:rPr>
            </a:br>
            <a:r>
              <a:rPr lang="en-US" sz="1400" dirty="0">
                <a:solidFill>
                  <a:schemeClr val="tx1"/>
                </a:solidFill>
                <a:latin typeface="+mn-lt"/>
                <a:cs typeface="+mn-cs"/>
              </a:rPr>
              <a:t>Different meanings → vectors that are far apart</a:t>
            </a:r>
          </a:p>
          <a:p>
            <a:pPr lvl="1"/>
            <a:endParaRPr lang="en-US" sz="1800" dirty="0">
              <a:solidFill>
                <a:schemeClr val="tx1"/>
              </a:solidFill>
              <a:latin typeface="+mn-lt"/>
            </a:endParaRPr>
          </a:p>
          <a:p>
            <a:r>
              <a:rPr lang="en-US" sz="1800" dirty="0">
                <a:solidFill>
                  <a:schemeClr val="tx1"/>
                </a:solidFill>
                <a:latin typeface="+mn-lt"/>
                <a:cs typeface="+mn-cs"/>
              </a:rPr>
              <a:t>Text Embeddings: generated by models based on NLP (Word2Vec, </a:t>
            </a:r>
            <a:r>
              <a:rPr lang="en-US" sz="1800" dirty="0" err="1">
                <a:solidFill>
                  <a:schemeClr val="tx1"/>
                </a:solidFill>
                <a:latin typeface="+mn-lt"/>
                <a:cs typeface="+mn-cs"/>
              </a:rPr>
              <a:t>GloVe</a:t>
            </a:r>
            <a:r>
              <a:rPr lang="en-US" sz="1800" dirty="0">
                <a:solidFill>
                  <a:schemeClr val="tx1"/>
                </a:solidFill>
                <a:latin typeface="+mn-lt"/>
                <a:cs typeface="+mn-cs"/>
              </a:rPr>
              <a:t>), transformers (</a:t>
            </a:r>
            <a:r>
              <a:rPr lang="en-US" sz="1800" dirty="0" err="1">
                <a:solidFill>
                  <a:schemeClr val="tx1"/>
                </a:solidFill>
                <a:latin typeface="+mn-lt"/>
                <a:cs typeface="+mn-cs"/>
              </a:rPr>
              <a:t>BioBERT</a:t>
            </a:r>
            <a:r>
              <a:rPr lang="en-US" sz="1800" dirty="0">
                <a:solidFill>
                  <a:schemeClr val="tx1"/>
                </a:solidFill>
                <a:latin typeface="+mn-lt"/>
                <a:cs typeface="+mn-cs"/>
              </a:rPr>
              <a:t>, </a:t>
            </a:r>
            <a:r>
              <a:rPr lang="en-US" sz="1800" dirty="0" err="1">
                <a:solidFill>
                  <a:schemeClr val="tx1"/>
                </a:solidFill>
                <a:latin typeface="+mn-lt"/>
                <a:cs typeface="+mn-cs"/>
              </a:rPr>
              <a:t>BioGPT</a:t>
            </a:r>
            <a:r>
              <a:rPr lang="en-US" sz="1800" dirty="0">
                <a:solidFill>
                  <a:schemeClr val="tx1"/>
                </a:solidFill>
                <a:latin typeface="+mn-lt"/>
                <a:cs typeface="+mn-cs"/>
              </a:rPr>
              <a:t>) and LLMs (Llama, Open AI, Cohere, </a:t>
            </a:r>
            <a:r>
              <a:rPr lang="en-US" sz="1800" dirty="0" err="1">
                <a:solidFill>
                  <a:schemeClr val="tx1"/>
                </a:solidFill>
                <a:latin typeface="+mn-lt"/>
                <a:cs typeface="+mn-cs"/>
              </a:rPr>
              <a:t>miniLM</a:t>
            </a:r>
            <a:r>
              <a:rPr lang="en-US" sz="1800" dirty="0">
                <a:solidFill>
                  <a:schemeClr val="tx1"/>
                </a:solidFill>
                <a:latin typeface="+mn-lt"/>
                <a:cs typeface="+mn-cs"/>
              </a:rPr>
              <a:t>).</a:t>
            </a:r>
          </a:p>
          <a:p>
            <a:endParaRPr lang="en-US" sz="1800" dirty="0">
              <a:solidFill>
                <a:schemeClr val="tx1"/>
              </a:solidFill>
              <a:latin typeface="+mn-lt"/>
              <a:cs typeface="+mn-cs"/>
            </a:endParaRPr>
          </a:p>
        </p:txBody>
      </p:sp>
      <p:sp>
        <p:nvSpPr>
          <p:cNvPr id="4" name="Slide Number Placeholder 3">
            <a:extLst>
              <a:ext uri="{FF2B5EF4-FFF2-40B4-BE49-F238E27FC236}">
                <a16:creationId xmlns:a16="http://schemas.microsoft.com/office/drawing/2014/main" id="{329BE4E6-4BC0-54DC-4146-6C32F8532DB7}"/>
              </a:ext>
            </a:extLst>
          </p:cNvPr>
          <p:cNvSpPr>
            <a:spLocks noGrp="1"/>
          </p:cNvSpPr>
          <p:nvPr>
            <p:ph type="sldNum" sz="quarter" idx="12"/>
          </p:nvPr>
        </p:nvSpPr>
        <p:spPr/>
        <p:txBody>
          <a:bodyPr/>
          <a:lstStyle/>
          <a:p>
            <a:fld id="{AD40181A-01B0-4CB8-8614-1473649F6741}" type="slidenum">
              <a:rPr lang="en-US" smtClean="0">
                <a:solidFill>
                  <a:schemeClr val="bg1"/>
                </a:solidFill>
              </a:rPr>
              <a:t>12</a:t>
            </a:fld>
            <a:endParaRPr lang="en-US" dirty="0">
              <a:solidFill>
                <a:schemeClr val="bg1"/>
              </a:solidFill>
            </a:endParaRPr>
          </a:p>
        </p:txBody>
      </p:sp>
    </p:spTree>
    <p:extLst>
      <p:ext uri="{BB962C8B-B14F-4D97-AF65-F5344CB8AC3E}">
        <p14:creationId xmlns:p14="http://schemas.microsoft.com/office/powerpoint/2010/main" val="3534941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F464-9BC2-59B5-6597-4C3F2CDFD51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6DBE8F5-57CD-3A29-C0B3-CB97D1180950}"/>
              </a:ext>
            </a:extLst>
          </p:cNvPr>
          <p:cNvSpPr>
            <a:spLocks noGrp="1"/>
          </p:cNvSpPr>
          <p:nvPr>
            <p:ph type="sldNum" sz="quarter" idx="12"/>
          </p:nvPr>
        </p:nvSpPr>
        <p:spPr/>
        <p:txBody>
          <a:bodyPr/>
          <a:lstStyle/>
          <a:p>
            <a:fld id="{AD40181A-01B0-4CB8-8614-1473649F6741}" type="slidenum">
              <a:rPr lang="en-US" smtClean="0">
                <a:solidFill>
                  <a:srgbClr val="FFFFFE"/>
                </a:solidFill>
              </a:rPr>
              <a:t>13</a:t>
            </a:fld>
            <a:endParaRPr lang="en-US" dirty="0">
              <a:solidFill>
                <a:srgbClr val="FFFFFE"/>
              </a:solidFill>
            </a:endParaRPr>
          </a:p>
        </p:txBody>
      </p:sp>
      <p:sp>
        <p:nvSpPr>
          <p:cNvPr id="3" name="Title 2">
            <a:extLst>
              <a:ext uri="{FF2B5EF4-FFF2-40B4-BE49-F238E27FC236}">
                <a16:creationId xmlns:a16="http://schemas.microsoft.com/office/drawing/2014/main" id="{23D9419A-DE97-CD7A-A21A-0DC56A367EDA}"/>
              </a:ext>
            </a:extLst>
          </p:cNvPr>
          <p:cNvSpPr>
            <a:spLocks noGrp="1"/>
          </p:cNvSpPr>
          <p:nvPr>
            <p:ph type="title"/>
          </p:nvPr>
        </p:nvSpPr>
        <p:spPr>
          <a:xfrm>
            <a:off x="0" y="-294410"/>
            <a:ext cx="12192000" cy="1414237"/>
          </a:xfrm>
        </p:spPr>
        <p:txBody>
          <a:bodyPr/>
          <a:lstStyle/>
          <a:p>
            <a:r>
              <a:rPr lang="en-US" dirty="0"/>
              <a:t>CANTOS phase 2: Tumor Name Standardization</a:t>
            </a:r>
          </a:p>
        </p:txBody>
      </p:sp>
      <p:pic>
        <p:nvPicPr>
          <p:cNvPr id="5" name="Graphic 4" descr="Document outline">
            <a:extLst>
              <a:ext uri="{FF2B5EF4-FFF2-40B4-BE49-F238E27FC236}">
                <a16:creationId xmlns:a16="http://schemas.microsoft.com/office/drawing/2014/main" id="{B1274813-20A4-1606-A389-6B2E381AC6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C885851-A36F-18EE-0542-BF2BF98804E4}"/>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B7A1ED1-AF7D-2EAA-FDC9-7C40132B7A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AFB1358E-8A86-AD6C-27A6-FA2CDE97CB51}"/>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B0BC2DE0-B4D5-9473-5C7D-82C99B381AB9}"/>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embedding distance matrices</a:t>
            </a:r>
          </a:p>
        </p:txBody>
      </p:sp>
      <p:sp>
        <p:nvSpPr>
          <p:cNvPr id="24" name="Right Arrow 23">
            <a:extLst>
              <a:ext uri="{FF2B5EF4-FFF2-40B4-BE49-F238E27FC236}">
                <a16:creationId xmlns:a16="http://schemas.microsoft.com/office/drawing/2014/main" id="{AE277EA4-33A9-11F8-A04C-D51F165EEAD3}"/>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C39FA034-ED8A-47ED-5412-F1A63511EA3C}"/>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610E811E-8F27-2DFB-ED8D-FD08D41E84C1}"/>
              </a:ext>
            </a:extLst>
          </p:cNvPr>
          <p:cNvSpPr/>
          <p:nvPr/>
        </p:nvSpPr>
        <p:spPr>
          <a:xfrm>
            <a:off x="2600879" y="2650336"/>
            <a:ext cx="3271171" cy="855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embedding distance to cluster: Affinity Propagation or </a:t>
            </a:r>
            <a:r>
              <a:rPr lang="en-US" dirty="0" err="1"/>
              <a:t>KMeans</a:t>
            </a:r>
            <a:endParaRPr lang="en-US" dirty="0"/>
          </a:p>
        </p:txBody>
      </p:sp>
      <p:sp>
        <p:nvSpPr>
          <p:cNvPr id="27" name="Right Arrow 26">
            <a:extLst>
              <a:ext uri="{FF2B5EF4-FFF2-40B4-BE49-F238E27FC236}">
                <a16:creationId xmlns:a16="http://schemas.microsoft.com/office/drawing/2014/main" id="{09B512F6-E843-6C7C-F81B-0ED886805E12}"/>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CFC6ABB-43B9-D40D-04B3-9932E4470447}"/>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FC63D67B-2B9C-9572-1165-5BA979E3917D}"/>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1047004B-253B-9CC6-8B24-2F866D686566}"/>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8D7E394A-7EE0-A9DA-D6B0-17E5EDD5EAB5}"/>
              </a:ext>
            </a:extLst>
          </p:cNvPr>
          <p:cNvSpPr/>
          <p:nvPr/>
        </p:nvSpPr>
        <p:spPr>
          <a:xfrm rot="5400000">
            <a:off x="3820459" y="3637800"/>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375490E-3D0B-FF10-98AB-5B9BC5C26EED}"/>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99BD2896-22CA-7080-D08F-00B23282629E}"/>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4DF430CE-88CC-33B4-4EB9-B61CDC7A4A1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1CD9AB-D049-9B89-0184-1623082C5969}"/>
              </a:ext>
            </a:extLst>
          </p:cNvPr>
          <p:cNvSpPr txBox="1"/>
          <p:nvPr/>
        </p:nvSpPr>
        <p:spPr>
          <a:xfrm>
            <a:off x="8612577" y="2016040"/>
            <a:ext cx="2621230" cy="369332"/>
          </a:xfrm>
          <a:prstGeom prst="rect">
            <a:avLst/>
          </a:prstGeom>
          <a:noFill/>
        </p:spPr>
        <p:txBody>
          <a:bodyPr wrap="none" rtlCol="0">
            <a:spAutoFit/>
          </a:bodyPr>
          <a:lstStyle/>
          <a:p>
            <a:r>
              <a:rPr lang="en-US" dirty="0"/>
              <a:t>Closest match approach</a:t>
            </a:r>
          </a:p>
        </p:txBody>
      </p:sp>
      <p:sp>
        <p:nvSpPr>
          <p:cNvPr id="8" name="TextBox 7">
            <a:extLst>
              <a:ext uri="{FF2B5EF4-FFF2-40B4-BE49-F238E27FC236}">
                <a16:creationId xmlns:a16="http://schemas.microsoft.com/office/drawing/2014/main" id="{74D069E5-567D-6E1D-DC31-2F485E64EDB2}"/>
              </a:ext>
            </a:extLst>
          </p:cNvPr>
          <p:cNvSpPr txBox="1"/>
          <p:nvPr/>
        </p:nvSpPr>
        <p:spPr>
          <a:xfrm>
            <a:off x="8367705" y="5586935"/>
            <a:ext cx="2576346" cy="369332"/>
          </a:xfrm>
          <a:prstGeom prst="rect">
            <a:avLst/>
          </a:prstGeom>
          <a:noFill/>
        </p:spPr>
        <p:txBody>
          <a:bodyPr wrap="none" rtlCol="0">
            <a:spAutoFit/>
          </a:bodyPr>
          <a:lstStyle/>
          <a:p>
            <a:r>
              <a:rPr lang="en-US" dirty="0"/>
              <a:t>Cluster based approach</a:t>
            </a:r>
          </a:p>
        </p:txBody>
      </p:sp>
      <p:sp>
        <p:nvSpPr>
          <p:cNvPr id="11" name="Right Brace 10">
            <a:extLst>
              <a:ext uri="{FF2B5EF4-FFF2-40B4-BE49-F238E27FC236}">
                <a16:creationId xmlns:a16="http://schemas.microsoft.com/office/drawing/2014/main" id="{5BD72F0F-ACDA-FA11-7C05-CD8C396F7970}"/>
              </a:ext>
            </a:extLst>
          </p:cNvPr>
          <p:cNvSpPr/>
          <p:nvPr/>
        </p:nvSpPr>
        <p:spPr>
          <a:xfrm>
            <a:off x="10816190" y="868862"/>
            <a:ext cx="1140035" cy="1653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ight Brace 12">
            <a:extLst>
              <a:ext uri="{FF2B5EF4-FFF2-40B4-BE49-F238E27FC236}">
                <a16:creationId xmlns:a16="http://schemas.microsoft.com/office/drawing/2014/main" id="{3A4F91AD-3EFF-0F9D-B233-B98F6E40E653}"/>
              </a:ext>
            </a:extLst>
          </p:cNvPr>
          <p:cNvSpPr/>
          <p:nvPr/>
        </p:nvSpPr>
        <p:spPr>
          <a:xfrm>
            <a:off x="10944051" y="3578655"/>
            <a:ext cx="1140035" cy="22357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1542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270733-E29D-FB26-4D1C-A42A2AC40AEC}"/>
              </a:ext>
            </a:extLst>
          </p:cNvPr>
          <p:cNvSpPr>
            <a:spLocks noGrp="1"/>
          </p:cNvSpPr>
          <p:nvPr>
            <p:ph type="sldNum" sz="quarter" idx="12"/>
          </p:nvPr>
        </p:nvSpPr>
        <p:spPr/>
        <p:txBody>
          <a:bodyPr/>
          <a:lstStyle/>
          <a:p>
            <a:fld id="{AD40181A-01B0-4CB8-8614-1473649F6741}" type="slidenum">
              <a:rPr lang="en-US" smtClean="0"/>
              <a:pPr/>
              <a:t>14</a:t>
            </a:fld>
            <a:endParaRPr lang="en-US" dirty="0"/>
          </a:p>
        </p:txBody>
      </p:sp>
      <p:sp>
        <p:nvSpPr>
          <p:cNvPr id="4" name="Title 2">
            <a:extLst>
              <a:ext uri="{FF2B5EF4-FFF2-40B4-BE49-F238E27FC236}">
                <a16:creationId xmlns:a16="http://schemas.microsoft.com/office/drawing/2014/main" id="{6E00D5E8-B1F0-2EBD-8ABB-6D3227812B99}"/>
              </a:ext>
            </a:extLst>
          </p:cNvPr>
          <p:cNvSpPr>
            <a:spLocks noGrp="1"/>
          </p:cNvSpPr>
          <p:nvPr>
            <p:ph type="title"/>
          </p:nvPr>
        </p:nvSpPr>
        <p:spPr>
          <a:xfrm>
            <a:off x="0" y="-294409"/>
            <a:ext cx="11874374" cy="1279750"/>
          </a:xfrm>
        </p:spPr>
        <p:txBody>
          <a:bodyPr/>
          <a:lstStyle/>
          <a:p>
            <a:r>
              <a:rPr lang="en-US" dirty="0"/>
              <a:t>CANTOS : standardization evaluation</a:t>
            </a:r>
          </a:p>
        </p:txBody>
      </p:sp>
      <p:sp>
        <p:nvSpPr>
          <p:cNvPr id="11" name="TextBox 10">
            <a:extLst>
              <a:ext uri="{FF2B5EF4-FFF2-40B4-BE49-F238E27FC236}">
                <a16:creationId xmlns:a16="http://schemas.microsoft.com/office/drawing/2014/main" id="{00FEA908-6DA8-B894-D3C0-3A837E47006F}"/>
              </a:ext>
            </a:extLst>
          </p:cNvPr>
          <p:cNvSpPr txBox="1"/>
          <p:nvPr/>
        </p:nvSpPr>
        <p:spPr>
          <a:xfrm>
            <a:off x="158813" y="345466"/>
            <a:ext cx="11556748" cy="3416320"/>
          </a:xfrm>
          <a:prstGeom prst="rect">
            <a:avLst/>
          </a:prstGeom>
          <a:noFill/>
        </p:spPr>
        <p:txBody>
          <a:bodyPr wrap="square">
            <a:spAutoFit/>
          </a:bodyPr>
          <a:lstStyle/>
          <a:p>
            <a:pPr algn="just"/>
            <a:endParaRPr lang="en-US" sz="1800" dirty="0">
              <a:solidFill>
                <a:schemeClr val="tx1"/>
              </a:solidFill>
              <a:latin typeface="+mn-lt"/>
              <a:cs typeface="+mn-cs"/>
            </a:endParaRPr>
          </a:p>
          <a:p>
            <a:pPr marL="285750" indent="-285750" algn="just">
              <a:buFont typeface="Arial" panose="020B0604020202020204" pitchFamily="34" charset="0"/>
              <a:buChar char="•"/>
            </a:pPr>
            <a:r>
              <a:rPr lang="en-US" dirty="0"/>
              <a:t>Randomly choose 1600 tumor names from CTR and manually identify their corresponding tumor names (ground truth) from WHO tumor classification system (Latest 5th edition and all editions 3rd-5th ).</a:t>
            </a:r>
          </a:p>
          <a:p>
            <a:pPr marL="285750" indent="-285750" algn="just">
              <a:buFont typeface="Arial" panose="020B0604020202020204" pitchFamily="34" charset="0"/>
              <a:buChar char="•"/>
            </a:pPr>
            <a:endParaRPr lang="en-US" dirty="0"/>
          </a:p>
          <a:p>
            <a:pPr marL="285750" indent="-285750" algn="just">
              <a:buFont typeface="Arial" panose="020B0604020202020204" pitchFamily="34" charset="0"/>
              <a:buChar char="•"/>
            </a:pPr>
            <a:r>
              <a:rPr lang="en-US" dirty="0"/>
              <a:t>Implemented closest distance based approach and clustering based approach using:</a:t>
            </a:r>
          </a:p>
          <a:p>
            <a:pPr marL="742950" lvl="1" indent="-285750" algn="just">
              <a:buFont typeface="Arial" panose="020B0604020202020204" pitchFamily="34" charset="0"/>
              <a:buChar char="•"/>
            </a:pPr>
            <a:r>
              <a:rPr lang="en-US" dirty="0"/>
              <a:t>Edit distances: </a:t>
            </a:r>
            <a:r>
              <a:rPr lang="en-US" dirty="0" err="1"/>
              <a:t>Levenshtein</a:t>
            </a:r>
            <a:r>
              <a:rPr lang="en-US" dirty="0"/>
              <a:t>, </a:t>
            </a:r>
            <a:r>
              <a:rPr lang="en-US" dirty="0" err="1"/>
              <a:t>Jarro</a:t>
            </a:r>
            <a:r>
              <a:rPr lang="en-US" dirty="0"/>
              <a:t>-Winkler, and Cosine</a:t>
            </a:r>
          </a:p>
          <a:p>
            <a:pPr marL="742950" lvl="1" indent="-285750" algn="just">
              <a:buFont typeface="Arial" panose="020B0604020202020204" pitchFamily="34" charset="0"/>
              <a:buChar char="•"/>
            </a:pPr>
            <a:r>
              <a:rPr lang="en-US" dirty="0"/>
              <a:t>Text- Embeddings (26 models):  </a:t>
            </a:r>
          </a:p>
          <a:p>
            <a:pPr lvl="2" algn="just"/>
            <a:r>
              <a:rPr lang="en-US" dirty="0"/>
              <a:t>  </a:t>
            </a:r>
          </a:p>
          <a:p>
            <a:pPr lvl="2" algn="just"/>
            <a:r>
              <a:rPr lang="en-US" dirty="0"/>
              <a:t>					</a:t>
            </a:r>
          </a:p>
          <a:p>
            <a:pPr marL="1200150" lvl="2" indent="-285750" algn="just">
              <a:buFont typeface="Arial" panose="020B0604020202020204" pitchFamily="34" charset="0"/>
              <a:buChar char="•"/>
            </a:pPr>
            <a:endParaRPr lang="en-US" dirty="0"/>
          </a:p>
          <a:p>
            <a:pPr marL="1200150" lvl="2" indent="-285750" algn="just">
              <a:buFont typeface="Arial" panose="020B0604020202020204" pitchFamily="34" charset="0"/>
              <a:buChar char="•"/>
            </a:pPr>
            <a:endParaRPr lang="en-US" dirty="0"/>
          </a:p>
          <a:p>
            <a:pPr marL="285750" indent="-285750" algn="just">
              <a:buFont typeface="Arial" panose="020B0604020202020204" pitchFamily="34" charset="0"/>
              <a:buChar char="•"/>
            </a:pPr>
            <a:endParaRPr lang="en-US" sz="1800" dirty="0">
              <a:solidFill>
                <a:schemeClr val="tx1"/>
              </a:solidFill>
              <a:latin typeface="+mn-lt"/>
              <a:cs typeface="+mn-cs"/>
            </a:endParaRPr>
          </a:p>
        </p:txBody>
      </p:sp>
      <p:graphicFrame>
        <p:nvGraphicFramePr>
          <p:cNvPr id="16" name="Table 15">
            <a:extLst>
              <a:ext uri="{FF2B5EF4-FFF2-40B4-BE49-F238E27FC236}">
                <a16:creationId xmlns:a16="http://schemas.microsoft.com/office/drawing/2014/main" id="{E6670F1B-0FDD-5A1B-4EFF-B516B16AE1B5}"/>
              </a:ext>
            </a:extLst>
          </p:cNvPr>
          <p:cNvGraphicFramePr>
            <a:graphicFrameLocks noGrp="1"/>
          </p:cNvGraphicFramePr>
          <p:nvPr>
            <p:extLst>
              <p:ext uri="{D42A27DB-BD31-4B8C-83A1-F6EECF244321}">
                <p14:modId xmlns:p14="http://schemas.microsoft.com/office/powerpoint/2010/main" val="3056054854"/>
              </p:ext>
            </p:extLst>
          </p:nvPr>
        </p:nvGraphicFramePr>
        <p:xfrm>
          <a:off x="1217259" y="2420128"/>
          <a:ext cx="10657115" cy="3566160"/>
        </p:xfrm>
        <a:graphic>
          <a:graphicData uri="http://schemas.openxmlformats.org/drawingml/2006/table">
            <a:tbl>
              <a:tblPr bandRow="1">
                <a:tableStyleId>{5C22544A-7EE6-4342-B048-85BDC9FD1C3A}</a:tableStyleId>
              </a:tblPr>
              <a:tblGrid>
                <a:gridCol w="4334875">
                  <a:extLst>
                    <a:ext uri="{9D8B030D-6E8A-4147-A177-3AD203B41FA5}">
                      <a16:colId xmlns:a16="http://schemas.microsoft.com/office/drawing/2014/main" val="4253658004"/>
                    </a:ext>
                  </a:extLst>
                </a:gridCol>
                <a:gridCol w="3161120">
                  <a:extLst>
                    <a:ext uri="{9D8B030D-6E8A-4147-A177-3AD203B41FA5}">
                      <a16:colId xmlns:a16="http://schemas.microsoft.com/office/drawing/2014/main" val="987428443"/>
                    </a:ext>
                  </a:extLst>
                </a:gridCol>
                <a:gridCol w="3161120">
                  <a:extLst>
                    <a:ext uri="{9D8B030D-6E8A-4147-A177-3AD203B41FA5}">
                      <a16:colId xmlns:a16="http://schemas.microsoft.com/office/drawing/2014/main" val="544761200"/>
                    </a:ext>
                  </a:extLst>
                </a:gridCol>
              </a:tblGrid>
              <a:tr h="0">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kern="1200" dirty="0">
                          <a:solidFill>
                            <a:schemeClr val="dk1"/>
                          </a:solidFill>
                          <a:latin typeface="+mn-lt"/>
                          <a:ea typeface="+mn-ea"/>
                          <a:cs typeface="+mn-cs"/>
                        </a:rPr>
                        <a:t>Open AI: text-embedding-3-large (LTE-3) </a:t>
                      </a: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kern="1200" dirty="0">
                          <a:solidFill>
                            <a:schemeClr val="dk1"/>
                          </a:solidFill>
                          <a:latin typeface="+mn-lt"/>
                          <a:ea typeface="+mn-ea"/>
                          <a:cs typeface="+mn-cs"/>
                        </a:rPr>
                        <a:t>Open AI: text-embedding-ada-002 (ADA-002)</a:t>
                      </a:r>
                    </a:p>
                    <a:p>
                      <a:pPr marL="171450" indent="-171450" algn="l" defTabSz="914400" rtl="0" eaLnBrk="1" latinLnBrk="0" hangingPunct="1">
                        <a:buFont typeface="Arial" panose="020B0604020202020204" pitchFamily="34" charset="0"/>
                        <a:buChar char="•"/>
                      </a:pPr>
                      <a:endParaRPr lang="en-US" sz="1000" kern="1200" dirty="0">
                        <a:solidFill>
                          <a:schemeClr val="dk1"/>
                        </a:solidFill>
                        <a:latin typeface="+mn-lt"/>
                        <a:ea typeface="+mn-ea"/>
                        <a:cs typeface="+mn-cs"/>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Cohere: embed-english-v2.0</a:t>
                      </a:r>
                    </a:p>
                    <a:p>
                      <a:pPr marL="171450" indent="-171450" algn="l" defTabSz="914400" rtl="0" eaLnBrk="1" latinLnBrk="0" hangingPunct="1">
                        <a:buFont typeface="Arial" panose="020B0604020202020204" pitchFamily="34" charset="0"/>
                        <a:buChar char="•"/>
                      </a:pPr>
                      <a:endParaRPr lang="en-US" sz="1000" kern="1200" dirty="0">
                        <a:solidFill>
                          <a:schemeClr val="dk1"/>
                        </a:solidFill>
                        <a:latin typeface="+mn-lt"/>
                        <a:ea typeface="+mn-ea"/>
                        <a:cs typeface="+mn-cs"/>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40908953"/>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LLama3.3 (Llama3.3_70B)</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Llama3.2 (Llama3.2_3B)</a:t>
                      </a:r>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LLama3.0  </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20090556"/>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MedLLama2</a:t>
                      </a:r>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MedLLama_13B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BioBERT</a:t>
                      </a:r>
                      <a:endParaRPr lang="en-US" sz="1000" dirty="0"/>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7745712"/>
                  </a:ext>
                </a:extLst>
              </a:tr>
              <a:tr h="230821">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PubMedBERT</a:t>
                      </a:r>
                      <a:r>
                        <a:rPr lang="en-US" sz="1000" dirty="0"/>
                        <a:t>-Abstract (</a:t>
                      </a:r>
                      <a:r>
                        <a:rPr lang="en-US" sz="1000" dirty="0" err="1"/>
                        <a:t>PubMedBERT</a:t>
                      </a:r>
                      <a:r>
                        <a:rPr lang="en-US" sz="1000" dirty="0"/>
                        <a:t>)</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Phi-4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ModernBERT</a:t>
                      </a:r>
                      <a:r>
                        <a:rPr lang="en-US" sz="1000" dirty="0"/>
                        <a:t>-Large (</a:t>
                      </a:r>
                      <a:r>
                        <a:rPr lang="en-US" sz="1000" dirty="0" err="1"/>
                        <a:t>ModernBERT</a:t>
                      </a:r>
                      <a:r>
                        <a:rPr lang="en-US" sz="1000" dirty="0"/>
                        <a:t>)</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293504"/>
                  </a:ext>
                </a:extLst>
              </a:tr>
              <a:tr h="230821">
                <a:tc>
                  <a:txBody>
                    <a:bodyPr/>
                    <a:lstStyle/>
                    <a:p>
                      <a:pPr marL="171450" indent="-171450" algn="l">
                        <a:buFont typeface="Arial" panose="020B0604020202020204" pitchFamily="34" charset="0"/>
                        <a:buChar char="•"/>
                      </a:pPr>
                      <a:r>
                        <a:rPr lang="en-US" sz="1000" dirty="0"/>
                        <a:t>e5-large-v2</a:t>
                      </a:r>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e5-large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gtr-t5-large</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80694979"/>
                  </a:ext>
                </a:extLst>
              </a:tr>
              <a:tr h="0">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all-mpnet-base-v2</a:t>
                      </a:r>
                    </a:p>
                    <a:p>
                      <a:pPr marL="171450" indent="-171450" algn="l">
                        <a:buFont typeface="Arial" panose="020B0604020202020204" pitchFamily="34" charset="0"/>
                        <a:buChar char="•"/>
                      </a:pP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all-MiniLM-L6-v2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a:t>all-MiniLM-L12-v2</a:t>
                      </a:r>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2244858"/>
                  </a:ext>
                </a:extLst>
              </a:tr>
              <a:tr h="230821">
                <a:tc>
                  <a:txBody>
                    <a:bodyPr/>
                    <a:lstStyle/>
                    <a:p>
                      <a:pPr marL="171450" indent="-171450" algn="l">
                        <a:buFont typeface="Arial" panose="020B0604020202020204" pitchFamily="34" charset="0"/>
                        <a:buChar char="•"/>
                      </a:pPr>
                      <a:r>
                        <a:rPr lang="en-US" sz="1000" dirty="0" err="1"/>
                        <a:t>SapBERT</a:t>
                      </a: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all-roberta-large-v1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r>
                        <a:rPr lang="en-US" sz="1000" dirty="0" err="1"/>
                        <a:t>clinicalBERT</a:t>
                      </a:r>
                      <a:endParaRPr lang="en-US" sz="1000" dirty="0"/>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2977312"/>
                  </a:ext>
                </a:extLst>
              </a:tr>
              <a:tr h="144263">
                <a:tc>
                  <a:txBody>
                    <a:bodyPr/>
                    <a:lstStyle/>
                    <a:p>
                      <a:pPr marL="171450" indent="-171450" algn="l">
                        <a:buFont typeface="Arial" panose="020B0604020202020204" pitchFamily="34" charset="0"/>
                        <a:buChar char="•"/>
                      </a:pPr>
                      <a:r>
                        <a:rPr lang="en-US" sz="1000" dirty="0" err="1"/>
                        <a:t>LaBSE</a:t>
                      </a:r>
                      <a:endParaRPr lang="en-US" sz="1000" dirty="0"/>
                    </a:p>
                  </a:txBody>
                  <a:tcPr>
                    <a:lnL w="12700" cap="flat" cmpd="sng" algn="ctr">
                      <a:no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err="1"/>
                        <a:t>BioGPT</a:t>
                      </a:r>
                      <a:endParaRPr lang="en-US" sz="1000" dirty="0"/>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DeepSeek_8B</a:t>
                      </a:r>
                    </a:p>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28249851"/>
                  </a:ext>
                </a:extLst>
              </a:tr>
              <a:tr h="144263">
                <a:tc>
                  <a:txBody>
                    <a:bodyPr/>
                    <a:lstStyle/>
                    <a:p>
                      <a:pPr marL="171450" indent="-171450" algn="l">
                        <a:buFont typeface="Arial" panose="020B0604020202020204" pitchFamily="34" charset="0"/>
                        <a:buChar char="•"/>
                      </a:pPr>
                      <a:r>
                        <a:rPr lang="en-US" sz="1000" dirty="0" err="1"/>
                        <a:t>sciBERT</a:t>
                      </a:r>
                      <a:endParaRPr lang="en-US" sz="1000" dirty="0"/>
                    </a:p>
                  </a:txBody>
                  <a:tcPr>
                    <a:lnL w="12700" cap="flat" cmpd="sng" algn="ctr">
                      <a:no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00" dirty="0"/>
                        <a:t>nomic-embed-text</a:t>
                      </a:r>
                    </a:p>
                    <a:p>
                      <a:pPr marL="171450" indent="-171450" algn="l">
                        <a:buFont typeface="Arial" panose="020B0604020202020204" pitchFamily="34" charset="0"/>
                        <a:buChar char="•"/>
                      </a:pPr>
                      <a:endParaRPr lang="en-US" sz="1000"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Arial" panose="020B0604020202020204" pitchFamily="34" charset="0"/>
                        <a:buChar char="•"/>
                      </a:pPr>
                      <a:endParaRPr lang="en-US" sz="1000" dirty="0"/>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6593195"/>
                  </a:ext>
                </a:extLst>
              </a:tr>
            </a:tbl>
          </a:graphicData>
        </a:graphic>
      </p:graphicFrame>
    </p:spTree>
    <p:extLst>
      <p:ext uri="{BB962C8B-B14F-4D97-AF65-F5344CB8AC3E}">
        <p14:creationId xmlns:p14="http://schemas.microsoft.com/office/powerpoint/2010/main" val="875706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857493-C4A5-98D1-31BB-A90692CE1F5A}"/>
              </a:ext>
            </a:extLst>
          </p:cNvPr>
          <p:cNvSpPr>
            <a:spLocks noGrp="1"/>
          </p:cNvSpPr>
          <p:nvPr>
            <p:ph type="sldNum" sz="quarter" idx="12"/>
          </p:nvPr>
        </p:nvSpPr>
        <p:spPr/>
        <p:txBody>
          <a:bodyPr/>
          <a:lstStyle/>
          <a:p>
            <a:fld id="{AD40181A-01B0-4CB8-8614-1473649F6741}" type="slidenum">
              <a:rPr lang="en-US" smtClean="0"/>
              <a:pPr/>
              <a:t>15</a:t>
            </a:fld>
            <a:endParaRPr lang="en-US" dirty="0"/>
          </a:p>
        </p:txBody>
      </p:sp>
      <p:graphicFrame>
        <p:nvGraphicFramePr>
          <p:cNvPr id="4" name="Table 3">
            <a:extLst>
              <a:ext uri="{FF2B5EF4-FFF2-40B4-BE49-F238E27FC236}">
                <a16:creationId xmlns:a16="http://schemas.microsoft.com/office/drawing/2014/main" id="{8364F6A5-FFE0-ECEC-62A7-E6A5889F998E}"/>
              </a:ext>
            </a:extLst>
          </p:cNvPr>
          <p:cNvGraphicFramePr>
            <a:graphicFrameLocks noGrp="1"/>
          </p:cNvGraphicFramePr>
          <p:nvPr>
            <p:extLst>
              <p:ext uri="{D42A27DB-BD31-4B8C-83A1-F6EECF244321}">
                <p14:modId xmlns:p14="http://schemas.microsoft.com/office/powerpoint/2010/main" val="3961978129"/>
              </p:ext>
            </p:extLst>
          </p:nvPr>
        </p:nvGraphicFramePr>
        <p:xfrm>
          <a:off x="6302829" y="2"/>
          <a:ext cx="5571545" cy="7708194"/>
        </p:xfrm>
        <a:graphic>
          <a:graphicData uri="http://schemas.openxmlformats.org/drawingml/2006/table">
            <a:tbl>
              <a:tblPr firstRow="1" bandRow="1">
                <a:tableStyleId>{5C22544A-7EE6-4342-B048-85BDC9FD1C3A}</a:tableStyleId>
              </a:tblPr>
              <a:tblGrid>
                <a:gridCol w="1127067">
                  <a:extLst>
                    <a:ext uri="{9D8B030D-6E8A-4147-A177-3AD203B41FA5}">
                      <a16:colId xmlns:a16="http://schemas.microsoft.com/office/drawing/2014/main" val="3177516889"/>
                    </a:ext>
                  </a:extLst>
                </a:gridCol>
                <a:gridCol w="1675309">
                  <a:extLst>
                    <a:ext uri="{9D8B030D-6E8A-4147-A177-3AD203B41FA5}">
                      <a16:colId xmlns:a16="http://schemas.microsoft.com/office/drawing/2014/main" val="523317735"/>
                    </a:ext>
                  </a:extLst>
                </a:gridCol>
                <a:gridCol w="2769169">
                  <a:extLst>
                    <a:ext uri="{9D8B030D-6E8A-4147-A177-3AD203B41FA5}">
                      <a16:colId xmlns:a16="http://schemas.microsoft.com/office/drawing/2014/main" val="2056308797"/>
                    </a:ext>
                  </a:extLst>
                </a:gridCol>
              </a:tblGrid>
              <a:tr h="3182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Methods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800" b="1" kern="1200" dirty="0">
                        <a:solidFill>
                          <a:schemeClr val="lt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Standardization Accuracy </a:t>
                      </a:r>
                      <a:br>
                        <a:rPr lang="en-US" sz="800" b="1" kern="1200" dirty="0">
                          <a:solidFill>
                            <a:schemeClr val="lt1"/>
                          </a:solidFill>
                          <a:latin typeface="+mn-lt"/>
                          <a:ea typeface="+mn-ea"/>
                          <a:cs typeface="+mn-cs"/>
                        </a:rPr>
                      </a:br>
                      <a:r>
                        <a:rPr lang="en-US" sz="800" b="1" kern="1200" dirty="0">
                          <a:solidFill>
                            <a:schemeClr val="lt1"/>
                          </a:solidFill>
                          <a:latin typeface="+mn-lt"/>
                          <a:ea typeface="+mn-ea"/>
                          <a:cs typeface="+mn-cs"/>
                        </a:rPr>
                        <a:t>WHO all Edition</a:t>
                      </a:r>
                    </a:p>
                  </a:txBody>
                  <a:tcPr/>
                </a:tc>
                <a:extLst>
                  <a:ext uri="{0D108BD9-81ED-4DB2-BD59-A6C34878D82A}">
                    <a16:rowId xmlns:a16="http://schemas.microsoft.com/office/drawing/2014/main" val="430866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69.1%</a:t>
                      </a:r>
                    </a:p>
                  </a:txBody>
                  <a:tcPr marL="12700" marR="12700" marT="12700" marB="63500"/>
                </a:tc>
                <a:extLst>
                  <a:ext uri="{0D108BD9-81ED-4DB2-BD59-A6C34878D82A}">
                    <a16:rowId xmlns:a16="http://schemas.microsoft.com/office/drawing/2014/main" val="643621850"/>
                  </a:ext>
                </a:extLst>
              </a:tr>
              <a:tr h="142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68.2%</a:t>
                      </a:r>
                    </a:p>
                  </a:txBody>
                  <a:tcPr marL="12700" marR="12700" marT="12700" marB="63500"/>
                </a:tc>
                <a:extLst>
                  <a:ext uri="{0D108BD9-81ED-4DB2-BD59-A6C34878D82A}">
                    <a16:rowId xmlns:a16="http://schemas.microsoft.com/office/drawing/2014/main" val="292312274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67.5%</a:t>
                      </a:r>
                    </a:p>
                  </a:txBody>
                  <a:tcPr marL="12700" marR="12700" marT="12700" marB="63500"/>
                </a:tc>
                <a:extLst>
                  <a:ext uri="{0D108BD9-81ED-4DB2-BD59-A6C34878D82A}">
                    <a16:rowId xmlns:a16="http://schemas.microsoft.com/office/drawing/2014/main" val="166226894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all-mpnet-base-v2+Euclidean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67.4%</a:t>
                      </a:r>
                    </a:p>
                  </a:txBody>
                  <a:tcPr marL="12700" marR="12700" marT="12700" marB="63500"/>
                </a:tc>
                <a:extLst>
                  <a:ext uri="{0D108BD9-81ED-4DB2-BD59-A6C34878D82A}">
                    <a16:rowId xmlns:a16="http://schemas.microsoft.com/office/drawing/2014/main" val="101143506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66.7%</a:t>
                      </a:r>
                    </a:p>
                  </a:txBody>
                  <a:tcPr marL="12700" marR="12700" marT="12700" marB="63500"/>
                </a:tc>
                <a:extLst>
                  <a:ext uri="{0D108BD9-81ED-4DB2-BD59-A6C34878D82A}">
                    <a16:rowId xmlns:a16="http://schemas.microsoft.com/office/drawing/2014/main" val="200188697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1212604679"/>
                  </a:ext>
                </a:extLst>
              </a:tr>
              <a:tr h="2718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all-MiniLM-L12-v2+Euclidean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2775858198"/>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65.2%</a:t>
                      </a:r>
                    </a:p>
                  </a:txBody>
                  <a:tcPr marL="12700" marR="12700" marT="12700" marB="63500"/>
                </a:tc>
                <a:extLst>
                  <a:ext uri="{0D108BD9-81ED-4DB2-BD59-A6C34878D82A}">
                    <a16:rowId xmlns:a16="http://schemas.microsoft.com/office/drawing/2014/main" val="7133828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64.9%</a:t>
                      </a:r>
                    </a:p>
                  </a:txBody>
                  <a:tcPr marL="12700" marR="12700" marT="12700" marB="63500"/>
                </a:tc>
                <a:extLst>
                  <a:ext uri="{0D108BD9-81ED-4DB2-BD59-A6C34878D82A}">
                    <a16:rowId xmlns:a16="http://schemas.microsoft.com/office/drawing/2014/main" val="3521891832"/>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a:t>
                      </a:r>
                    </a:p>
                  </a:txBody>
                  <a:tcPr marL="12700" marR="12700" marT="12700" marB="63500"/>
                </a:tc>
                <a:extLst>
                  <a:ext uri="{0D108BD9-81ED-4DB2-BD59-A6C34878D82A}">
                    <a16:rowId xmlns:a16="http://schemas.microsoft.com/office/drawing/2014/main" val="1741085275"/>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62.2%</a:t>
                      </a:r>
                    </a:p>
                  </a:txBody>
                  <a:tcPr marL="12700" marR="12700" marT="12700" marB="63500"/>
                </a:tc>
                <a:extLst>
                  <a:ext uri="{0D108BD9-81ED-4DB2-BD59-A6C34878D82A}">
                    <a16:rowId xmlns:a16="http://schemas.microsoft.com/office/drawing/2014/main" val="192314115"/>
                  </a:ext>
                </a:extLst>
              </a:tr>
              <a:tr h="2718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all-roberta-large-v1+Euclidean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59.1%</a:t>
                      </a:r>
                    </a:p>
                  </a:txBody>
                  <a:tcPr marL="12700" marR="12700" marT="12700" marB="63500"/>
                </a:tc>
                <a:extLst>
                  <a:ext uri="{0D108BD9-81ED-4DB2-BD59-A6C34878D82A}">
                    <a16:rowId xmlns:a16="http://schemas.microsoft.com/office/drawing/2014/main" val="295021384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58%</a:t>
                      </a:r>
                    </a:p>
                  </a:txBody>
                  <a:tcPr marL="12700" marR="12700" marT="12700" marB="63500"/>
                </a:tc>
                <a:extLst>
                  <a:ext uri="{0D108BD9-81ED-4DB2-BD59-A6C34878D82A}">
                    <a16:rowId xmlns:a16="http://schemas.microsoft.com/office/drawing/2014/main" val="2147432743"/>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56.3%</a:t>
                      </a:r>
                    </a:p>
                  </a:txBody>
                  <a:tcPr marL="12700" marR="12700" marT="12700" marB="63500"/>
                </a:tc>
                <a:extLst>
                  <a:ext uri="{0D108BD9-81ED-4DB2-BD59-A6C34878D82A}">
                    <a16:rowId xmlns:a16="http://schemas.microsoft.com/office/drawing/2014/main" val="1506931024"/>
                  </a:ext>
                </a:extLst>
              </a:tr>
              <a:tr h="2911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53.6%</a:t>
                      </a:r>
                    </a:p>
                  </a:txBody>
                  <a:tcPr marL="12700" marR="12700" marT="12700" marB="63500"/>
                </a:tc>
                <a:extLst>
                  <a:ext uri="{0D108BD9-81ED-4DB2-BD59-A6C34878D82A}">
                    <a16:rowId xmlns:a16="http://schemas.microsoft.com/office/drawing/2014/main" val="135754824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SapBERT+Euclidean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47.9%</a:t>
                      </a:r>
                    </a:p>
                  </a:txBody>
                  <a:tcPr marL="12700" marR="12700" marT="12700" marB="63500"/>
                </a:tc>
                <a:extLst>
                  <a:ext uri="{0D108BD9-81ED-4DB2-BD59-A6C34878D82A}">
                    <a16:rowId xmlns:a16="http://schemas.microsoft.com/office/drawing/2014/main" val="125336980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40.1%</a:t>
                      </a:r>
                    </a:p>
                  </a:txBody>
                  <a:tcPr marL="12700" marR="12700" marT="12700" marB="63500"/>
                </a:tc>
                <a:extLst>
                  <a:ext uri="{0D108BD9-81ED-4DB2-BD59-A6C34878D82A}">
                    <a16:rowId xmlns:a16="http://schemas.microsoft.com/office/drawing/2014/main" val="102040172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BioGPT+Euclidean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39.6%</a:t>
                      </a:r>
                    </a:p>
                  </a:txBody>
                  <a:tcPr marL="12700" marR="12700" marT="12700" marB="63500"/>
                </a:tc>
                <a:extLst>
                  <a:ext uri="{0D108BD9-81ED-4DB2-BD59-A6C34878D82A}">
                    <a16:rowId xmlns:a16="http://schemas.microsoft.com/office/drawing/2014/main" val="354718146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35.2%</a:t>
                      </a:r>
                    </a:p>
                  </a:txBody>
                  <a:tcPr marL="12700" marR="12700" marT="12700" marB="63500"/>
                </a:tc>
                <a:extLst>
                  <a:ext uri="{0D108BD9-81ED-4DB2-BD59-A6C34878D82A}">
                    <a16:rowId xmlns:a16="http://schemas.microsoft.com/office/drawing/2014/main" val="238737767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Levenshtein</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32.6%</a:t>
                      </a:r>
                    </a:p>
                  </a:txBody>
                  <a:tcPr marL="12700" marR="12700" marT="12700" marB="63500"/>
                </a:tc>
                <a:extLst>
                  <a:ext uri="{0D108BD9-81ED-4DB2-BD59-A6C34878D82A}">
                    <a16:rowId xmlns:a16="http://schemas.microsoft.com/office/drawing/2014/main" val="402166572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29.8%</a:t>
                      </a:r>
                    </a:p>
                  </a:txBody>
                  <a:tcPr marL="12700" marR="12700" marT="12700" marB="63500"/>
                </a:tc>
                <a:extLst>
                  <a:ext uri="{0D108BD9-81ED-4DB2-BD59-A6C34878D82A}">
                    <a16:rowId xmlns:a16="http://schemas.microsoft.com/office/drawing/2014/main" val="84845025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Levenshtein+AP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29.3%</a:t>
                      </a:r>
                    </a:p>
                  </a:txBody>
                  <a:tcPr marL="12700" marR="12700" marT="12700" marB="63500"/>
                </a:tc>
                <a:extLst>
                  <a:ext uri="{0D108BD9-81ED-4DB2-BD59-A6C34878D82A}">
                    <a16:rowId xmlns:a16="http://schemas.microsoft.com/office/drawing/2014/main" val="194930250"/>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27.2%</a:t>
                      </a:r>
                    </a:p>
                  </a:txBody>
                  <a:tcPr marL="12700" marR="12700" marT="12700" marB="63500"/>
                </a:tc>
                <a:extLst>
                  <a:ext uri="{0D108BD9-81ED-4DB2-BD59-A6C34878D82A}">
                    <a16:rowId xmlns:a16="http://schemas.microsoft.com/office/drawing/2014/main" val="98170779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25.5%</a:t>
                      </a:r>
                    </a:p>
                  </a:txBody>
                  <a:tcPr marL="12700" marR="12700" marT="12700" marB="63500"/>
                </a:tc>
                <a:extLst>
                  <a:ext uri="{0D108BD9-81ED-4DB2-BD59-A6C34878D82A}">
                    <a16:rowId xmlns:a16="http://schemas.microsoft.com/office/drawing/2014/main" val="422329883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Jarro</a:t>
                      </a:r>
                      <a:r>
                        <a:rPr kumimoji="0" lang="en-US" sz="800" b="0" i="0" u="none" strike="noStrike" kern="1200" cap="none" spc="0" normalizeH="0" baseline="0" dirty="0">
                          <a:ln>
                            <a:noFill/>
                          </a:ln>
                          <a:solidFill>
                            <a:schemeClr val="accent3"/>
                          </a:solidFill>
                          <a:effectLst/>
                          <a:uLnTx/>
                          <a:uFillTx/>
                          <a:latin typeface="Georgia"/>
                          <a:ea typeface="+mn-ea"/>
                          <a:cs typeface="+mn-cs"/>
                        </a:rPr>
                        <a:t> </a:t>
                      </a:r>
                      <a:r>
                        <a:rPr kumimoji="0" lang="en-US" sz="800" b="0" i="0" u="none" strike="noStrike" kern="1200" cap="none" spc="0" normalizeH="0" baseline="0" dirty="0" err="1">
                          <a:ln>
                            <a:noFill/>
                          </a:ln>
                          <a:solidFill>
                            <a:schemeClr val="accent3"/>
                          </a:solidFill>
                          <a:effectLst/>
                          <a:uLnTx/>
                          <a:uFillTx/>
                          <a:latin typeface="Georgia"/>
                          <a:ea typeface="+mn-ea"/>
                          <a:cs typeface="+mn-cs"/>
                        </a:rPr>
                        <a:t>Winkler+AP</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24.4%</a:t>
                      </a:r>
                    </a:p>
                  </a:txBody>
                  <a:tcPr marL="12700" marR="12700" marT="12700" marB="63500"/>
                </a:tc>
                <a:extLst>
                  <a:ext uri="{0D108BD9-81ED-4DB2-BD59-A6C34878D82A}">
                    <a16:rowId xmlns:a16="http://schemas.microsoft.com/office/drawing/2014/main" val="335601274"/>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23.9%</a:t>
                      </a:r>
                    </a:p>
                  </a:txBody>
                  <a:tcPr marL="12700" marR="12700" marT="12700" marB="63500"/>
                </a:tc>
                <a:extLst>
                  <a:ext uri="{0D108BD9-81ED-4DB2-BD59-A6C34878D82A}">
                    <a16:rowId xmlns:a16="http://schemas.microsoft.com/office/drawing/2014/main" val="243263428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DeepSeek_8B+Euclidean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23.4%</a:t>
                      </a:r>
                    </a:p>
                  </a:txBody>
                  <a:tcPr marL="12700" marR="12700" marT="12700" marB="63500"/>
                </a:tc>
                <a:extLst>
                  <a:ext uri="{0D108BD9-81ED-4DB2-BD59-A6C34878D82A}">
                    <a16:rowId xmlns:a16="http://schemas.microsoft.com/office/drawing/2014/main" val="261706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22.7%</a:t>
                      </a:r>
                    </a:p>
                  </a:txBody>
                  <a:tcPr marL="12700" marR="12700" marT="12700" marB="63500" anchor="b"/>
                </a:tc>
                <a:extLst>
                  <a:ext uri="{0D108BD9-81ED-4DB2-BD59-A6C34878D82A}">
                    <a16:rowId xmlns:a16="http://schemas.microsoft.com/office/drawing/2014/main" val="2989408918"/>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PubMedBERT+Euclidean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22.5%</a:t>
                      </a:r>
                    </a:p>
                  </a:txBody>
                  <a:tcPr marL="12700" marR="12700" marT="12700" marB="63500" anchor="b"/>
                </a:tc>
                <a:extLst>
                  <a:ext uri="{0D108BD9-81ED-4DB2-BD59-A6C34878D82A}">
                    <a16:rowId xmlns:a16="http://schemas.microsoft.com/office/drawing/2014/main" val="311880686"/>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SciBERT+Euclidean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21.4%</a:t>
                      </a:r>
                    </a:p>
                  </a:txBody>
                  <a:tcPr marL="12700" marR="12700" marT="12700" marB="63500" anchor="b"/>
                </a:tc>
                <a:extLst>
                  <a:ext uri="{0D108BD9-81ED-4DB2-BD59-A6C34878D82A}">
                    <a16:rowId xmlns:a16="http://schemas.microsoft.com/office/drawing/2014/main" val="137343711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21.3%</a:t>
                      </a:r>
                    </a:p>
                  </a:txBody>
                  <a:tcPr marL="12700" marR="12700" marT="12700" marB="63500" anchor="b"/>
                </a:tc>
                <a:extLst>
                  <a:ext uri="{0D108BD9-81ED-4DB2-BD59-A6C34878D82A}">
                    <a16:rowId xmlns:a16="http://schemas.microsoft.com/office/drawing/2014/main" val="2551747063"/>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Llama3.2_3B+Euclidean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21.1%</a:t>
                      </a:r>
                    </a:p>
                  </a:txBody>
                  <a:tcPr marL="12700" marR="12700" marT="12700" marB="63500" anchor="b"/>
                </a:tc>
                <a:extLst>
                  <a:ext uri="{0D108BD9-81ED-4DB2-BD59-A6C34878D82A}">
                    <a16:rowId xmlns:a16="http://schemas.microsoft.com/office/drawing/2014/main" val="6800822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20.3%</a:t>
                      </a:r>
                    </a:p>
                  </a:txBody>
                  <a:tcPr marL="12700" marR="12700" marT="12700" marB="63500" anchor="b"/>
                </a:tc>
                <a:extLst>
                  <a:ext uri="{0D108BD9-81ED-4DB2-BD59-A6C34878D82A}">
                    <a16:rowId xmlns:a16="http://schemas.microsoft.com/office/drawing/2014/main" val="3910479231"/>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ModernBERT+Euclidean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19.3%</a:t>
                      </a:r>
                    </a:p>
                  </a:txBody>
                  <a:tcPr marL="12700" marR="12700" marT="12700" marB="63500" anchor="b"/>
                </a:tc>
                <a:extLst>
                  <a:ext uri="{0D108BD9-81ED-4DB2-BD59-A6C34878D82A}">
                    <a16:rowId xmlns:a16="http://schemas.microsoft.com/office/drawing/2014/main" val="4286666507"/>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Phi-4+Euclidean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17.2%</a:t>
                      </a:r>
                    </a:p>
                  </a:txBody>
                  <a:tcPr marL="12700" marR="12700" marT="12700" marB="63500" anchor="b"/>
                </a:tc>
                <a:extLst>
                  <a:ext uri="{0D108BD9-81ED-4DB2-BD59-A6C34878D82A}">
                    <a16:rowId xmlns:a16="http://schemas.microsoft.com/office/drawing/2014/main" val="1954130689"/>
                  </a:ext>
                </a:extLst>
              </a:tr>
              <a:tr h="1880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15.4%</a:t>
                      </a:r>
                    </a:p>
                  </a:txBody>
                  <a:tcPr marL="12700" marR="12700" marT="12700" marB="63500" anchor="b"/>
                </a:tc>
                <a:extLst>
                  <a:ext uri="{0D108BD9-81ED-4DB2-BD59-A6C34878D82A}">
                    <a16:rowId xmlns:a16="http://schemas.microsoft.com/office/drawing/2014/main" val="2586442628"/>
                  </a:ext>
                </a:extLst>
              </a:tr>
            </a:tbl>
          </a:graphicData>
        </a:graphic>
      </p:graphicFrame>
      <p:graphicFrame>
        <p:nvGraphicFramePr>
          <p:cNvPr id="5" name="Table 4">
            <a:extLst>
              <a:ext uri="{FF2B5EF4-FFF2-40B4-BE49-F238E27FC236}">
                <a16:creationId xmlns:a16="http://schemas.microsoft.com/office/drawing/2014/main" id="{BAF5159B-55BF-4714-7E63-453CC464B36F}"/>
              </a:ext>
            </a:extLst>
          </p:cNvPr>
          <p:cNvGraphicFramePr>
            <a:graphicFrameLocks noGrp="1"/>
          </p:cNvGraphicFramePr>
          <p:nvPr>
            <p:extLst>
              <p:ext uri="{D42A27DB-BD31-4B8C-83A1-F6EECF244321}">
                <p14:modId xmlns:p14="http://schemas.microsoft.com/office/powerpoint/2010/main" val="4223216739"/>
              </p:ext>
            </p:extLst>
          </p:nvPr>
        </p:nvGraphicFramePr>
        <p:xfrm>
          <a:off x="0" y="0"/>
          <a:ext cx="5475516" cy="7467600"/>
        </p:xfrm>
        <a:graphic>
          <a:graphicData uri="http://schemas.openxmlformats.org/drawingml/2006/table">
            <a:tbl>
              <a:tblPr firstRow="1" bandRow="1">
                <a:tableStyleId>{5C22544A-7EE6-4342-B048-85BDC9FD1C3A}</a:tableStyleId>
              </a:tblPr>
              <a:tblGrid>
                <a:gridCol w="935616">
                  <a:extLst>
                    <a:ext uri="{9D8B030D-6E8A-4147-A177-3AD203B41FA5}">
                      <a16:colId xmlns:a16="http://schemas.microsoft.com/office/drawing/2014/main" val="3177516889"/>
                    </a:ext>
                  </a:extLst>
                </a:gridCol>
                <a:gridCol w="1674991">
                  <a:extLst>
                    <a:ext uri="{9D8B030D-6E8A-4147-A177-3AD203B41FA5}">
                      <a16:colId xmlns:a16="http://schemas.microsoft.com/office/drawing/2014/main" val="523317735"/>
                    </a:ext>
                  </a:extLst>
                </a:gridCol>
                <a:gridCol w="2864909">
                  <a:extLst>
                    <a:ext uri="{9D8B030D-6E8A-4147-A177-3AD203B41FA5}">
                      <a16:colId xmlns:a16="http://schemas.microsoft.com/office/drawing/2014/main" val="2056308797"/>
                    </a:ext>
                  </a:extLst>
                </a:gridCol>
              </a:tblGrid>
              <a:tr h="301781">
                <a:tc>
                  <a:txBody>
                    <a:bodyPr/>
                    <a:lstStyle/>
                    <a:p>
                      <a:r>
                        <a:rPr lang="en-US" sz="800" dirty="0"/>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Methods</a:t>
                      </a:r>
                    </a:p>
                    <a:p>
                      <a:endParaRPr lang="en-US"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Standardization Accuracy </a:t>
                      </a:r>
                      <a:br>
                        <a:rPr lang="en-US" sz="800" dirty="0"/>
                      </a:br>
                      <a:r>
                        <a:rPr lang="en-US" sz="800" dirty="0"/>
                        <a:t>WHO 5th Edition</a:t>
                      </a:r>
                    </a:p>
                  </a:txBody>
                  <a:tcPr/>
                </a:tc>
                <a:extLst>
                  <a:ext uri="{0D108BD9-81ED-4DB2-BD59-A6C34878D82A}">
                    <a16:rowId xmlns:a16="http://schemas.microsoft.com/office/drawing/2014/main" val="430866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all-MiniLM-L12-v2+Euclidean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67.8%</a:t>
                      </a:r>
                    </a:p>
                  </a:txBody>
                  <a:tcPr marL="12700" marR="12700" marT="12700" marB="63500" anchor="b"/>
                </a:tc>
                <a:extLst>
                  <a:ext uri="{0D108BD9-81ED-4DB2-BD59-A6C34878D82A}">
                    <a16:rowId xmlns:a16="http://schemas.microsoft.com/office/drawing/2014/main" val="6436218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e5-large+Euclidean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67.4%</a:t>
                      </a:r>
                    </a:p>
                  </a:txBody>
                  <a:tcPr marL="12700" marR="12700" marT="12700" marB="63500" anchor="b"/>
                </a:tc>
                <a:extLst>
                  <a:ext uri="{0D108BD9-81ED-4DB2-BD59-A6C34878D82A}">
                    <a16:rowId xmlns:a16="http://schemas.microsoft.com/office/drawing/2014/main" val="292312274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all-mpnet-base-v2+Euclidean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67.1%</a:t>
                      </a:r>
                    </a:p>
                  </a:txBody>
                  <a:tcPr marL="12700" marR="12700" marT="12700" marB="63500" anchor="b"/>
                </a:tc>
                <a:extLst>
                  <a:ext uri="{0D108BD9-81ED-4DB2-BD59-A6C34878D82A}">
                    <a16:rowId xmlns:a16="http://schemas.microsoft.com/office/drawing/2014/main" val="166226894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66.5%</a:t>
                      </a:r>
                    </a:p>
                  </a:txBody>
                  <a:tcPr marL="12700" marR="12700" marT="12700" marB="63500" anchor="b"/>
                </a:tc>
                <a:extLst>
                  <a:ext uri="{0D108BD9-81ED-4DB2-BD59-A6C34878D82A}">
                    <a16:rowId xmlns:a16="http://schemas.microsoft.com/office/drawing/2014/main" val="101143506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65.4%</a:t>
                      </a:r>
                    </a:p>
                  </a:txBody>
                  <a:tcPr marL="12700" marR="12700" marT="12700" marB="63500" anchor="b"/>
                </a:tc>
                <a:extLst>
                  <a:ext uri="{0D108BD9-81ED-4DB2-BD59-A6C34878D82A}">
                    <a16:rowId xmlns:a16="http://schemas.microsoft.com/office/drawing/2014/main" val="200188697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64.4%</a:t>
                      </a:r>
                    </a:p>
                  </a:txBody>
                  <a:tcPr marL="12700" marR="12700" marT="12700" marB="63500" anchor="b"/>
                </a:tc>
                <a:extLst>
                  <a:ext uri="{0D108BD9-81ED-4DB2-BD59-A6C34878D82A}">
                    <a16:rowId xmlns:a16="http://schemas.microsoft.com/office/drawing/2014/main" val="121260467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63.4%</a:t>
                      </a:r>
                    </a:p>
                  </a:txBody>
                  <a:tcPr marL="12700" marR="12700" marT="12700" marB="63500" anchor="b"/>
                </a:tc>
                <a:extLst>
                  <a:ext uri="{0D108BD9-81ED-4DB2-BD59-A6C34878D82A}">
                    <a16:rowId xmlns:a16="http://schemas.microsoft.com/office/drawing/2014/main" val="2775858198"/>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62.6%</a:t>
                      </a:r>
                    </a:p>
                  </a:txBody>
                  <a:tcPr marL="12700" marR="12700" marT="12700" marB="63500" anchor="b"/>
                </a:tc>
                <a:extLst>
                  <a:ext uri="{0D108BD9-81ED-4DB2-BD59-A6C34878D82A}">
                    <a16:rowId xmlns:a16="http://schemas.microsoft.com/office/drawing/2014/main" val="7133828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62.5%</a:t>
                      </a:r>
                    </a:p>
                  </a:txBody>
                  <a:tcPr marL="12700" marR="12700" marT="12700" marB="63500" anchor="b"/>
                </a:tc>
                <a:extLst>
                  <a:ext uri="{0D108BD9-81ED-4DB2-BD59-A6C34878D82A}">
                    <a16:rowId xmlns:a16="http://schemas.microsoft.com/office/drawing/2014/main" val="3521891832"/>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60.8%</a:t>
                      </a:r>
                    </a:p>
                  </a:txBody>
                  <a:tcPr marL="12700" marR="12700" marT="12700" marB="63500" anchor="b"/>
                </a:tc>
                <a:extLst>
                  <a:ext uri="{0D108BD9-81ED-4DB2-BD59-A6C34878D82A}">
                    <a16:rowId xmlns:a16="http://schemas.microsoft.com/office/drawing/2014/main" val="174108527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60.2%</a:t>
                      </a:r>
                    </a:p>
                  </a:txBody>
                  <a:tcPr marL="12700" marR="12700" marT="12700" marB="63500" anchor="b"/>
                </a:tc>
                <a:extLst>
                  <a:ext uri="{0D108BD9-81ED-4DB2-BD59-A6C34878D82A}">
                    <a16:rowId xmlns:a16="http://schemas.microsoft.com/office/drawing/2014/main" val="19231411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58.7%</a:t>
                      </a:r>
                    </a:p>
                  </a:txBody>
                  <a:tcPr marL="12700" marR="12700" marT="12700" marB="63500" anchor="b"/>
                </a:tc>
                <a:extLst>
                  <a:ext uri="{0D108BD9-81ED-4DB2-BD59-A6C34878D82A}">
                    <a16:rowId xmlns:a16="http://schemas.microsoft.com/office/drawing/2014/main" val="295021384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all-roberta-large-v1+Euclidean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58.6%</a:t>
                      </a:r>
                    </a:p>
                  </a:txBody>
                  <a:tcPr marL="12700" marR="12700" marT="12700" marB="63500" anchor="b"/>
                </a:tc>
                <a:extLst>
                  <a:ext uri="{0D108BD9-81ED-4DB2-BD59-A6C34878D82A}">
                    <a16:rowId xmlns:a16="http://schemas.microsoft.com/office/drawing/2014/main" val="2147432743"/>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57%</a:t>
                      </a:r>
                    </a:p>
                  </a:txBody>
                  <a:tcPr marL="12700" marR="12700" marT="12700" marB="63500" anchor="b"/>
                </a:tc>
                <a:extLst>
                  <a:ext uri="{0D108BD9-81ED-4DB2-BD59-A6C34878D82A}">
                    <a16:rowId xmlns:a16="http://schemas.microsoft.com/office/drawing/2014/main" val="150693102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53.5%</a:t>
                      </a:r>
                    </a:p>
                  </a:txBody>
                  <a:tcPr marL="12700" marR="12700" marT="12700" marB="63500" anchor="b"/>
                </a:tc>
                <a:extLst>
                  <a:ext uri="{0D108BD9-81ED-4DB2-BD59-A6C34878D82A}">
                    <a16:rowId xmlns:a16="http://schemas.microsoft.com/office/drawing/2014/main" val="135754824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SapBERT+Euclidean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51.7%</a:t>
                      </a:r>
                    </a:p>
                  </a:txBody>
                  <a:tcPr marL="12700" marR="12700" marT="12700" marB="63500" anchor="b"/>
                </a:tc>
                <a:extLst>
                  <a:ext uri="{0D108BD9-81ED-4DB2-BD59-A6C34878D82A}">
                    <a16:rowId xmlns:a16="http://schemas.microsoft.com/office/drawing/2014/main" val="125336980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40%</a:t>
                      </a:r>
                    </a:p>
                  </a:txBody>
                  <a:tcPr marL="12700" marR="12700" marT="12700" marB="63500" anchor="b"/>
                </a:tc>
                <a:extLst>
                  <a:ext uri="{0D108BD9-81ED-4DB2-BD59-A6C34878D82A}">
                    <a16:rowId xmlns:a16="http://schemas.microsoft.com/office/drawing/2014/main" val="102040172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tx1"/>
                          </a:solidFill>
                          <a:effectLst/>
                          <a:uLnTx/>
                          <a:uFillTx/>
                          <a:latin typeface="Georgia"/>
                          <a:ea typeface="+mn-ea"/>
                          <a:cs typeface="+mn-cs"/>
                        </a:rPr>
                        <a:t>BioGPT+Euclidean</a:t>
                      </a:r>
                      <a:r>
                        <a:rPr kumimoji="0" lang="en-US" sz="800" b="0" i="0" u="none" strike="noStrike" kern="1200" cap="none" spc="0" normalizeH="0" baseline="0" dirty="0">
                          <a:ln>
                            <a:noFill/>
                          </a:ln>
                          <a:solidFill>
                            <a:schemeClr val="tx1"/>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39.7%</a:t>
                      </a:r>
                    </a:p>
                  </a:txBody>
                  <a:tcPr marL="12700" marR="12700" marT="12700" marB="63500" anchor="b"/>
                </a:tc>
                <a:extLst>
                  <a:ext uri="{0D108BD9-81ED-4DB2-BD59-A6C34878D82A}">
                    <a16:rowId xmlns:a16="http://schemas.microsoft.com/office/drawing/2014/main" val="354718146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36.1%</a:t>
                      </a:r>
                    </a:p>
                  </a:txBody>
                  <a:tcPr marL="12700" marR="12700" marT="12700" marB="63500" anchor="b"/>
                </a:tc>
                <a:extLst>
                  <a:ext uri="{0D108BD9-81ED-4DB2-BD59-A6C34878D82A}">
                    <a16:rowId xmlns:a16="http://schemas.microsoft.com/office/drawing/2014/main" val="238737767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31.9%</a:t>
                      </a:r>
                    </a:p>
                  </a:txBody>
                  <a:tcPr marL="12700" marR="12700" marT="12700" marB="63500" anchor="b"/>
                </a:tc>
                <a:extLst>
                  <a:ext uri="{0D108BD9-81ED-4DB2-BD59-A6C34878D82A}">
                    <a16:rowId xmlns:a16="http://schemas.microsoft.com/office/drawing/2014/main" val="402166572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30.3%</a:t>
                      </a:r>
                    </a:p>
                  </a:txBody>
                  <a:tcPr marL="12700" marR="12700" marT="12700" marB="63500" anchor="b"/>
                </a:tc>
                <a:extLst>
                  <a:ext uri="{0D108BD9-81ED-4DB2-BD59-A6C34878D82A}">
                    <a16:rowId xmlns:a16="http://schemas.microsoft.com/office/drawing/2014/main" val="848450259"/>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28.4%</a:t>
                      </a:r>
                    </a:p>
                  </a:txBody>
                  <a:tcPr marL="12700" marR="12700" marT="12700" marB="63500" anchor="b"/>
                </a:tc>
                <a:extLst>
                  <a:ext uri="{0D108BD9-81ED-4DB2-BD59-A6C34878D82A}">
                    <a16:rowId xmlns:a16="http://schemas.microsoft.com/office/drawing/2014/main" val="1949302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27.4%</a:t>
                      </a:r>
                    </a:p>
                  </a:txBody>
                  <a:tcPr marL="12700" marR="12700" marT="12700" marB="63500" anchor="b"/>
                </a:tc>
                <a:extLst>
                  <a:ext uri="{0D108BD9-81ED-4DB2-BD59-A6C34878D82A}">
                    <a16:rowId xmlns:a16="http://schemas.microsoft.com/office/drawing/2014/main" val="98170779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23.2%</a:t>
                      </a:r>
                    </a:p>
                  </a:txBody>
                  <a:tcPr marL="12700" marR="12700" marT="12700" marB="63500" anchor="b"/>
                </a:tc>
                <a:extLst>
                  <a:ext uri="{0D108BD9-81ED-4DB2-BD59-A6C34878D82A}">
                    <a16:rowId xmlns:a16="http://schemas.microsoft.com/office/drawing/2014/main" val="4223298831"/>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a:t>
                      </a:r>
                    </a:p>
                  </a:txBody>
                  <a:tcPr marL="12700" marR="12700" marT="12700" marB="63500" anchor="b"/>
                </a:tc>
                <a:extLst>
                  <a:ext uri="{0D108BD9-81ED-4DB2-BD59-A6C34878D82A}">
                    <a16:rowId xmlns:a16="http://schemas.microsoft.com/office/drawing/2014/main" val="335601274"/>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21.7%</a:t>
                      </a:r>
                    </a:p>
                  </a:txBody>
                  <a:tcPr marL="12700" marR="12700" marT="12700" marB="63500" anchor="b"/>
                </a:tc>
                <a:extLst>
                  <a:ext uri="{0D108BD9-81ED-4DB2-BD59-A6C34878D82A}">
                    <a16:rowId xmlns:a16="http://schemas.microsoft.com/office/drawing/2014/main" val="243263428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mn-lt"/>
                          <a:ea typeface="+mn-ea"/>
                          <a:cs typeface="+mn-cs"/>
                        </a:rPr>
                        <a:t>Edit Distance</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21.6%</a:t>
                      </a:r>
                    </a:p>
                  </a:txBody>
                  <a:tcPr marL="12700" marR="12700" marT="12700" marB="63500" anchor="b"/>
                </a:tc>
                <a:extLst>
                  <a:ext uri="{0D108BD9-81ED-4DB2-BD59-A6C34878D82A}">
                    <a16:rowId xmlns:a16="http://schemas.microsoft.com/office/drawing/2014/main" val="261706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DeepSeek_8B+Euclidean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21.4%</a:t>
                      </a:r>
                    </a:p>
                  </a:txBody>
                  <a:tcPr marL="12700" marR="12700" marT="12700" marB="63500" anchor="b"/>
                </a:tc>
                <a:extLst>
                  <a:ext uri="{0D108BD9-81ED-4DB2-BD59-A6C34878D82A}">
                    <a16:rowId xmlns:a16="http://schemas.microsoft.com/office/drawing/2014/main" val="3386371047"/>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PubMedBERT+Euclidean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21%</a:t>
                      </a:r>
                    </a:p>
                  </a:txBody>
                  <a:tcPr marL="12700" marR="12700" marT="12700" marB="63500" anchor="b"/>
                </a:tc>
                <a:extLst>
                  <a:ext uri="{0D108BD9-81ED-4DB2-BD59-A6C34878D82A}">
                    <a16:rowId xmlns:a16="http://schemas.microsoft.com/office/drawing/2014/main" val="10689769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Llama3.2_3B+Euclidean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20.5%</a:t>
                      </a:r>
                    </a:p>
                  </a:txBody>
                  <a:tcPr marL="12700" marR="12700" marT="12700" marB="63500" anchor="b"/>
                </a:tc>
                <a:extLst>
                  <a:ext uri="{0D108BD9-81ED-4DB2-BD59-A6C34878D82A}">
                    <a16:rowId xmlns:a16="http://schemas.microsoft.com/office/drawing/2014/main" val="2653439850"/>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BioBERT+Euclidean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20%</a:t>
                      </a:r>
                    </a:p>
                  </a:txBody>
                  <a:tcPr marL="12700" marR="12700" marT="12700" marB="63500" anchor="b"/>
                </a:tc>
                <a:extLst>
                  <a:ext uri="{0D108BD9-81ED-4DB2-BD59-A6C34878D82A}">
                    <a16:rowId xmlns:a16="http://schemas.microsoft.com/office/drawing/2014/main" val="703844146"/>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LLama3.0+Euclidean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19.8%</a:t>
                      </a:r>
                    </a:p>
                  </a:txBody>
                  <a:tcPr marL="12700" marR="12700" marT="12700" marB="63500" anchor="b"/>
                </a:tc>
                <a:extLst>
                  <a:ext uri="{0D108BD9-81ED-4DB2-BD59-A6C34878D82A}">
                    <a16:rowId xmlns:a16="http://schemas.microsoft.com/office/drawing/2014/main" val="329907715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rgbClr val="D11960"/>
                          </a:solidFill>
                          <a:effectLst/>
                          <a:uLnTx/>
                          <a:uFillTx/>
                          <a:latin typeface="Georgia"/>
                          <a:ea typeface="+mn-ea"/>
                          <a:cs typeface="+mn-cs"/>
                        </a:rPr>
                        <a:t>SciBERT+Euclidean</a:t>
                      </a:r>
                      <a:r>
                        <a:rPr kumimoji="0" lang="en-US" sz="800" b="0" i="0" u="none" strike="noStrike" kern="1200" cap="none" spc="0" normalizeH="0" baseline="0" dirty="0">
                          <a:ln>
                            <a:noFill/>
                          </a:ln>
                          <a:solidFill>
                            <a:srgbClr val="D11960"/>
                          </a:solidFill>
                          <a:effectLst/>
                          <a:uLnTx/>
                          <a:uFillTx/>
                          <a:latin typeface="Georgia"/>
                          <a:ea typeface="+mn-ea"/>
                          <a:cs typeface="+mn-cs"/>
                        </a:rPr>
                        <a:t>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19.3%</a:t>
                      </a:r>
                    </a:p>
                  </a:txBody>
                  <a:tcPr marL="12700" marR="12700" marT="12700" marB="63500" anchor="b"/>
                </a:tc>
                <a:extLst>
                  <a:ext uri="{0D108BD9-81ED-4DB2-BD59-A6C34878D82A}">
                    <a16:rowId xmlns:a16="http://schemas.microsoft.com/office/drawing/2014/main" val="3525613323"/>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ModernBERT+Euclidean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18.2%</a:t>
                      </a:r>
                    </a:p>
                  </a:txBody>
                  <a:tcPr marL="12700" marR="12700" marT="12700" marB="63500" anchor="b"/>
                </a:tc>
                <a:extLst>
                  <a:ext uri="{0D108BD9-81ED-4DB2-BD59-A6C34878D82A}">
                    <a16:rowId xmlns:a16="http://schemas.microsoft.com/office/drawing/2014/main" val="503051975"/>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Phi-4+Euclidean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15.4%</a:t>
                      </a:r>
                    </a:p>
                  </a:txBody>
                  <a:tcPr marL="12700" marR="12700" marT="12700" marB="63500" anchor="b"/>
                </a:tc>
                <a:extLst>
                  <a:ext uri="{0D108BD9-81ED-4DB2-BD59-A6C34878D82A}">
                    <a16:rowId xmlns:a16="http://schemas.microsoft.com/office/drawing/2014/main" val="3890455292"/>
                  </a:ext>
                </a:extLst>
              </a:tr>
              <a:tr h="1783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13.7%</a:t>
                      </a:r>
                    </a:p>
                  </a:txBody>
                  <a:tcPr marL="12700" marR="12700" marT="12700" marB="63500" anchor="b"/>
                </a:tc>
                <a:extLst>
                  <a:ext uri="{0D108BD9-81ED-4DB2-BD59-A6C34878D82A}">
                    <a16:rowId xmlns:a16="http://schemas.microsoft.com/office/drawing/2014/main" val="2091552044"/>
                  </a:ext>
                </a:extLst>
              </a:tr>
            </a:tbl>
          </a:graphicData>
        </a:graphic>
      </p:graphicFrame>
    </p:spTree>
    <p:extLst>
      <p:ext uri="{BB962C8B-B14F-4D97-AF65-F5344CB8AC3E}">
        <p14:creationId xmlns:p14="http://schemas.microsoft.com/office/powerpoint/2010/main" val="2819100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CC19DB-4542-0C4C-E322-9BF253AC8635}"/>
              </a:ext>
            </a:extLst>
          </p:cNvPr>
          <p:cNvSpPr>
            <a:spLocks noGrp="1"/>
          </p:cNvSpPr>
          <p:nvPr>
            <p:ph type="sldNum" sz="quarter" idx="12"/>
          </p:nvPr>
        </p:nvSpPr>
        <p:spPr/>
        <p:txBody>
          <a:bodyPr/>
          <a:lstStyle/>
          <a:p>
            <a:fld id="{AD40181A-01B0-4CB8-8614-1473649F6741}" type="slidenum">
              <a:rPr lang="en-US" smtClean="0"/>
              <a:pPr/>
              <a:t>16</a:t>
            </a:fld>
            <a:endParaRPr lang="en-US" dirty="0"/>
          </a:p>
        </p:txBody>
      </p:sp>
      <p:sp>
        <p:nvSpPr>
          <p:cNvPr id="3" name="Title 2">
            <a:extLst>
              <a:ext uri="{FF2B5EF4-FFF2-40B4-BE49-F238E27FC236}">
                <a16:creationId xmlns:a16="http://schemas.microsoft.com/office/drawing/2014/main" id="{F25CA6E1-8779-2786-3AF6-89520B6E3A77}"/>
              </a:ext>
            </a:extLst>
          </p:cNvPr>
          <p:cNvSpPr>
            <a:spLocks noGrp="1"/>
          </p:cNvSpPr>
          <p:nvPr>
            <p:ph type="title"/>
          </p:nvPr>
        </p:nvSpPr>
        <p:spPr>
          <a:xfrm>
            <a:off x="0" y="0"/>
            <a:ext cx="8817429" cy="587829"/>
          </a:xfrm>
        </p:spPr>
        <p:txBody>
          <a:bodyPr/>
          <a:lstStyle/>
          <a:p>
            <a:r>
              <a:rPr lang="en-US" dirty="0"/>
              <a:t>Summary</a:t>
            </a:r>
          </a:p>
        </p:txBody>
      </p:sp>
      <p:sp>
        <p:nvSpPr>
          <p:cNvPr id="4" name="Content Placeholder 2">
            <a:extLst>
              <a:ext uri="{FF2B5EF4-FFF2-40B4-BE49-F238E27FC236}">
                <a16:creationId xmlns:a16="http://schemas.microsoft.com/office/drawing/2014/main" id="{A1B0D7D4-F19D-9AA5-D6A8-355E190915A9}"/>
              </a:ext>
            </a:extLst>
          </p:cNvPr>
          <p:cNvSpPr txBox="1">
            <a:spLocks/>
          </p:cNvSpPr>
          <p:nvPr/>
        </p:nvSpPr>
        <p:spPr>
          <a:xfrm>
            <a:off x="157899" y="685799"/>
            <a:ext cx="11716475" cy="514894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en-US" sz="1800" dirty="0">
                <a:solidFill>
                  <a:schemeClr val="tx1"/>
                </a:solidFill>
                <a:latin typeface="+mn-lt"/>
              </a:rPr>
              <a:t>Text-embedding based methods generally performed better than text-matching (edit distance) based methods. Depending on the text-embedding model the accuracies varied significantly. </a:t>
            </a:r>
          </a:p>
          <a:p>
            <a:pPr marL="0" indent="0" algn="just">
              <a:buNone/>
            </a:pPr>
            <a:endParaRPr lang="en-US" sz="1800" dirty="0">
              <a:solidFill>
                <a:schemeClr val="tx1"/>
              </a:solidFill>
              <a:latin typeface="+mn-lt"/>
            </a:endParaRPr>
          </a:p>
          <a:p>
            <a:r>
              <a:rPr lang="en-US" sz="1800" dirty="0">
                <a:solidFill>
                  <a:schemeClr val="tx1"/>
                </a:solidFill>
                <a:latin typeface="+mn-lt"/>
              </a:rPr>
              <a:t>Combining (using mutual information) high-accuracy text-embedding methods such as :</a:t>
            </a:r>
          </a:p>
          <a:p>
            <a:pPr lvl="1"/>
            <a:r>
              <a:rPr lang="en-US" sz="1400" b="0" i="0" u="none" strike="noStrike" dirty="0">
                <a:solidFill>
                  <a:schemeClr val="tx1"/>
                </a:solidFill>
                <a:effectLst/>
                <a:latin typeface="Times New Roman" panose="02020603050405020304" pitchFamily="18" charset="0"/>
              </a:rPr>
              <a:t>ADA-002+AP,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72.1% (WHO 5th edition ). </a:t>
            </a:r>
          </a:p>
          <a:p>
            <a:pPr lvl="1"/>
            <a:r>
              <a:rPr lang="en-US" sz="1400" b="0" i="0" u="none" strike="noStrike" dirty="0">
                <a:solidFill>
                  <a:schemeClr val="tx1"/>
                </a:solidFill>
                <a:effectLst/>
                <a:latin typeface="Times New Roman" panose="02020603050405020304" pitchFamily="18" charset="0"/>
              </a:rPr>
              <a:t>ADA-002+K-means,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71.4% (WHO all editions).</a:t>
            </a:r>
            <a:endParaRPr lang="en-US" sz="1800" dirty="0">
              <a:solidFill>
                <a:schemeClr val="tx1"/>
              </a:solidFill>
              <a:latin typeface="+mn-lt"/>
            </a:endParaRPr>
          </a:p>
          <a:p>
            <a:pPr marL="0" indent="0" algn="just">
              <a:buNone/>
            </a:pPr>
            <a:endParaRPr lang="en-US" sz="1800" dirty="0">
              <a:solidFill>
                <a:schemeClr val="tx1"/>
              </a:solidFill>
              <a:latin typeface="+mn-lt"/>
            </a:endParaRPr>
          </a:p>
          <a:p>
            <a:r>
              <a:rPr lang="en-US" sz="1800" dirty="0">
                <a:solidFill>
                  <a:schemeClr val="tx1"/>
                </a:solidFill>
                <a:latin typeface="+mn-lt"/>
              </a:rPr>
              <a:t>Limitations: </a:t>
            </a:r>
          </a:p>
          <a:p>
            <a:pPr lvl="1"/>
            <a:r>
              <a:rPr lang="en-US" sz="1400" dirty="0">
                <a:solidFill>
                  <a:schemeClr val="tx1"/>
                </a:solidFill>
                <a:latin typeface="Times New Roman" panose="02020603050405020304" pitchFamily="18" charset="0"/>
              </a:rPr>
              <a:t>Accurate evaluation of tumor name standardization relies heavily on manual expert annotation, which is time-consuming and limits scalability.</a:t>
            </a:r>
          </a:p>
          <a:p>
            <a:pPr lvl="1"/>
            <a:endParaRPr lang="en-US" sz="1400" dirty="0">
              <a:solidFill>
                <a:schemeClr val="tx1"/>
              </a:solidFill>
              <a:latin typeface="Times New Roman" panose="02020603050405020304" pitchFamily="18" charset="0"/>
            </a:endParaRPr>
          </a:p>
          <a:p>
            <a:pPr lvl="1"/>
            <a:r>
              <a:rPr lang="en-US" sz="1400" dirty="0">
                <a:solidFill>
                  <a:schemeClr val="tx1"/>
                </a:solidFill>
                <a:latin typeface="Times New Roman" panose="02020603050405020304" pitchFamily="18" charset="0"/>
              </a:rPr>
              <a:t>As CTR updates with new tumor names, CANTOS must be rerun and validated repeatedly.</a:t>
            </a:r>
          </a:p>
          <a:p>
            <a:pPr lvl="1"/>
            <a:endParaRPr lang="en-US" sz="1400" dirty="0">
              <a:solidFill>
                <a:schemeClr val="tx1"/>
              </a:solidFill>
              <a:latin typeface="Times New Roman" panose="02020603050405020304" pitchFamily="18" charset="0"/>
            </a:endParaRPr>
          </a:p>
          <a:p>
            <a:pPr lvl="1"/>
            <a:r>
              <a:rPr lang="en-US" sz="1400" dirty="0">
                <a:solidFill>
                  <a:schemeClr val="tx1"/>
                </a:solidFill>
                <a:latin typeface="Times New Roman" panose="02020603050405020304" pitchFamily="18" charset="0"/>
              </a:rPr>
              <a:t>Standardization accuracy is not very high and thus CANTOS is solely for research analysis purposes and should not be applied in clinical or diagnostic settings.</a:t>
            </a:r>
          </a:p>
          <a:p>
            <a:pPr lvl="1"/>
            <a:endParaRPr lang="en-US" sz="1400" dirty="0">
              <a:solidFill>
                <a:schemeClr val="tx1"/>
              </a:solidFill>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a:p>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marL="457200" lvl="1" indent="0">
              <a:buNone/>
            </a:pPr>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519774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D04672-E20B-8BCF-0BCF-5F2E037AEB1D}"/>
              </a:ext>
            </a:extLst>
          </p:cNvPr>
          <p:cNvSpPr>
            <a:spLocks noGrp="1"/>
          </p:cNvSpPr>
          <p:nvPr>
            <p:ph type="sldNum" sz="quarter" idx="12"/>
          </p:nvPr>
        </p:nvSpPr>
        <p:spPr/>
        <p:txBody>
          <a:bodyPr/>
          <a:lstStyle/>
          <a:p>
            <a:fld id="{AD40181A-01B0-4CB8-8614-1473649F6741}" type="slidenum">
              <a:rPr lang="en-US" smtClean="0"/>
              <a:pPr/>
              <a:t>17</a:t>
            </a:fld>
            <a:endParaRPr lang="en-US" dirty="0"/>
          </a:p>
        </p:txBody>
      </p:sp>
      <p:sp>
        <p:nvSpPr>
          <p:cNvPr id="3" name="Title 2">
            <a:extLst>
              <a:ext uri="{FF2B5EF4-FFF2-40B4-BE49-F238E27FC236}">
                <a16:creationId xmlns:a16="http://schemas.microsoft.com/office/drawing/2014/main" id="{D5E22544-6AD7-4FDE-B5B7-6A2B7A01D716}"/>
              </a:ext>
            </a:extLst>
          </p:cNvPr>
          <p:cNvSpPr>
            <a:spLocks noGrp="1"/>
          </p:cNvSpPr>
          <p:nvPr>
            <p:ph type="title"/>
          </p:nvPr>
        </p:nvSpPr>
        <p:spPr>
          <a:xfrm>
            <a:off x="0" y="-174171"/>
            <a:ext cx="9753600" cy="1444752"/>
          </a:xfrm>
        </p:spPr>
        <p:txBody>
          <a:bodyPr/>
          <a:lstStyle/>
          <a:p>
            <a:r>
              <a:rPr lang="en-US" dirty="0"/>
              <a:t>END</a:t>
            </a:r>
          </a:p>
        </p:txBody>
      </p:sp>
    </p:spTree>
    <p:extLst>
      <p:ext uri="{BB962C8B-B14F-4D97-AF65-F5344CB8AC3E}">
        <p14:creationId xmlns:p14="http://schemas.microsoft.com/office/powerpoint/2010/main" val="9049029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D082753-632D-7BBE-C9E9-F9AE285F5C75}"/>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Tumor names represent a significant proportion of condition names in CTR.</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Also, other databases such as the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have standardized tumor nomenclature. </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A standardized system for tumor nomenclature provides us with a reference for mapping unstandardized tumor names from CTR and a basis for evaluating any method that performs this mapping.</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18</a:t>
            </a:fld>
            <a:endParaRPr lang="en-US" dirty="0">
              <a:solidFill>
                <a:schemeClr val="bg1"/>
              </a:solidFill>
            </a:endParaRPr>
          </a:p>
        </p:txBody>
      </p:sp>
    </p:spTree>
    <p:extLst>
      <p:ext uri="{BB962C8B-B14F-4D97-AF65-F5344CB8AC3E}">
        <p14:creationId xmlns:p14="http://schemas.microsoft.com/office/powerpoint/2010/main" val="5794083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79054" y="0"/>
            <a:ext cx="10651402" cy="1143000"/>
          </a:xfrm>
        </p:spPr>
        <p:txBody>
          <a:bodyPr/>
          <a:lstStyle/>
          <a:p>
            <a:r>
              <a:rPr lang="en-US" dirty="0"/>
              <a:t>Unstandardized tumor names</a:t>
            </a:r>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19</a:t>
            </a:fld>
            <a:endParaRPr lang="en-US" dirty="0">
              <a:solidFill>
                <a:schemeClr val="bg1"/>
              </a:solidFill>
            </a:endParaRPr>
          </a:p>
        </p:txBody>
      </p:sp>
      <p:graphicFrame>
        <p:nvGraphicFramePr>
          <p:cNvPr id="7" name="Table 6">
            <a:extLst>
              <a:ext uri="{FF2B5EF4-FFF2-40B4-BE49-F238E27FC236}">
                <a16:creationId xmlns:a16="http://schemas.microsoft.com/office/drawing/2014/main" id="{1782C44F-99F5-A0A7-BC97-FD48AD99745C}"/>
              </a:ext>
            </a:extLst>
          </p:cNvPr>
          <p:cNvGraphicFramePr>
            <a:graphicFrameLocks noGrp="1"/>
          </p:cNvGraphicFramePr>
          <p:nvPr>
            <p:extLst>
              <p:ext uri="{D42A27DB-BD31-4B8C-83A1-F6EECF244321}">
                <p14:modId xmlns:p14="http://schemas.microsoft.com/office/powerpoint/2010/main" val="1719294777"/>
              </p:ext>
            </p:extLst>
          </p:nvPr>
        </p:nvGraphicFramePr>
        <p:xfrm>
          <a:off x="1461544" y="1143000"/>
          <a:ext cx="8994814" cy="3655156"/>
        </p:xfrm>
        <a:graphic>
          <a:graphicData uri="http://schemas.openxmlformats.org/drawingml/2006/table">
            <a:tbl>
              <a:tblPr firstRow="1" bandRow="1">
                <a:tableStyleId>{5C22544A-7EE6-4342-B048-85BDC9FD1C3A}</a:tableStyleId>
              </a:tblPr>
              <a:tblGrid>
                <a:gridCol w="3087617">
                  <a:extLst>
                    <a:ext uri="{9D8B030D-6E8A-4147-A177-3AD203B41FA5}">
                      <a16:colId xmlns:a16="http://schemas.microsoft.com/office/drawing/2014/main" val="1106209466"/>
                    </a:ext>
                  </a:extLst>
                </a:gridCol>
                <a:gridCol w="3019280">
                  <a:extLst>
                    <a:ext uri="{9D8B030D-6E8A-4147-A177-3AD203B41FA5}">
                      <a16:colId xmlns:a16="http://schemas.microsoft.com/office/drawing/2014/main" val="1462595529"/>
                    </a:ext>
                  </a:extLst>
                </a:gridCol>
                <a:gridCol w="2887917">
                  <a:extLst>
                    <a:ext uri="{9D8B030D-6E8A-4147-A177-3AD203B41FA5}">
                      <a16:colId xmlns:a16="http://schemas.microsoft.com/office/drawing/2014/main" val="242162575"/>
                    </a:ext>
                  </a:extLst>
                </a:gridCol>
              </a:tblGrid>
              <a:tr h="472978">
                <a:tc>
                  <a:txBody>
                    <a:bodyPr/>
                    <a:lstStyle/>
                    <a:p>
                      <a:r>
                        <a:rPr lang="en-US" dirty="0"/>
                        <a:t>CT Tumor Names</a:t>
                      </a:r>
                    </a:p>
                  </a:txBody>
                  <a:tcPr/>
                </a:tc>
                <a:tc>
                  <a:txBody>
                    <a:bodyPr/>
                    <a:lstStyle/>
                    <a:p>
                      <a:r>
                        <a:rPr lang="en-US" dirty="0"/>
                        <a:t>Issues</a:t>
                      </a:r>
                    </a:p>
                  </a:txBody>
                  <a:tcPr/>
                </a:tc>
                <a:tc>
                  <a:txBody>
                    <a:bodyPr/>
                    <a:lstStyle/>
                    <a:p>
                      <a:r>
                        <a:rPr lang="en-US" dirty="0"/>
                        <a:t>WHO Standard Names</a:t>
                      </a:r>
                    </a:p>
                  </a:txBody>
                  <a:tcPr/>
                </a:tc>
                <a:extLst>
                  <a:ext uri="{0D108BD9-81ED-4DB2-BD59-A6C34878D82A}">
                    <a16:rowId xmlns:a16="http://schemas.microsoft.com/office/drawing/2014/main" val="1751357925"/>
                  </a:ext>
                </a:extLst>
              </a:tr>
              <a:tr h="457554">
                <a:tc>
                  <a:txBody>
                    <a:bodyPr/>
                    <a:lstStyle/>
                    <a:p>
                      <a:r>
                        <a:rPr lang="en-US" sz="1400" dirty="0"/>
                        <a:t>acute myeloid </a:t>
                      </a:r>
                      <a:r>
                        <a:rPr lang="en-US" sz="1400" dirty="0" err="1"/>
                        <a:t>leucaemia</a:t>
                      </a:r>
                      <a:endParaRPr lang="en-US" sz="1400" dirty="0"/>
                    </a:p>
                  </a:txBody>
                  <a:tcPr/>
                </a:tc>
                <a:tc>
                  <a:txBody>
                    <a:bodyPr/>
                    <a:lstStyle/>
                    <a:p>
                      <a:r>
                        <a:rPr lang="en-US" sz="1400" dirty="0" err="1"/>
                        <a:t>Leukaemia</a:t>
                      </a:r>
                      <a:r>
                        <a:rPr lang="en-US" sz="1400" dirty="0"/>
                        <a:t> not spelled correctly </a:t>
                      </a:r>
                    </a:p>
                  </a:txBody>
                  <a:tcPr/>
                </a:tc>
                <a:tc>
                  <a:txBody>
                    <a:bodyPr/>
                    <a:lstStyle/>
                    <a:p>
                      <a:r>
                        <a:rPr lang="en-US" sz="1400" dirty="0">
                          <a:effectLst/>
                        </a:rPr>
                        <a:t>acute myeloid </a:t>
                      </a:r>
                      <a:r>
                        <a:rPr lang="en-US" sz="1400" dirty="0" err="1">
                          <a:effectLst/>
                        </a:rPr>
                        <a:t>leukaemia</a:t>
                      </a:r>
                      <a:endParaRPr lang="en-US" sz="1400" dirty="0">
                        <a:effectLst/>
                      </a:endParaRPr>
                    </a:p>
                  </a:txBody>
                  <a:tcPr marL="47625" marR="47625" marT="38100" marB="38100" anchor="ctr"/>
                </a:tc>
                <a:extLst>
                  <a:ext uri="{0D108BD9-81ED-4DB2-BD59-A6C34878D82A}">
                    <a16:rowId xmlns:a16="http://schemas.microsoft.com/office/drawing/2014/main" val="65510083"/>
                  </a:ext>
                </a:extLst>
              </a:tr>
              <a:tr h="708487">
                <a:tc>
                  <a:txBody>
                    <a:bodyPr/>
                    <a:lstStyle/>
                    <a:p>
                      <a:r>
                        <a:rPr lang="en-US" sz="1400" dirty="0"/>
                        <a:t>glioblastoma or solid tumors, epidermal growth factor receptor (</a:t>
                      </a:r>
                      <a:r>
                        <a:rPr lang="en-US" sz="1400" dirty="0" err="1"/>
                        <a:t>egfr</a:t>
                      </a:r>
                      <a:r>
                        <a:rPr lang="en-US" sz="1400" dirty="0"/>
                        <a:t>) diagnosis</a:t>
                      </a:r>
                    </a:p>
                    <a:p>
                      <a:endParaRPr lang="en-US" sz="1400" dirty="0"/>
                    </a:p>
                  </a:txBody>
                  <a:tcPr/>
                </a:tc>
                <a:tc>
                  <a:txBody>
                    <a:bodyPr/>
                    <a:lstStyle/>
                    <a:p>
                      <a:r>
                        <a:rPr lang="en-US" sz="1400" dirty="0"/>
                        <a:t>Has two types of tumor: glioblastoma and solid tumors, extra information on  EGFR</a:t>
                      </a:r>
                    </a:p>
                  </a:txBody>
                  <a:tcPr/>
                </a:tc>
                <a:tc>
                  <a:txBody>
                    <a:bodyPr/>
                    <a:lstStyle/>
                    <a:p>
                      <a:r>
                        <a:rPr lang="en-US" sz="1400" dirty="0"/>
                        <a:t>glioblastoma, </a:t>
                      </a:r>
                      <a:r>
                        <a:rPr lang="en-US" sz="1400" dirty="0" err="1"/>
                        <a:t>idh</a:t>
                      </a:r>
                      <a:r>
                        <a:rPr lang="en-US" sz="1400" dirty="0"/>
                        <a:t>-wildtype</a:t>
                      </a:r>
                    </a:p>
                  </a:txBody>
                  <a:tcPr/>
                </a:tc>
                <a:extLst>
                  <a:ext uri="{0D108BD9-81ED-4DB2-BD59-A6C34878D82A}">
                    <a16:rowId xmlns:a16="http://schemas.microsoft.com/office/drawing/2014/main" val="1041037533"/>
                  </a:ext>
                </a:extLst>
              </a:tr>
              <a:tr h="500866">
                <a:tc>
                  <a:txBody>
                    <a:bodyPr/>
                    <a:lstStyle/>
                    <a:p>
                      <a:r>
                        <a:rPr lang="en-US" sz="1400" dirty="0">
                          <a:effectLst/>
                        </a:rPr>
                        <a:t>pathologic stage </a:t>
                      </a:r>
                      <a:r>
                        <a:rPr lang="en-US" sz="1400" dirty="0" err="1">
                          <a:effectLst/>
                        </a:rPr>
                        <a:t>i</a:t>
                      </a:r>
                      <a:r>
                        <a:rPr lang="en-US" sz="1400" dirty="0">
                          <a:effectLst/>
                        </a:rPr>
                        <a:t> </a:t>
                      </a:r>
                      <a:r>
                        <a:rPr lang="en-US" sz="1400" dirty="0" err="1">
                          <a:effectLst/>
                        </a:rPr>
                        <a:t>merkel</a:t>
                      </a:r>
                      <a:r>
                        <a:rPr lang="en-US" sz="1400" dirty="0">
                          <a:effectLst/>
                        </a:rPr>
                        <a:t> cell carcinoma </a:t>
                      </a:r>
                      <a:r>
                        <a:rPr lang="en-US" sz="1400" dirty="0" err="1">
                          <a:effectLst/>
                        </a:rPr>
                        <a:t>ajcc</a:t>
                      </a:r>
                      <a:r>
                        <a:rPr lang="en-US" sz="1400" dirty="0">
                          <a:effectLst/>
                        </a:rPr>
                        <a:t> v8</a:t>
                      </a:r>
                    </a:p>
                  </a:txBody>
                  <a:tcPr marL="47625" marR="47625" marT="38100" marB="38100" anchor="ctr"/>
                </a:tc>
                <a:tc>
                  <a:txBody>
                    <a:bodyPr/>
                    <a:lstStyle/>
                    <a:p>
                      <a:r>
                        <a:rPr lang="en-US" sz="1400" dirty="0">
                          <a:effectLst/>
                        </a:rPr>
                        <a:t>extra information on staging</a:t>
                      </a:r>
                    </a:p>
                  </a:txBody>
                  <a:tcPr marL="47625" marR="47625" marT="38100" marB="38100" anchor="ctr"/>
                </a:tc>
                <a:tc>
                  <a:txBody>
                    <a:bodyPr/>
                    <a:lstStyle/>
                    <a:p>
                      <a:r>
                        <a:rPr lang="en-US" sz="1400" dirty="0" err="1">
                          <a:effectLst/>
                        </a:rPr>
                        <a:t>merkel</a:t>
                      </a:r>
                      <a:r>
                        <a:rPr lang="en-US" sz="1400" dirty="0">
                          <a:effectLst/>
                        </a:rPr>
                        <a:t> cell carcinoma</a:t>
                      </a:r>
                    </a:p>
                  </a:txBody>
                  <a:tcPr marL="47625" marR="47625" marT="38100" marB="38100" anchor="ctr"/>
                </a:tc>
                <a:extLst>
                  <a:ext uri="{0D108BD9-81ED-4DB2-BD59-A6C34878D82A}">
                    <a16:rowId xmlns:a16="http://schemas.microsoft.com/office/drawing/2014/main" val="3070337974"/>
                  </a:ext>
                </a:extLst>
              </a:tr>
              <a:tr h="545304">
                <a:tc>
                  <a:txBody>
                    <a:bodyPr/>
                    <a:lstStyle/>
                    <a:p>
                      <a:r>
                        <a:rPr lang="en-US" sz="1400" dirty="0">
                          <a:effectLst/>
                        </a:rPr>
                        <a:t>adrenocortical carcinoma (part g)</a:t>
                      </a:r>
                    </a:p>
                  </a:txBody>
                  <a:tcPr marL="47625" marR="47625" marT="38100" marB="38100" anchor="ctr"/>
                </a:tc>
                <a:tc>
                  <a:txBody>
                    <a:bodyPr/>
                    <a:lstStyle/>
                    <a:p>
                      <a:r>
                        <a:rPr lang="en-US" sz="1400" dirty="0">
                          <a:effectLst/>
                        </a:rPr>
                        <a:t> Extra information in bracket</a:t>
                      </a:r>
                    </a:p>
                  </a:txBody>
                  <a:tcPr marL="47625" marR="47625" marT="38100" marB="38100" anchor="ctr"/>
                </a:tc>
                <a:tc>
                  <a:txBody>
                    <a:bodyPr/>
                    <a:lstStyle/>
                    <a:p>
                      <a:r>
                        <a:rPr lang="en-US" sz="1400" dirty="0">
                          <a:effectLst/>
                        </a:rPr>
                        <a:t> adrenal cortical carcinoma</a:t>
                      </a:r>
                    </a:p>
                  </a:txBody>
                  <a:tcPr marL="47625" marR="47625" marT="38100" marB="38100" anchor="ctr"/>
                </a:tc>
                <a:extLst>
                  <a:ext uri="{0D108BD9-81ED-4DB2-BD59-A6C34878D82A}">
                    <a16:rowId xmlns:a16="http://schemas.microsoft.com/office/drawing/2014/main" val="2004295928"/>
                  </a:ext>
                </a:extLst>
              </a:tr>
              <a:tr h="708487">
                <a:tc>
                  <a:txBody>
                    <a:bodyPr/>
                    <a:lstStyle/>
                    <a:p>
                      <a:r>
                        <a:rPr lang="en-US" sz="1400" dirty="0" err="1"/>
                        <a:t>ann</a:t>
                      </a:r>
                      <a:r>
                        <a:rPr lang="en-US" sz="1400" dirty="0"/>
                        <a:t> arbor stage iii diffuse large b-cell lymphoma</a:t>
                      </a:r>
                    </a:p>
                    <a:p>
                      <a:endParaRPr lang="en-US" sz="1400" dirty="0"/>
                    </a:p>
                  </a:txBody>
                  <a:tcPr/>
                </a:tc>
                <a:tc>
                  <a:txBody>
                    <a:bodyPr/>
                    <a:lstStyle/>
                    <a:p>
                      <a:r>
                        <a:rPr lang="en-US" sz="1400" dirty="0"/>
                        <a:t> extra information on staging </a:t>
                      </a:r>
                    </a:p>
                  </a:txBody>
                  <a:tcPr/>
                </a:tc>
                <a:tc>
                  <a:txBody>
                    <a:bodyPr/>
                    <a:lstStyle/>
                    <a:p>
                      <a:r>
                        <a:rPr lang="en-US" sz="1400" dirty="0"/>
                        <a:t>diffuse large b-cell lymphoma</a:t>
                      </a:r>
                    </a:p>
                    <a:p>
                      <a:endParaRPr lang="en-US" sz="1400" dirty="0"/>
                    </a:p>
                  </a:txBody>
                  <a:tcPr/>
                </a:tc>
                <a:extLst>
                  <a:ext uri="{0D108BD9-81ED-4DB2-BD59-A6C34878D82A}">
                    <a16:rowId xmlns:a16="http://schemas.microsoft.com/office/drawing/2014/main" val="3939223885"/>
                  </a:ext>
                </a:extLst>
              </a:tr>
            </a:tbl>
          </a:graphicData>
        </a:graphic>
      </p:graphicFrame>
    </p:spTree>
    <p:extLst>
      <p:ext uri="{BB962C8B-B14F-4D97-AF65-F5344CB8AC3E}">
        <p14:creationId xmlns:p14="http://schemas.microsoft.com/office/powerpoint/2010/main" val="1932369964"/>
      </p:ext>
    </p:extLst>
  </p:cSld>
  <p:clrMapOvr>
    <a:masterClrMapping/>
  </p:clrMapOvr>
</p:sld>
</file>

<file path=ppt/theme/theme1.xml><?xml version="1.0" encoding="utf-8"?>
<a:theme xmlns:a="http://schemas.openxmlformats.org/drawingml/2006/main" name="RIS_LabArchives_Template">
  <a:themeElements>
    <a:clrScheme name="CHOP Custom">
      <a:dk1>
        <a:srgbClr val="D11960"/>
      </a:dk1>
      <a:lt1>
        <a:srgbClr val="FFFFFE"/>
      </a:lt1>
      <a:dk2>
        <a:srgbClr val="FFFFFE"/>
      </a:dk2>
      <a:lt2>
        <a:srgbClr val="584B3D"/>
      </a:lt2>
      <a:accent1>
        <a:srgbClr val="3E9CC9"/>
      </a:accent1>
      <a:accent2>
        <a:srgbClr val="D11960"/>
      </a:accent2>
      <a:accent3>
        <a:srgbClr val="5C8D29"/>
      </a:accent3>
      <a:accent4>
        <a:srgbClr val="97C5DF"/>
      </a:accent4>
      <a:accent5>
        <a:srgbClr val="E5849B"/>
      </a:accent5>
      <a:accent6>
        <a:srgbClr val="9FBE7E"/>
      </a:accent6>
      <a:hlink>
        <a:srgbClr val="0000FF"/>
      </a:hlink>
      <a:folHlink>
        <a:srgbClr val="800080"/>
      </a:folHlink>
    </a:clrScheme>
    <a:fontScheme name="Custom 1">
      <a:majorFont>
        <a:latin typeface="Arial"/>
        <a:ea typeface=""/>
        <a:cs typeface=""/>
      </a:majorFont>
      <a:minorFont>
        <a:latin typeface="Georgi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novationeco" id="{994BA8A9-91A8-8D4A-A9A8-8E8B7A3944AB}" vid="{60D1369B-A32A-9840-9929-4F474B34A6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h6a4a4262ab844b18de92e197378cee0 xmlns="e96402cb-0a6e-49e7-8465-cfae72b5129c">
      <Terms xmlns="http://schemas.microsoft.com/office/infopath/2007/PartnerControls"/>
    </h6a4a4262ab844b18de92e197378cee0>
    <o54b1e4c7e8f4e00a12ce46439e0e974 xmlns="e96402cb-0a6e-49e7-8465-cfae72b5129c">
      <Terms xmlns="http://schemas.microsoft.com/office/infopath/2007/PartnerControls"/>
    </o54b1e4c7e8f4e00a12ce46439e0e974>
    <Category xmlns="34d7e926-6bad-4161-b251-cfc43f69ae87">Templates</Category>
    <TaxKeywordTaxHTField xmlns="fcde5e04-944e-4dfc-be86-0a9ace870ff9">
      <Terms xmlns="http://schemas.microsoft.com/office/infopath/2007/PartnerControls"/>
    </TaxKeywordTaxHTField>
    <IconOverlay xmlns="http://schemas.microsoft.com/sharepoint/v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F3D347118B88A4EA8E9A5FEBC94FD86" ma:contentTypeVersion="8" ma:contentTypeDescription="Create a new document." ma:contentTypeScope="" ma:versionID="e54af44cc39137a71e496aa5089235ef">
  <xsd:schema xmlns:xsd="http://www.w3.org/2001/XMLSchema" xmlns:xs="http://www.w3.org/2001/XMLSchema" xmlns:p="http://schemas.microsoft.com/office/2006/metadata/properties" xmlns:ns2="fcde5e04-944e-4dfc-be86-0a9ace870ff9" xmlns:ns3="e96402cb-0a6e-49e7-8465-cfae72b5129c" xmlns:ns4="34d7e926-6bad-4161-b251-cfc43f69ae87" xmlns:ns5="http://schemas.microsoft.com/sharepoint/v4" targetNamespace="http://schemas.microsoft.com/office/2006/metadata/properties" ma:root="true" ma:fieldsID="4dfd49e6986a0fb6e4e84e6606b80ac7" ns2:_="" ns3:_="" ns4:_="" ns5:_="">
    <xsd:import namespace="fcde5e04-944e-4dfc-be86-0a9ace870ff9"/>
    <xsd:import namespace="e96402cb-0a6e-49e7-8465-cfae72b5129c"/>
    <xsd:import namespace="34d7e926-6bad-4161-b251-cfc43f69ae87"/>
    <xsd:import namespace="http://schemas.microsoft.com/sharepoint/v4"/>
    <xsd:element name="properties">
      <xsd:complexType>
        <xsd:sequence>
          <xsd:element name="documentManagement">
            <xsd:complexType>
              <xsd:all>
                <xsd:element ref="ns2:TaxKeywordTaxHTField" minOccurs="0"/>
                <xsd:element ref="ns3:o54b1e4c7e8f4e00a12ce46439e0e974" minOccurs="0"/>
                <xsd:element ref="ns3:h6a4a4262ab844b18de92e197378cee0" minOccurs="0"/>
                <xsd:element ref="ns4:Category" minOccurs="0"/>
                <xsd:element ref="ns5: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e5e04-944e-4dfc-be86-0a9ace870ff9" elementFormDefault="qualified">
    <xsd:import namespace="http://schemas.microsoft.com/office/2006/documentManagement/types"/>
    <xsd:import namespace="http://schemas.microsoft.com/office/infopath/2007/PartnerControls"/>
    <xsd:element name="TaxKeywordTaxHTField" ma:index="9" nillable="true" ma:taxonomy="true" ma:internalName="TaxKeywordTaxHTField" ma:taxonomyFieldName="TaxKeyword" ma:displayName="Enterprise Keywords" ma:fieldId="{23f27201-bee3-471e-b2e7-b64fd8b7ca38}" ma:taxonomyMulti="true" ma:sspId="096f6f6b-f55a-454e-8dbb-24a06af11355"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96402cb-0a6e-49e7-8465-cfae72b5129c" elementFormDefault="qualified">
    <xsd:import namespace="http://schemas.microsoft.com/office/2006/documentManagement/types"/>
    <xsd:import namespace="http://schemas.microsoft.com/office/infopath/2007/PartnerControls"/>
    <xsd:element name="o54b1e4c7e8f4e00a12ce46439e0e974" ma:index="11" nillable="true" ma:taxonomy="true" ma:internalName="o54b1e4c7e8f4e00a12ce46439e0e974" ma:taxonomyFieldName="KnowledgeBaseMetadata" ma:displayName="Knowledge Base Tags" ma:fieldId="{854b1e4c-7e8f-4e00-a12c-e46439e0e974}" ma:taxonomyMulti="true" ma:sspId="096f6f6b-f55a-454e-8dbb-24a06af11355" ma:termSetId="0fa4fcc5-20ed-47ab-b5c6-c9c312be74d0" ma:anchorId="00000000-0000-0000-0000-000000000000" ma:open="false" ma:isKeyword="false">
      <xsd:complexType>
        <xsd:sequence>
          <xsd:element ref="pc:Terms" minOccurs="0" maxOccurs="1"/>
        </xsd:sequence>
      </xsd:complexType>
    </xsd:element>
    <xsd:element name="h6a4a4262ab844b18de92e197378cee0" ma:index="13" nillable="true" ma:taxonomy="true" ma:internalName="h6a4a4262ab844b18de92e197378cee0" ma:taxonomyFieldName="KBPoliciesAndProcedures" ma:displayName="Knowledge Base Policies and Procedures" ma:fieldId="{16a4a426-2ab8-44b1-8de9-2e197378cee0}" ma:taxonomyMulti="true" ma:sspId="096f6f6b-f55a-454e-8dbb-24a06af11355" ma:termSetId="bf388315-c5fb-4b9c-b70e-1e19d0e0d3b2"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4d7e926-6bad-4161-b251-cfc43f69ae87" elementFormDefault="qualified">
    <xsd:import namespace="http://schemas.microsoft.com/office/2006/documentManagement/types"/>
    <xsd:import namespace="http://schemas.microsoft.com/office/infopath/2007/PartnerControls"/>
    <xsd:element name="Category" ma:index="14" nillable="true" ma:displayName="Category" ma:format="Dropdown" ma:internalName="Category">
      <xsd:simpleType>
        <xsd:restriction base="dms:Choice">
          <xsd:enumeration value="Guidelines"/>
          <xsd:enumeration value="Templates"/>
          <xsd:enumeration value="AAG"/>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78B9CA-BC85-4AC4-82A4-AD53C20980F5}">
  <ds:schemaRefs>
    <ds:schemaRef ds:uri="http://schemas.microsoft.com/sharepoint/v3/contenttype/forms"/>
  </ds:schemaRefs>
</ds:datastoreItem>
</file>

<file path=customXml/itemProps2.xml><?xml version="1.0" encoding="utf-8"?>
<ds:datastoreItem xmlns:ds="http://schemas.openxmlformats.org/officeDocument/2006/customXml" ds:itemID="{7C493EF0-0BE4-4E84-A0BC-FF9879CDB9E8}">
  <ds:schemaRefs>
    <ds:schemaRef ds:uri="http://schemas.microsoft.com/office/2006/metadata/properties"/>
    <ds:schemaRef ds:uri="http://schemas.microsoft.com/office/infopath/2007/PartnerControls"/>
    <ds:schemaRef ds:uri="e96402cb-0a6e-49e7-8465-cfae72b5129c"/>
    <ds:schemaRef ds:uri="34d7e926-6bad-4161-b251-cfc43f69ae87"/>
    <ds:schemaRef ds:uri="fcde5e04-944e-4dfc-be86-0a9ace870ff9"/>
    <ds:schemaRef ds:uri="http://schemas.microsoft.com/sharepoint/v4"/>
  </ds:schemaRefs>
</ds:datastoreItem>
</file>

<file path=customXml/itemProps3.xml><?xml version="1.0" encoding="utf-8"?>
<ds:datastoreItem xmlns:ds="http://schemas.openxmlformats.org/officeDocument/2006/customXml" ds:itemID="{1BBAC596-346B-4E59-839B-DB15DC7AE2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cde5e04-944e-4dfc-be86-0a9ace870ff9"/>
    <ds:schemaRef ds:uri="e96402cb-0a6e-49e7-8465-cfae72b5129c"/>
    <ds:schemaRef ds:uri="34d7e926-6bad-4161-b251-cfc43f69ae87"/>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2545</TotalTime>
  <Words>1856</Words>
  <Application>Microsoft Macintosh PowerPoint</Application>
  <PresentationFormat>Widescreen</PresentationFormat>
  <Paragraphs>409</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Chronicle Text G1 Roman</vt:lpstr>
      <vt:lpstr>Georgia</vt:lpstr>
      <vt:lpstr>Rubrik-SemiBold</vt:lpstr>
      <vt:lpstr>Times New Roman</vt:lpstr>
      <vt:lpstr>RIS_LabArchives_Template</vt:lpstr>
      <vt:lpstr>CANTOS: Clinical trials Automated Nomenclature and Tumor Ontology Standardization PIPELINE</vt:lpstr>
      <vt:lpstr>Background  </vt:lpstr>
      <vt:lpstr>Background  </vt:lpstr>
      <vt:lpstr>Background  </vt:lpstr>
      <vt:lpstr>Background  </vt:lpstr>
      <vt:lpstr>Background  </vt:lpstr>
      <vt:lpstr>Tumor Name Standardization  </vt:lpstr>
      <vt:lpstr>CANTOS phase 1: Tumor identification</vt:lpstr>
      <vt:lpstr>CANTOS PHASE 2: Tumor Name Standardization  </vt:lpstr>
      <vt:lpstr>CANTOS Phase 2: Tumor Name Standardization</vt:lpstr>
      <vt:lpstr>CANTOS Phase 2: Tumor Name Standardization</vt:lpstr>
      <vt:lpstr>CANTOS Phase 2: Tumor Name Standardization</vt:lpstr>
      <vt:lpstr>CANTOS phase 2: Tumor Name Standardization</vt:lpstr>
      <vt:lpstr>CANTOS : standardization evaluation</vt:lpstr>
      <vt:lpstr>PowerPoint Presentation</vt:lpstr>
      <vt:lpstr>Summary</vt:lpstr>
      <vt:lpstr>END</vt:lpstr>
      <vt:lpstr>Tumor Name Standardization  </vt:lpstr>
      <vt:lpstr>Unstandardized tumor names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keywords/>
  <cp:lastModifiedBy>Lahiri, Aditya</cp:lastModifiedBy>
  <cp:revision>20</cp:revision>
  <dcterms:created xsi:type="dcterms:W3CDTF">2018-01-25T18:17:50Z</dcterms:created>
  <dcterms:modified xsi:type="dcterms:W3CDTF">2025-04-07T18:06:32Z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0x010100DF3D347118B88A4EA8E9A5FEBC94FD86</vt:lpwstr>
  </property>
  <property fmtid="{D5CDD505-2E9C-101B-9397-08002B2CF9AE}" pid="3" name="KBPoliciesAndProcedures">
    <vt:lpwstr/>
  </property>
  <property fmtid="{D5CDD505-2E9C-101B-9397-08002B2CF9AE}" pid="4" name="TaxKeyword">
    <vt:lpwstr/>
  </property>
  <property fmtid="{D5CDD505-2E9C-101B-9397-08002B2CF9AE}" pid="5" name="KnowledgeBaseMetadata">
    <vt:lpwstr/>
  </property>
  <property fmtid="{D5CDD505-2E9C-101B-9397-08002B2CF9AE}" pid="6" name="TaxCatchAll">
    <vt:lpwstr/>
  </property>
</Properties>
</file>
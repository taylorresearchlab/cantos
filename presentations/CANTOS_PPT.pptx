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4"/>
  </p:notesMasterIdLst>
  <p:sldIdLst>
    <p:sldId id="256" r:id="rId5"/>
    <p:sldId id="257" r:id="rId6"/>
    <p:sldId id="260" r:id="rId7"/>
    <p:sldId id="261" r:id="rId8"/>
    <p:sldId id="262" r:id="rId9"/>
    <p:sldId id="263" r:id="rId10"/>
    <p:sldId id="259" r:id="rId11"/>
    <p:sldId id="264" r:id="rId12"/>
    <p:sldId id="25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11960"/>
    <a:srgbClr val="584B3D"/>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839" autoAdjust="0"/>
    <p:restoredTop sz="94660"/>
  </p:normalViewPr>
  <p:slideViewPr>
    <p:cSldViewPr snapToGrid="0">
      <p:cViewPr varScale="1">
        <p:scale>
          <a:sx n="117" d="100"/>
          <a:sy n="117" d="100"/>
        </p:scale>
        <p:origin x="208" y="92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374326-AD78-4E67-8599-BA8A5604D89A}" type="datetimeFigureOut">
              <a:rPr lang="en-US" smtClean="0"/>
              <a:t>4/5/25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E8EB8B-B78C-4FCA-B737-0D9226F57ED2}" type="slidenum">
              <a:rPr lang="en-US" smtClean="0"/>
              <a:t>‹#›</a:t>
            </a:fld>
            <a:endParaRPr lang="en-US"/>
          </a:p>
        </p:txBody>
      </p:sp>
    </p:spTree>
    <p:extLst>
      <p:ext uri="{BB962C8B-B14F-4D97-AF65-F5344CB8AC3E}">
        <p14:creationId xmlns:p14="http://schemas.microsoft.com/office/powerpoint/2010/main" val="22293377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838199" y="592924"/>
            <a:ext cx="5577591" cy="1207008"/>
          </a:xfrm>
        </p:spPr>
        <p:txBody>
          <a:bodyPr anchor="ctr"/>
          <a:lstStyle>
            <a:lvl1pPr algn="l">
              <a:defRPr sz="3600" b="1" cap="all" baseline="0">
                <a:solidFill>
                  <a:srgbClr val="3E9CC9"/>
                </a:solidFill>
                <a:latin typeface="+mj-lt"/>
              </a:defRPr>
            </a:lvl1pPr>
          </a:lstStyle>
          <a:p>
            <a:r>
              <a:rPr lang="en-US" cap="all" baseline="0" dirty="0"/>
              <a:t>Click to add title</a:t>
            </a:r>
            <a:endParaRPr lang="en-US" dirty="0"/>
          </a:p>
        </p:txBody>
      </p:sp>
      <p:sp>
        <p:nvSpPr>
          <p:cNvPr id="3" name="Subtitle 2"/>
          <p:cNvSpPr>
            <a:spLocks noGrp="1"/>
          </p:cNvSpPr>
          <p:nvPr>
            <p:ph type="subTitle" idx="1" hasCustomPrompt="1"/>
          </p:nvPr>
        </p:nvSpPr>
        <p:spPr>
          <a:xfrm>
            <a:off x="838199" y="1994858"/>
            <a:ext cx="5577589" cy="497951"/>
          </a:xfrm>
        </p:spPr>
        <p:txBody>
          <a:bodyPr>
            <a:normAutofit/>
          </a:bodyPr>
          <a:lstStyle>
            <a:lvl1pPr marL="0" indent="0" algn="l">
              <a:buNone/>
              <a:defRPr sz="2800" b="0" baseline="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6" name="Slide Number Placeholder 5"/>
          <p:cNvSpPr>
            <a:spLocks noGrp="1"/>
          </p:cNvSpPr>
          <p:nvPr>
            <p:ph type="sldNum" sz="quarter" idx="12"/>
          </p:nvPr>
        </p:nvSpPr>
        <p:spPr>
          <a:xfrm>
            <a:off x="11309685" y="6356352"/>
            <a:ext cx="563768" cy="365125"/>
          </a:xfrm>
        </p:spPr>
        <p:txBody>
          <a:bodyPr/>
          <a:lstStyle>
            <a:lvl1pPr>
              <a:defRPr>
                <a:solidFill>
                  <a:schemeClr val="bg1"/>
                </a:solidFill>
              </a:defRPr>
            </a:lvl1pPr>
          </a:lstStyle>
          <a:p>
            <a:fld id="{AD40181A-01B0-4CB8-8614-1473649F6741}" type="slidenum">
              <a:rPr lang="en-US" smtClean="0"/>
              <a:pPr/>
              <a:t>‹#›</a:t>
            </a:fld>
            <a:endParaRPr lang="en-US" dirty="0"/>
          </a:p>
        </p:txBody>
      </p:sp>
      <p:sp>
        <p:nvSpPr>
          <p:cNvPr id="12" name="Text Placeholder 11"/>
          <p:cNvSpPr>
            <a:spLocks noGrp="1"/>
          </p:cNvSpPr>
          <p:nvPr>
            <p:ph type="body" sz="quarter" idx="13" hasCustomPrompt="1"/>
          </p:nvPr>
        </p:nvSpPr>
        <p:spPr>
          <a:xfrm>
            <a:off x="838200" y="2764852"/>
            <a:ext cx="5577417" cy="502920"/>
          </a:xfrm>
        </p:spPr>
        <p:txBody>
          <a:bodyPr>
            <a:normAutofit/>
          </a:bodyPr>
          <a:lstStyle>
            <a:lvl1pPr marL="0" indent="0">
              <a:buNone/>
              <a:defRPr sz="2400" b="0" baseline="0">
                <a:latin typeface="Arial" panose="020B0604020202020204" pitchFamily="34" charset="0"/>
                <a:cs typeface="Arial" panose="020B0604020202020204" pitchFamily="34" charset="0"/>
              </a:defRPr>
            </a:lvl1pPr>
          </a:lstStyle>
          <a:p>
            <a:pPr lvl="0"/>
            <a:r>
              <a:rPr lang="en-US" dirty="0"/>
              <a:t>Click to add date</a:t>
            </a:r>
          </a:p>
        </p:txBody>
      </p:sp>
    </p:spTree>
    <p:extLst>
      <p:ext uri="{BB962C8B-B14F-4D97-AF65-F5344CB8AC3E}">
        <p14:creationId xmlns:p14="http://schemas.microsoft.com/office/powerpoint/2010/main" val="2282824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222052" y="320156"/>
            <a:ext cx="11010595" cy="1143000"/>
          </a:xfrm>
        </p:spPr>
        <p:txBody>
          <a:bodyPr/>
          <a:lstStyle>
            <a:lvl1pPr>
              <a:defRPr b="1">
                <a:latin typeface="+mj-lt"/>
              </a:defRPr>
            </a:lvl1pPr>
          </a:lstStyle>
          <a:p>
            <a:r>
              <a:rPr lang="en-US" dirty="0"/>
              <a:t>Click to add title</a:t>
            </a:r>
          </a:p>
        </p:txBody>
      </p:sp>
      <p:sp>
        <p:nvSpPr>
          <p:cNvPr id="3" name="Content Placeholder 2"/>
          <p:cNvSpPr>
            <a:spLocks noGrp="1"/>
          </p:cNvSpPr>
          <p:nvPr>
            <p:ph idx="1" hasCustomPrompt="1"/>
          </p:nvPr>
        </p:nvSpPr>
        <p:spPr>
          <a:xfrm>
            <a:off x="1222052" y="1736231"/>
            <a:ext cx="11010595" cy="3895344"/>
          </a:xfrm>
        </p:spPr>
        <p:txBody>
          <a:bodyPr/>
          <a:lstStyle>
            <a:lvl1pPr>
              <a:defRPr>
                <a:latin typeface="Arial" panose="020B0604020202020204" pitchFamily="34" charset="0"/>
                <a:cs typeface="Arial" panose="020B0604020202020204" pitchFamily="34" charset="0"/>
              </a:defRPr>
            </a:lvl1pPr>
          </a:lstStyle>
          <a:p>
            <a:pPr lvl="0"/>
            <a:r>
              <a:rPr lang="en-US" dirty="0"/>
              <a:t>Click to add text</a:t>
            </a:r>
          </a:p>
        </p:txBody>
      </p:sp>
      <p:sp>
        <p:nvSpPr>
          <p:cNvPr id="6" name="Slide Number Placeholder 5"/>
          <p:cNvSpPr>
            <a:spLocks noGrp="1"/>
          </p:cNvSpPr>
          <p:nvPr>
            <p:ph type="sldNum" sz="quarter" idx="12"/>
          </p:nvPr>
        </p:nvSpPr>
        <p:spPr>
          <a:xfrm>
            <a:off x="11325727" y="6356352"/>
            <a:ext cx="547727" cy="365125"/>
          </a:xfrm>
        </p:spPr>
        <p:txBody>
          <a:bodyPr/>
          <a:lstStyle>
            <a:lvl1pPr>
              <a:defRPr>
                <a:solidFill>
                  <a:srgbClr val="FFFFFE"/>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4200670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a:xfrm>
            <a:off x="11325727" y="6356352"/>
            <a:ext cx="548647" cy="365125"/>
          </a:xfrm>
        </p:spPr>
        <p:txBody>
          <a:bodyPr/>
          <a:lstStyle>
            <a:lvl1pPr>
              <a:defRPr>
                <a:solidFill>
                  <a:srgbClr val="FFFFFE"/>
                </a:solidFill>
              </a:defRPr>
            </a:lvl1pPr>
          </a:lstStyle>
          <a:p>
            <a:fld id="{AD40181A-01B0-4CB8-8614-1473649F6741}" type="slidenum">
              <a:rPr lang="en-US" smtClean="0"/>
              <a:pPr/>
              <a:t>‹#›</a:t>
            </a:fld>
            <a:endParaRPr lang="en-US" dirty="0"/>
          </a:p>
        </p:txBody>
      </p:sp>
      <p:sp>
        <p:nvSpPr>
          <p:cNvPr id="2" name="Title 1"/>
          <p:cNvSpPr>
            <a:spLocks noGrp="1"/>
          </p:cNvSpPr>
          <p:nvPr>
            <p:ph type="title" hasCustomPrompt="1"/>
          </p:nvPr>
        </p:nvSpPr>
        <p:spPr>
          <a:xfrm>
            <a:off x="1745733" y="1543930"/>
            <a:ext cx="9753600" cy="1444752"/>
          </a:xfrm>
        </p:spPr>
        <p:txBody>
          <a:bodyPr/>
          <a:lstStyle>
            <a:lvl1pPr>
              <a:defRPr b="1">
                <a:latin typeface="+mj-lt"/>
              </a:defRPr>
            </a:lvl1pPr>
          </a:lstStyle>
          <a:p>
            <a:r>
              <a:rPr lang="en-US" dirty="0"/>
              <a:t>Click to add title</a:t>
            </a:r>
          </a:p>
        </p:txBody>
      </p:sp>
    </p:spTree>
    <p:extLst>
      <p:ext uri="{BB962C8B-B14F-4D97-AF65-F5344CB8AC3E}">
        <p14:creationId xmlns:p14="http://schemas.microsoft.com/office/powerpoint/2010/main" val="5109936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Autofit/>
          </a:bodyPr>
          <a:lstStyle/>
          <a:p>
            <a:r>
              <a:rPr lang="en-US" dirty="0"/>
              <a:t>Click to add TITLE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rgbClr val="3E9CC9"/>
                </a:solidFill>
              </a:defRPr>
            </a:lvl1pPr>
          </a:lstStyle>
          <a:p>
            <a:endParaRPr lang="en-US" dirty="0"/>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rgbClr val="3E9CC9"/>
                </a:solidFill>
              </a:defRPr>
            </a:lvl1pPr>
          </a:lstStyle>
          <a:p>
            <a:endParaRPr lang="en-US" dirty="0"/>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accent3"/>
                </a:solidFill>
              </a:defRPr>
            </a:lvl1pPr>
          </a:lstStyle>
          <a:p>
            <a:fld id="{AD40181A-01B0-4CB8-8614-1473649F6741}" type="slidenum">
              <a:rPr lang="en-US" smtClean="0"/>
              <a:pPr/>
              <a:t>‹#›</a:t>
            </a:fld>
            <a:endParaRPr lang="en-US" dirty="0"/>
          </a:p>
        </p:txBody>
      </p:sp>
    </p:spTree>
    <p:extLst>
      <p:ext uri="{BB962C8B-B14F-4D97-AF65-F5344CB8AC3E}">
        <p14:creationId xmlns:p14="http://schemas.microsoft.com/office/powerpoint/2010/main" val="995964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Lst>
  <p:hf hdr="0" ftr="0" dt="0"/>
  <p:txStyles>
    <p:titleStyle>
      <a:lvl1pPr algn="l" defTabSz="914400" rtl="0" eaLnBrk="1" latinLnBrk="0" hangingPunct="1">
        <a:lnSpc>
          <a:spcPct val="90000"/>
        </a:lnSpc>
        <a:spcBef>
          <a:spcPct val="0"/>
        </a:spcBef>
        <a:buNone/>
        <a:defRPr sz="3600" b="0" i="0" kern="1200" cap="all" baseline="0">
          <a:solidFill>
            <a:srgbClr val="3E9CC9"/>
          </a:solidFill>
          <a:latin typeface="Rubrik-SemiBold"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baseline="0">
          <a:solidFill>
            <a:srgbClr val="584B3D"/>
          </a:solidFill>
          <a:latin typeface="Chronicle Text G1 Roman"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baseline="0">
          <a:solidFill>
            <a:srgbClr val="584B3D"/>
          </a:solidFill>
          <a:latin typeface="Chronicle Text G1 Roman"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baseline="0">
          <a:solidFill>
            <a:srgbClr val="584B3D"/>
          </a:solidFill>
          <a:latin typeface="Chronicle Text G1 Roman"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baseline="0">
          <a:solidFill>
            <a:srgbClr val="584B3D"/>
          </a:solidFill>
          <a:latin typeface="Chronicle Text G1 Roman"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0" y="0"/>
            <a:ext cx="7168896" cy="1849990"/>
          </a:xfrm>
        </p:spPr>
        <p:txBody>
          <a:bodyPr/>
          <a:lstStyle/>
          <a:p>
            <a:r>
              <a:rPr lang="en-US" sz="2400" dirty="0"/>
              <a:t>CANTOS: Automated Tumor Name Standardization in the NIH Clinical Trials Registry Using the CANTOS Pipeline</a:t>
            </a:r>
          </a:p>
        </p:txBody>
      </p:sp>
      <p:sp>
        <p:nvSpPr>
          <p:cNvPr id="5" name="Subtitle 4"/>
          <p:cNvSpPr>
            <a:spLocks noGrp="1"/>
          </p:cNvSpPr>
          <p:nvPr>
            <p:ph type="subTitle" idx="1"/>
          </p:nvPr>
        </p:nvSpPr>
        <p:spPr>
          <a:xfrm>
            <a:off x="143255" y="1965318"/>
            <a:ext cx="6723889" cy="1016027"/>
          </a:xfrm>
        </p:spPr>
        <p:txBody>
          <a:bodyPr>
            <a:normAutofit/>
          </a:bodyPr>
          <a:lstStyle/>
          <a:p>
            <a:r>
              <a:rPr lang="en-US" sz="1800" b="0" i="0" u="none" strike="noStrike" dirty="0">
                <a:solidFill>
                  <a:srgbClr val="000000"/>
                </a:solidFill>
                <a:effectLst/>
                <a:latin typeface="Times New Roman" panose="02020603050405020304" pitchFamily="18" charset="0"/>
              </a:rPr>
              <a:t>Aditya Lahiri, Sangeeta Shukla, Ben </a:t>
            </a:r>
            <a:r>
              <a:rPr lang="en-US" sz="1800" b="0" i="0" u="none" strike="noStrike" dirty="0" err="1">
                <a:solidFill>
                  <a:srgbClr val="000000"/>
                </a:solidFill>
                <a:effectLst/>
                <a:latin typeface="Times New Roman" panose="02020603050405020304" pitchFamily="18" charset="0"/>
              </a:rPr>
              <a:t>Stear</a:t>
            </a:r>
            <a:r>
              <a:rPr lang="en-US" sz="1800" b="0" i="0" u="none" strike="noStrike" dirty="0">
                <a:solidFill>
                  <a:srgbClr val="000000"/>
                </a:solidFill>
                <a:effectLst/>
                <a:latin typeface="Times New Roman" panose="02020603050405020304" pitchFamily="18" charset="0"/>
              </a:rPr>
              <a:t>, Taha Mohseni </a:t>
            </a:r>
            <a:r>
              <a:rPr lang="en-US" sz="1800" b="0" i="0" u="none" strike="noStrike" dirty="0" err="1">
                <a:solidFill>
                  <a:srgbClr val="000000"/>
                </a:solidFill>
                <a:effectLst/>
                <a:latin typeface="Times New Roman" panose="02020603050405020304" pitchFamily="18" charset="0"/>
              </a:rPr>
              <a:t>Ahooyi</a:t>
            </a:r>
            <a:r>
              <a:rPr lang="en-US" sz="1800" b="0" i="0" u="none" strike="noStrike" dirty="0">
                <a:solidFill>
                  <a:srgbClr val="000000"/>
                </a:solidFill>
                <a:effectLst/>
                <a:latin typeface="Times New Roman" panose="02020603050405020304" pitchFamily="18" charset="0"/>
              </a:rPr>
              <a:t>, Katherine Beigel, Elizabeth </a:t>
            </a:r>
            <a:r>
              <a:rPr lang="en-US" sz="1800" b="0" i="0" u="none" strike="noStrike" dirty="0" err="1">
                <a:solidFill>
                  <a:srgbClr val="000000"/>
                </a:solidFill>
                <a:effectLst/>
                <a:latin typeface="Times New Roman" panose="02020603050405020304" pitchFamily="18" charset="0"/>
              </a:rPr>
              <a:t>Margolskee</a:t>
            </a:r>
            <a:r>
              <a:rPr lang="en-US" sz="1800" b="0" i="0" u="none" strike="noStrike" dirty="0">
                <a:solidFill>
                  <a:srgbClr val="000000"/>
                </a:solidFill>
                <a:effectLst/>
                <a:latin typeface="Times New Roman" panose="02020603050405020304" pitchFamily="18" charset="0"/>
              </a:rPr>
              <a:t>, Deanne Taylor </a:t>
            </a:r>
            <a:endParaRPr lang="en-US" dirty="0"/>
          </a:p>
        </p:txBody>
      </p:sp>
      <p:sp>
        <p:nvSpPr>
          <p:cNvPr id="4" name="Slide Number Placeholder 3"/>
          <p:cNvSpPr>
            <a:spLocks noGrp="1"/>
          </p:cNvSpPr>
          <p:nvPr>
            <p:ph type="sldNum" sz="quarter" idx="12"/>
          </p:nvPr>
        </p:nvSpPr>
        <p:spPr/>
        <p:txBody>
          <a:bodyPr/>
          <a:lstStyle/>
          <a:p>
            <a:fld id="{AD40181A-01B0-4CB8-8614-1473649F6741}" type="slidenum">
              <a:rPr lang="en-US" smtClean="0"/>
              <a:t>1</a:t>
            </a:fld>
            <a:endParaRPr lang="en-US" dirty="0"/>
          </a:p>
        </p:txBody>
      </p:sp>
      <p:sp>
        <p:nvSpPr>
          <p:cNvPr id="2" name="TextBox 1"/>
          <p:cNvSpPr txBox="1"/>
          <p:nvPr/>
        </p:nvSpPr>
        <p:spPr>
          <a:xfrm>
            <a:off x="8247758" y="1780652"/>
            <a:ext cx="184666"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6828765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p:cNvSpPr>
            <a:spLocks noGrp="1"/>
          </p:cNvSpPr>
          <p:nvPr>
            <p:ph type="sldNum" sz="quarter" idx="12"/>
          </p:nvPr>
        </p:nvSpPr>
        <p:spPr/>
        <p:txBody>
          <a:bodyPr/>
          <a:lstStyle/>
          <a:p>
            <a:fld id="{AD40181A-01B0-4CB8-8614-1473649F6741}" type="slidenum">
              <a:rPr lang="en-US" smtClean="0">
                <a:solidFill>
                  <a:schemeClr val="bg1"/>
                </a:solidFill>
              </a:rPr>
              <a:t>2</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A18857C-B046-09F1-9416-720821612124}"/>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3007CFA9-434F-8970-63DB-3BEDE685070B}"/>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F43AB81-9950-65C5-AE75-3C6ED7B101BD}"/>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3" name="Rectangle 12">
            <a:extLst>
              <a:ext uri="{FF2B5EF4-FFF2-40B4-BE49-F238E27FC236}">
                <a16:creationId xmlns:a16="http://schemas.microsoft.com/office/drawing/2014/main" id="{B3B92896-E57F-5C6E-81D3-86816D039FB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3" name="Right Arrow 22">
            <a:extLst>
              <a:ext uri="{FF2B5EF4-FFF2-40B4-BE49-F238E27FC236}">
                <a16:creationId xmlns:a16="http://schemas.microsoft.com/office/drawing/2014/main" id="{379600C1-4BE1-99D6-DA05-2F684F20672C}"/>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47288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2652D-5529-680B-A167-1C44C4A42A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10EA6-7D6C-7E19-1CD8-E54A6787B37B}"/>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9043F883-275D-4544-F0B9-E35E9067DC80}"/>
              </a:ext>
            </a:extLst>
          </p:cNvPr>
          <p:cNvSpPr>
            <a:spLocks noGrp="1"/>
          </p:cNvSpPr>
          <p:nvPr>
            <p:ph type="sldNum" sz="quarter" idx="12"/>
          </p:nvPr>
        </p:nvSpPr>
        <p:spPr/>
        <p:txBody>
          <a:bodyPr/>
          <a:lstStyle/>
          <a:p>
            <a:fld id="{AD40181A-01B0-4CB8-8614-1473649F6741}" type="slidenum">
              <a:rPr lang="en-US" smtClean="0">
                <a:solidFill>
                  <a:schemeClr val="bg1"/>
                </a:solidFill>
              </a:rPr>
              <a:t>3</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40DC8898-86B4-57BF-1948-1FEE81AD7CB1}"/>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DDAC97F1-143B-0FFF-28AB-F39804DAA7F0}"/>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8A1724EC-1264-943A-5FE8-A03AEF194515}"/>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DD656638-5CDC-27E2-7B42-F66CAD1B7302}"/>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1552BA12-BCB8-162A-9F27-466BC0C5BD5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sp>
        <p:nvSpPr>
          <p:cNvPr id="22" name="Right Arrow 21">
            <a:extLst>
              <a:ext uri="{FF2B5EF4-FFF2-40B4-BE49-F238E27FC236}">
                <a16:creationId xmlns:a16="http://schemas.microsoft.com/office/drawing/2014/main" id="{877111A2-86D6-BD1C-0EA3-959DC8F720B8}"/>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D5791DC-CF64-996C-DD47-DC43E8C1C89B}"/>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84828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9C0FB-6016-6F0F-EB3E-4B438E475F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2C9B35-B9B8-FB5A-B6AC-AFE889852AE9}"/>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B689177F-49C3-DF0A-09BB-F7255201DC99}"/>
              </a:ext>
            </a:extLst>
          </p:cNvPr>
          <p:cNvSpPr>
            <a:spLocks noGrp="1"/>
          </p:cNvSpPr>
          <p:nvPr>
            <p:ph type="sldNum" sz="quarter" idx="12"/>
          </p:nvPr>
        </p:nvSpPr>
        <p:spPr/>
        <p:txBody>
          <a:bodyPr/>
          <a:lstStyle/>
          <a:p>
            <a:fld id="{AD40181A-01B0-4CB8-8614-1473649F6741}" type="slidenum">
              <a:rPr lang="en-US" smtClean="0">
                <a:solidFill>
                  <a:schemeClr val="bg1"/>
                </a:solidFill>
              </a:rPr>
              <a:t>4</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47F5C01-DA34-79F5-CB9E-3E6DCCF42C0C}"/>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7C17AAD4-0BBC-7EDF-DCDB-CC6D21F946CE}"/>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9DB618C-07FF-8DC4-E3CC-A2420C3DA134}"/>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FC3833CC-00C9-7E9A-51E4-59643EE30BFD}"/>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D2291399-4D19-928E-060C-7505B313DE27}"/>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49AE5A82-F779-1D63-60FC-7C2D62B9EE3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884AF72-6ECF-62D9-ECD6-78F56086063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0AF9611E-21E1-21C7-6536-4B9F85B47D3E}"/>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1BE8C055-881B-3E4A-A5AF-623B32C8416A}"/>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C615022A-6D21-C710-823C-CCA668F88C7D}"/>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BAFB85F-CC33-935C-1B6B-8492F34F6D4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A06CBE06-71A1-9A82-031E-18DDD8E6CE15}"/>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1AF1282B-94D5-EAE4-BD50-6438B9B04157}"/>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320355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8BF6D-3FB8-90FA-4141-3CD29B4479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220A40-AED4-E4A1-01EA-264D8273E7B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CFF0B9FA-34FC-82EF-09AE-B01ED83114EB}"/>
              </a:ext>
            </a:extLst>
          </p:cNvPr>
          <p:cNvSpPr>
            <a:spLocks noGrp="1"/>
          </p:cNvSpPr>
          <p:nvPr>
            <p:ph type="sldNum" sz="quarter" idx="12"/>
          </p:nvPr>
        </p:nvSpPr>
        <p:spPr/>
        <p:txBody>
          <a:bodyPr/>
          <a:lstStyle/>
          <a:p>
            <a:fld id="{AD40181A-01B0-4CB8-8614-1473649F6741}" type="slidenum">
              <a:rPr lang="en-US" smtClean="0">
                <a:solidFill>
                  <a:schemeClr val="bg1"/>
                </a:solidFill>
              </a:rPr>
              <a:t>5</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D63BD362-5AED-C364-624A-40906A8FFA6B}"/>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8497C344-3249-D0DD-C4A2-A8077B66C7E7}"/>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C544F9AE-89A5-3A9D-F314-F823395F98A6}"/>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5A7229DE-3FD2-E978-17A2-29C130CB899B}"/>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F47E2FB5-CF89-06C0-D04B-A15A3CAFADA4}"/>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8D7507A1-E35C-F63B-4A00-DB3A52AC5A2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9AD80547-62CB-C387-5F6C-EA1FB84A255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10C10235-7C96-47E0-6762-0ED491BA63B9}"/>
              </a:ext>
            </a:extLst>
          </p:cNvPr>
          <p:cNvSpPr txBox="1"/>
          <p:nvPr/>
        </p:nvSpPr>
        <p:spPr>
          <a:xfrm>
            <a:off x="9175805" y="4343715"/>
            <a:ext cx="1598515" cy="369332"/>
          </a:xfrm>
          <a:prstGeom prst="rect">
            <a:avLst/>
          </a:prstGeom>
          <a:noFill/>
        </p:spPr>
        <p:txBody>
          <a:bodyPr wrap="none" rtlCol="0">
            <a:spAutoFit/>
          </a:bodyPr>
          <a:lstStyle/>
          <a:p>
            <a:r>
              <a:rPr lang="en-US" dirty="0" err="1"/>
              <a:t>conditions.txt</a:t>
            </a:r>
            <a:endParaRPr lang="en-US" dirty="0"/>
          </a:p>
        </p:txBody>
      </p:sp>
      <p:sp>
        <p:nvSpPr>
          <p:cNvPr id="19" name="TextBox 18">
            <a:extLst>
              <a:ext uri="{FF2B5EF4-FFF2-40B4-BE49-F238E27FC236}">
                <a16:creationId xmlns:a16="http://schemas.microsoft.com/office/drawing/2014/main" id="{5A4812B3-4259-0897-3B4F-EB88DBBF3093}"/>
              </a:ext>
            </a:extLst>
          </p:cNvPr>
          <p:cNvSpPr txBox="1"/>
          <p:nvPr/>
        </p:nvSpPr>
        <p:spPr>
          <a:xfrm>
            <a:off x="6777271" y="4343715"/>
            <a:ext cx="1887055" cy="369332"/>
          </a:xfrm>
          <a:prstGeom prst="rect">
            <a:avLst/>
          </a:prstGeom>
          <a:noFill/>
        </p:spPr>
        <p:txBody>
          <a:bodyPr wrap="square" rtlCol="0">
            <a:spAutoFit/>
          </a:bodyPr>
          <a:lstStyle/>
          <a:p>
            <a:r>
              <a:rPr lang="en-US" dirty="0" err="1"/>
              <a:t>interventions.txt</a:t>
            </a:r>
            <a:endParaRPr lang="en-US" dirty="0"/>
          </a:p>
        </p:txBody>
      </p:sp>
      <p:sp>
        <p:nvSpPr>
          <p:cNvPr id="22" name="Right Arrow 21">
            <a:extLst>
              <a:ext uri="{FF2B5EF4-FFF2-40B4-BE49-F238E27FC236}">
                <a16:creationId xmlns:a16="http://schemas.microsoft.com/office/drawing/2014/main" id="{8E28767B-45ED-C362-32C4-169FCF4F21B3}"/>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3654F060-6E8A-1D0A-E818-9B123E78C5C0}"/>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F0A84076-01BC-8A90-4D91-34DBC1C808D6}"/>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CB42DA62-D4C0-D004-92A7-E0137DA777DF}"/>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ACDA329E-BDF2-2F24-CF1E-96E0A8EA33C9}"/>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21DD0282-8814-22A4-9728-6E528C8EBCC9}"/>
              </a:ext>
            </a:extLst>
          </p:cNvPr>
          <p:cNvSpPr txBox="1"/>
          <p:nvPr/>
        </p:nvSpPr>
        <p:spPr>
          <a:xfrm>
            <a:off x="8175210" y="3254538"/>
            <a:ext cx="1000595" cy="369332"/>
          </a:xfrm>
          <a:prstGeom prst="rect">
            <a:avLst/>
          </a:prstGeom>
          <a:noFill/>
        </p:spPr>
        <p:txBody>
          <a:bodyPr wrap="none" rtlCol="0">
            <a:spAutoFit/>
          </a:bodyPr>
          <a:lstStyle/>
          <a:p>
            <a:r>
              <a:rPr lang="en-US" dirty="0"/>
              <a:t>NCT-ID</a:t>
            </a:r>
          </a:p>
        </p:txBody>
      </p:sp>
    </p:spTree>
    <p:extLst>
      <p:ext uri="{BB962C8B-B14F-4D97-AF65-F5344CB8AC3E}">
        <p14:creationId xmlns:p14="http://schemas.microsoft.com/office/powerpoint/2010/main" val="742687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00A5F-458B-B24E-E0B7-C65E2AC772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C8C67-29C8-EA43-6689-5B7F972B2F06}"/>
              </a:ext>
            </a:extLst>
          </p:cNvPr>
          <p:cNvSpPr>
            <a:spLocks noGrp="1"/>
          </p:cNvSpPr>
          <p:nvPr>
            <p:ph type="title"/>
          </p:nvPr>
        </p:nvSpPr>
        <p:spPr>
          <a:xfrm>
            <a:off x="165984" y="-12879"/>
            <a:ext cx="10651402" cy="1143000"/>
          </a:xfrm>
        </p:spPr>
        <p:txBody>
          <a:bodyPr/>
          <a:lstStyle/>
          <a:p>
            <a:r>
              <a:rPr lang="en-US" dirty="0"/>
              <a:t>Background		</a:t>
            </a:r>
          </a:p>
        </p:txBody>
      </p:sp>
      <p:sp>
        <p:nvSpPr>
          <p:cNvPr id="4" name="Slide Number Placeholder 3">
            <a:extLst>
              <a:ext uri="{FF2B5EF4-FFF2-40B4-BE49-F238E27FC236}">
                <a16:creationId xmlns:a16="http://schemas.microsoft.com/office/drawing/2014/main" id="{5F7CCCEA-AE59-D3A6-CB52-199E43F54A92}"/>
              </a:ext>
            </a:extLst>
          </p:cNvPr>
          <p:cNvSpPr>
            <a:spLocks noGrp="1"/>
          </p:cNvSpPr>
          <p:nvPr>
            <p:ph type="sldNum" sz="quarter" idx="12"/>
          </p:nvPr>
        </p:nvSpPr>
        <p:spPr/>
        <p:txBody>
          <a:bodyPr/>
          <a:lstStyle/>
          <a:p>
            <a:fld id="{AD40181A-01B0-4CB8-8614-1473649F6741}" type="slidenum">
              <a:rPr lang="en-US" smtClean="0">
                <a:solidFill>
                  <a:schemeClr val="bg1"/>
                </a:solidFill>
              </a:rPr>
              <a:t>6</a:t>
            </a:fld>
            <a:endParaRPr lang="en-US" dirty="0">
              <a:solidFill>
                <a:schemeClr val="bg1"/>
              </a:solidFill>
            </a:endParaRPr>
          </a:p>
        </p:txBody>
      </p:sp>
      <p:pic>
        <p:nvPicPr>
          <p:cNvPr id="7" name="Picture 6" descr="A blue and black logo&#10;&#10;Description automatically generated">
            <a:extLst>
              <a:ext uri="{FF2B5EF4-FFF2-40B4-BE49-F238E27FC236}">
                <a16:creationId xmlns:a16="http://schemas.microsoft.com/office/drawing/2014/main" id="{A6EDB998-68E1-AD17-716A-78FAED898F7A}"/>
              </a:ext>
            </a:extLst>
          </p:cNvPr>
          <p:cNvPicPr>
            <a:picLocks noChangeAspect="1"/>
          </p:cNvPicPr>
          <p:nvPr/>
        </p:nvPicPr>
        <p:blipFill>
          <a:blip r:embed="rId2"/>
          <a:stretch>
            <a:fillRect/>
          </a:stretch>
        </p:blipFill>
        <p:spPr>
          <a:xfrm>
            <a:off x="395039" y="48364021"/>
            <a:ext cx="3640413" cy="2928450"/>
          </a:xfrm>
          <a:prstGeom prst="rect">
            <a:avLst/>
          </a:prstGeom>
        </p:spPr>
      </p:pic>
      <p:pic>
        <p:nvPicPr>
          <p:cNvPr id="8" name="Picture 7" descr="A blue and black logo&#10;&#10;Description automatically generated">
            <a:extLst>
              <a:ext uri="{FF2B5EF4-FFF2-40B4-BE49-F238E27FC236}">
                <a16:creationId xmlns:a16="http://schemas.microsoft.com/office/drawing/2014/main" id="{C5B46770-B05D-D544-EBA1-BA836127AA2A}"/>
              </a:ext>
            </a:extLst>
          </p:cNvPr>
          <p:cNvPicPr>
            <a:picLocks noChangeAspect="1"/>
          </p:cNvPicPr>
          <p:nvPr/>
        </p:nvPicPr>
        <p:blipFill>
          <a:blip r:embed="rId2"/>
          <a:stretch>
            <a:fillRect/>
          </a:stretch>
        </p:blipFill>
        <p:spPr>
          <a:xfrm>
            <a:off x="547439" y="48516421"/>
            <a:ext cx="3640413" cy="2928450"/>
          </a:xfrm>
          <a:prstGeom prst="rect">
            <a:avLst/>
          </a:prstGeom>
        </p:spPr>
      </p:pic>
      <p:pic>
        <p:nvPicPr>
          <p:cNvPr id="9" name="Content Placeholder 8" descr="A blue and black logo&#10;&#10;Description automatically generated">
            <a:extLst>
              <a:ext uri="{FF2B5EF4-FFF2-40B4-BE49-F238E27FC236}">
                <a16:creationId xmlns:a16="http://schemas.microsoft.com/office/drawing/2014/main" id="{2B68742D-1F7E-9CD1-6BA4-7DD7BC91FC9F}"/>
              </a:ext>
            </a:extLst>
          </p:cNvPr>
          <p:cNvPicPr>
            <a:picLocks noGrp="1" noChangeAspect="1"/>
          </p:cNvPicPr>
          <p:nvPr>
            <p:ph idx="1"/>
          </p:nvPr>
        </p:nvPicPr>
        <p:blipFill>
          <a:blip r:embed="rId2"/>
          <a:stretch>
            <a:fillRect/>
          </a:stretch>
        </p:blipFill>
        <p:spPr>
          <a:xfrm>
            <a:off x="547439" y="1517867"/>
            <a:ext cx="1782457" cy="1433858"/>
          </a:xfrm>
          <a:prstGeom prst="rect">
            <a:avLst/>
          </a:prstGeom>
        </p:spPr>
      </p:pic>
      <p:sp>
        <p:nvSpPr>
          <p:cNvPr id="10" name="Rectangle 9">
            <a:extLst>
              <a:ext uri="{FF2B5EF4-FFF2-40B4-BE49-F238E27FC236}">
                <a16:creationId xmlns:a16="http://schemas.microsoft.com/office/drawing/2014/main" id="{6245BBB5-4661-7EC5-62C2-3AD7E197C4B0}"/>
              </a:ext>
            </a:extLst>
          </p:cNvPr>
          <p:cNvSpPr/>
          <p:nvPr/>
        </p:nvSpPr>
        <p:spPr>
          <a:xfrm>
            <a:off x="7322604" y="1596510"/>
            <a:ext cx="2345271" cy="10017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Drug-Disease Relationships</a:t>
            </a:r>
          </a:p>
        </p:txBody>
      </p:sp>
      <p:sp>
        <p:nvSpPr>
          <p:cNvPr id="13" name="Rectangle 12">
            <a:extLst>
              <a:ext uri="{FF2B5EF4-FFF2-40B4-BE49-F238E27FC236}">
                <a16:creationId xmlns:a16="http://schemas.microsoft.com/office/drawing/2014/main" id="{C130E80D-F761-C46B-0B74-D83E0D4D6F45}"/>
              </a:ext>
            </a:extLst>
          </p:cNvPr>
          <p:cNvSpPr/>
          <p:nvPr/>
        </p:nvSpPr>
        <p:spPr>
          <a:xfrm>
            <a:off x="3743847" y="1596510"/>
            <a:ext cx="2123552" cy="105216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Approx 500k studies, all 50 US states and 223 countries</a:t>
            </a:r>
          </a:p>
        </p:txBody>
      </p:sp>
      <p:pic>
        <p:nvPicPr>
          <p:cNvPr id="15" name="Graphic 14" descr="Document outline">
            <a:extLst>
              <a:ext uri="{FF2B5EF4-FFF2-40B4-BE49-F238E27FC236}">
                <a16:creationId xmlns:a16="http://schemas.microsoft.com/office/drawing/2014/main" id="{D9813EFA-86CD-823E-3D84-28C37F21B6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195382" y="3395236"/>
            <a:ext cx="914400" cy="914400"/>
          </a:xfrm>
          <a:prstGeom prst="rect">
            <a:avLst/>
          </a:prstGeom>
        </p:spPr>
      </p:pic>
      <p:pic>
        <p:nvPicPr>
          <p:cNvPr id="16" name="Graphic 15" descr="Document outline">
            <a:extLst>
              <a:ext uri="{FF2B5EF4-FFF2-40B4-BE49-F238E27FC236}">
                <a16:creationId xmlns:a16="http://schemas.microsoft.com/office/drawing/2014/main" id="{55446897-A0ED-1E2C-0F08-6C2D4BE10E2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5805" y="3377810"/>
            <a:ext cx="914400" cy="914400"/>
          </a:xfrm>
          <a:prstGeom prst="rect">
            <a:avLst/>
          </a:prstGeom>
        </p:spPr>
      </p:pic>
      <p:sp>
        <p:nvSpPr>
          <p:cNvPr id="17" name="TextBox 16">
            <a:extLst>
              <a:ext uri="{FF2B5EF4-FFF2-40B4-BE49-F238E27FC236}">
                <a16:creationId xmlns:a16="http://schemas.microsoft.com/office/drawing/2014/main" id="{D834A011-45D1-4ABC-8A32-8A00898C8A8A}"/>
              </a:ext>
            </a:extLst>
          </p:cNvPr>
          <p:cNvSpPr txBox="1"/>
          <p:nvPr/>
        </p:nvSpPr>
        <p:spPr>
          <a:xfrm>
            <a:off x="9175805" y="4343715"/>
            <a:ext cx="1598515" cy="369332"/>
          </a:xfrm>
          <a:prstGeom prst="rect">
            <a:avLst/>
          </a:prstGeom>
          <a:noFill/>
        </p:spPr>
        <p:txBody>
          <a:bodyPr wrap="none" rtlCol="0">
            <a:spAutoFit/>
          </a:bodyPr>
          <a:lstStyle/>
          <a:p>
            <a:r>
              <a:rPr lang="en-US" dirty="0" err="1">
                <a:solidFill>
                  <a:schemeClr val="bg2">
                    <a:lumMod val="50000"/>
                  </a:schemeClr>
                </a:solidFill>
              </a:rPr>
              <a:t>conditions.txt</a:t>
            </a:r>
            <a:endParaRPr lang="en-US" dirty="0">
              <a:solidFill>
                <a:schemeClr val="bg2">
                  <a:lumMod val="50000"/>
                </a:schemeClr>
              </a:solidFill>
            </a:endParaRPr>
          </a:p>
        </p:txBody>
      </p:sp>
      <p:sp>
        <p:nvSpPr>
          <p:cNvPr id="19" name="TextBox 18">
            <a:extLst>
              <a:ext uri="{FF2B5EF4-FFF2-40B4-BE49-F238E27FC236}">
                <a16:creationId xmlns:a16="http://schemas.microsoft.com/office/drawing/2014/main" id="{76356B19-6B3F-7B2F-7558-4A06C6A26305}"/>
              </a:ext>
            </a:extLst>
          </p:cNvPr>
          <p:cNvSpPr txBox="1"/>
          <p:nvPr/>
        </p:nvSpPr>
        <p:spPr>
          <a:xfrm>
            <a:off x="6777271" y="4343715"/>
            <a:ext cx="1887055" cy="369332"/>
          </a:xfrm>
          <a:prstGeom prst="rect">
            <a:avLst/>
          </a:prstGeom>
          <a:noFill/>
        </p:spPr>
        <p:txBody>
          <a:bodyPr wrap="square" rtlCol="0">
            <a:spAutoFit/>
          </a:bodyPr>
          <a:lstStyle/>
          <a:p>
            <a:r>
              <a:rPr lang="en-US" dirty="0" err="1">
                <a:solidFill>
                  <a:schemeClr val="bg2">
                    <a:lumMod val="50000"/>
                  </a:schemeClr>
                </a:solidFill>
              </a:rPr>
              <a:t>interventions.txt</a:t>
            </a:r>
            <a:endParaRPr lang="en-US" dirty="0">
              <a:solidFill>
                <a:schemeClr val="bg2">
                  <a:lumMod val="50000"/>
                </a:schemeClr>
              </a:solidFill>
            </a:endParaRPr>
          </a:p>
        </p:txBody>
      </p:sp>
      <p:sp>
        <p:nvSpPr>
          <p:cNvPr id="22" name="Right Arrow 21">
            <a:extLst>
              <a:ext uri="{FF2B5EF4-FFF2-40B4-BE49-F238E27FC236}">
                <a16:creationId xmlns:a16="http://schemas.microsoft.com/office/drawing/2014/main" id="{883A785D-3ED7-645C-5D7B-5ED5E9EC15B7}"/>
              </a:ext>
            </a:extLst>
          </p:cNvPr>
          <p:cNvSpPr/>
          <p:nvPr/>
        </p:nvSpPr>
        <p:spPr>
          <a:xfrm>
            <a:off x="6061627" y="1857673"/>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FFC6DBB-025C-FFDB-6CF7-190EC5E3073D}"/>
              </a:ext>
            </a:extLst>
          </p:cNvPr>
          <p:cNvSpPr/>
          <p:nvPr/>
        </p:nvSpPr>
        <p:spPr>
          <a:xfrm>
            <a:off x="2524124" y="1825019"/>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Down Arrow 23">
            <a:extLst>
              <a:ext uri="{FF2B5EF4-FFF2-40B4-BE49-F238E27FC236}">
                <a16:creationId xmlns:a16="http://schemas.microsoft.com/office/drawing/2014/main" id="{06CF1118-B838-CDEF-F620-D15A3D1288E8}"/>
              </a:ext>
            </a:extLst>
          </p:cNvPr>
          <p:cNvSpPr/>
          <p:nvPr/>
        </p:nvSpPr>
        <p:spPr>
          <a:xfrm>
            <a:off x="7482799" y="2738973"/>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Right Arrow 24">
            <a:extLst>
              <a:ext uri="{FF2B5EF4-FFF2-40B4-BE49-F238E27FC236}">
                <a16:creationId xmlns:a16="http://schemas.microsoft.com/office/drawing/2014/main" id="{70096815-009D-BEF4-DCB6-E8F9D649D0AE}"/>
              </a:ext>
            </a:extLst>
          </p:cNvPr>
          <p:cNvSpPr/>
          <p:nvPr/>
        </p:nvSpPr>
        <p:spPr>
          <a:xfrm>
            <a:off x="8043214" y="3554320"/>
            <a:ext cx="1175657" cy="45720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Down Arrow 25">
            <a:extLst>
              <a:ext uri="{FF2B5EF4-FFF2-40B4-BE49-F238E27FC236}">
                <a16:creationId xmlns:a16="http://schemas.microsoft.com/office/drawing/2014/main" id="{B71E8DA3-F389-9793-F689-9B21E8ECEEB2}"/>
              </a:ext>
            </a:extLst>
          </p:cNvPr>
          <p:cNvSpPr/>
          <p:nvPr/>
        </p:nvSpPr>
        <p:spPr>
          <a:xfrm>
            <a:off x="9261176" y="2699570"/>
            <a:ext cx="444381" cy="6486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7FCF9D19-5B91-8E26-D5FC-EC12367CB2B8}"/>
              </a:ext>
            </a:extLst>
          </p:cNvPr>
          <p:cNvSpPr txBox="1"/>
          <p:nvPr/>
        </p:nvSpPr>
        <p:spPr>
          <a:xfrm>
            <a:off x="8175210" y="3254538"/>
            <a:ext cx="1000595" cy="369332"/>
          </a:xfrm>
          <a:prstGeom prst="rect">
            <a:avLst/>
          </a:prstGeom>
          <a:noFill/>
        </p:spPr>
        <p:txBody>
          <a:bodyPr wrap="none" rtlCol="0">
            <a:spAutoFit/>
          </a:bodyPr>
          <a:lstStyle/>
          <a:p>
            <a:r>
              <a:rPr lang="en-US" dirty="0">
                <a:solidFill>
                  <a:schemeClr val="bg2">
                    <a:lumMod val="50000"/>
                  </a:schemeClr>
                </a:solidFill>
              </a:rPr>
              <a:t>NCT-ID</a:t>
            </a:r>
          </a:p>
        </p:txBody>
      </p:sp>
      <p:sp>
        <p:nvSpPr>
          <p:cNvPr id="11" name="TextBox 10">
            <a:extLst>
              <a:ext uri="{FF2B5EF4-FFF2-40B4-BE49-F238E27FC236}">
                <a16:creationId xmlns:a16="http://schemas.microsoft.com/office/drawing/2014/main" id="{574E9C16-68E9-B059-7BAB-8D0153960D46}"/>
              </a:ext>
            </a:extLst>
          </p:cNvPr>
          <p:cNvSpPr txBox="1"/>
          <p:nvPr/>
        </p:nvSpPr>
        <p:spPr>
          <a:xfrm>
            <a:off x="547439" y="4863349"/>
            <a:ext cx="11176475" cy="1200329"/>
          </a:xfrm>
          <a:prstGeom prst="rect">
            <a:avLst/>
          </a:prstGeom>
          <a:noFill/>
        </p:spPr>
        <p:txBody>
          <a:bodyPr wrap="square" rtlCol="0">
            <a:spAutoFit/>
          </a:bodyPr>
          <a:lstStyle/>
          <a:p>
            <a:pPr algn="just"/>
            <a:r>
              <a:rPr lang="en-US" dirty="0"/>
              <a:t>Challenge: disease names, including tumor names in clinical trials registry  contain extraneous information, typographical errors, missing values, non-standard nomenclature and other inconsistencies which create barriers for data integration and downstream analysis of the CTR data.</a:t>
            </a:r>
          </a:p>
          <a:p>
            <a:endParaRPr lang="en-US" dirty="0"/>
          </a:p>
        </p:txBody>
      </p:sp>
    </p:spTree>
    <p:extLst>
      <p:ext uri="{BB962C8B-B14F-4D97-AF65-F5344CB8AC3E}">
        <p14:creationId xmlns:p14="http://schemas.microsoft.com/office/powerpoint/2010/main" val="12402832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79054" y="0"/>
            <a:ext cx="10651402" cy="1143000"/>
          </a:xfrm>
        </p:spPr>
        <p:txBody>
          <a:bodyPr/>
          <a:lstStyle/>
          <a:p>
            <a:r>
              <a:rPr lang="en-US" dirty="0"/>
              <a:t>Unstandardized tumor names</a:t>
            </a:r>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7</a:t>
            </a:fld>
            <a:endParaRPr lang="en-US" dirty="0">
              <a:solidFill>
                <a:schemeClr val="bg1"/>
              </a:solidFill>
            </a:endParaRPr>
          </a:p>
        </p:txBody>
      </p:sp>
      <p:graphicFrame>
        <p:nvGraphicFramePr>
          <p:cNvPr id="7" name="Table 6">
            <a:extLst>
              <a:ext uri="{FF2B5EF4-FFF2-40B4-BE49-F238E27FC236}">
                <a16:creationId xmlns:a16="http://schemas.microsoft.com/office/drawing/2014/main" id="{1782C44F-99F5-A0A7-BC97-FD48AD99745C}"/>
              </a:ext>
            </a:extLst>
          </p:cNvPr>
          <p:cNvGraphicFramePr>
            <a:graphicFrameLocks noGrp="1"/>
          </p:cNvGraphicFramePr>
          <p:nvPr>
            <p:extLst>
              <p:ext uri="{D42A27DB-BD31-4B8C-83A1-F6EECF244321}">
                <p14:modId xmlns:p14="http://schemas.microsoft.com/office/powerpoint/2010/main" val="1719294777"/>
              </p:ext>
            </p:extLst>
          </p:nvPr>
        </p:nvGraphicFramePr>
        <p:xfrm>
          <a:off x="1461544" y="1143000"/>
          <a:ext cx="8994814" cy="3655156"/>
        </p:xfrm>
        <a:graphic>
          <a:graphicData uri="http://schemas.openxmlformats.org/drawingml/2006/table">
            <a:tbl>
              <a:tblPr firstRow="1" bandRow="1">
                <a:tableStyleId>{5C22544A-7EE6-4342-B048-85BDC9FD1C3A}</a:tableStyleId>
              </a:tblPr>
              <a:tblGrid>
                <a:gridCol w="3087617">
                  <a:extLst>
                    <a:ext uri="{9D8B030D-6E8A-4147-A177-3AD203B41FA5}">
                      <a16:colId xmlns:a16="http://schemas.microsoft.com/office/drawing/2014/main" val="1106209466"/>
                    </a:ext>
                  </a:extLst>
                </a:gridCol>
                <a:gridCol w="3019280">
                  <a:extLst>
                    <a:ext uri="{9D8B030D-6E8A-4147-A177-3AD203B41FA5}">
                      <a16:colId xmlns:a16="http://schemas.microsoft.com/office/drawing/2014/main" val="1462595529"/>
                    </a:ext>
                  </a:extLst>
                </a:gridCol>
                <a:gridCol w="2887917">
                  <a:extLst>
                    <a:ext uri="{9D8B030D-6E8A-4147-A177-3AD203B41FA5}">
                      <a16:colId xmlns:a16="http://schemas.microsoft.com/office/drawing/2014/main" val="242162575"/>
                    </a:ext>
                  </a:extLst>
                </a:gridCol>
              </a:tblGrid>
              <a:tr h="472978">
                <a:tc>
                  <a:txBody>
                    <a:bodyPr/>
                    <a:lstStyle/>
                    <a:p>
                      <a:r>
                        <a:rPr lang="en-US" dirty="0"/>
                        <a:t>CT Tumor Names</a:t>
                      </a:r>
                    </a:p>
                  </a:txBody>
                  <a:tcPr/>
                </a:tc>
                <a:tc>
                  <a:txBody>
                    <a:bodyPr/>
                    <a:lstStyle/>
                    <a:p>
                      <a:r>
                        <a:rPr lang="en-US" dirty="0"/>
                        <a:t>Issues</a:t>
                      </a:r>
                    </a:p>
                  </a:txBody>
                  <a:tcPr/>
                </a:tc>
                <a:tc>
                  <a:txBody>
                    <a:bodyPr/>
                    <a:lstStyle/>
                    <a:p>
                      <a:r>
                        <a:rPr lang="en-US" dirty="0"/>
                        <a:t>WHO Standard Names</a:t>
                      </a:r>
                    </a:p>
                  </a:txBody>
                  <a:tcPr/>
                </a:tc>
                <a:extLst>
                  <a:ext uri="{0D108BD9-81ED-4DB2-BD59-A6C34878D82A}">
                    <a16:rowId xmlns:a16="http://schemas.microsoft.com/office/drawing/2014/main" val="1751357925"/>
                  </a:ext>
                </a:extLst>
              </a:tr>
              <a:tr h="457554">
                <a:tc>
                  <a:txBody>
                    <a:bodyPr/>
                    <a:lstStyle/>
                    <a:p>
                      <a:r>
                        <a:rPr lang="en-US" sz="1400" dirty="0"/>
                        <a:t>acute myeloid </a:t>
                      </a:r>
                      <a:r>
                        <a:rPr lang="en-US" sz="1400" dirty="0" err="1"/>
                        <a:t>leucaemia</a:t>
                      </a:r>
                      <a:endParaRPr lang="en-US" sz="1400" dirty="0"/>
                    </a:p>
                  </a:txBody>
                  <a:tcPr/>
                </a:tc>
                <a:tc>
                  <a:txBody>
                    <a:bodyPr/>
                    <a:lstStyle/>
                    <a:p>
                      <a:r>
                        <a:rPr lang="en-US" sz="1400" dirty="0" err="1"/>
                        <a:t>Leukaemia</a:t>
                      </a:r>
                      <a:r>
                        <a:rPr lang="en-US" sz="1400" dirty="0"/>
                        <a:t> not spelled correctly </a:t>
                      </a:r>
                    </a:p>
                  </a:txBody>
                  <a:tcPr/>
                </a:tc>
                <a:tc>
                  <a:txBody>
                    <a:bodyPr/>
                    <a:lstStyle/>
                    <a:p>
                      <a:r>
                        <a:rPr lang="en-US" sz="1400" dirty="0">
                          <a:effectLst/>
                        </a:rPr>
                        <a:t>acute myeloid </a:t>
                      </a:r>
                      <a:r>
                        <a:rPr lang="en-US" sz="1400" dirty="0" err="1">
                          <a:effectLst/>
                        </a:rPr>
                        <a:t>leukaemia</a:t>
                      </a:r>
                      <a:endParaRPr lang="en-US" sz="1400" dirty="0">
                        <a:effectLst/>
                      </a:endParaRPr>
                    </a:p>
                  </a:txBody>
                  <a:tcPr marL="47625" marR="47625" marT="38100" marB="38100" anchor="ctr"/>
                </a:tc>
                <a:extLst>
                  <a:ext uri="{0D108BD9-81ED-4DB2-BD59-A6C34878D82A}">
                    <a16:rowId xmlns:a16="http://schemas.microsoft.com/office/drawing/2014/main" val="65510083"/>
                  </a:ext>
                </a:extLst>
              </a:tr>
              <a:tr h="708487">
                <a:tc>
                  <a:txBody>
                    <a:bodyPr/>
                    <a:lstStyle/>
                    <a:p>
                      <a:r>
                        <a:rPr lang="en-US" sz="1400" dirty="0"/>
                        <a:t>glioblastoma or solid tumors, epidermal growth factor receptor (</a:t>
                      </a:r>
                      <a:r>
                        <a:rPr lang="en-US" sz="1400" dirty="0" err="1"/>
                        <a:t>egfr</a:t>
                      </a:r>
                      <a:r>
                        <a:rPr lang="en-US" sz="1400" dirty="0"/>
                        <a:t>) diagnosis</a:t>
                      </a:r>
                    </a:p>
                    <a:p>
                      <a:endParaRPr lang="en-US" sz="1400" dirty="0"/>
                    </a:p>
                  </a:txBody>
                  <a:tcPr/>
                </a:tc>
                <a:tc>
                  <a:txBody>
                    <a:bodyPr/>
                    <a:lstStyle/>
                    <a:p>
                      <a:r>
                        <a:rPr lang="en-US" sz="1400" dirty="0"/>
                        <a:t>Has two types of tumor: glioblastoma and solid tumors, extra information on  EGFR</a:t>
                      </a:r>
                    </a:p>
                  </a:txBody>
                  <a:tcPr/>
                </a:tc>
                <a:tc>
                  <a:txBody>
                    <a:bodyPr/>
                    <a:lstStyle/>
                    <a:p>
                      <a:r>
                        <a:rPr lang="en-US" sz="1400" dirty="0"/>
                        <a:t>glioblastoma, </a:t>
                      </a:r>
                      <a:r>
                        <a:rPr lang="en-US" sz="1400" dirty="0" err="1"/>
                        <a:t>idh</a:t>
                      </a:r>
                      <a:r>
                        <a:rPr lang="en-US" sz="1400" dirty="0"/>
                        <a:t>-wildtype</a:t>
                      </a:r>
                    </a:p>
                  </a:txBody>
                  <a:tcPr/>
                </a:tc>
                <a:extLst>
                  <a:ext uri="{0D108BD9-81ED-4DB2-BD59-A6C34878D82A}">
                    <a16:rowId xmlns:a16="http://schemas.microsoft.com/office/drawing/2014/main" val="1041037533"/>
                  </a:ext>
                </a:extLst>
              </a:tr>
              <a:tr h="500866">
                <a:tc>
                  <a:txBody>
                    <a:bodyPr/>
                    <a:lstStyle/>
                    <a:p>
                      <a:r>
                        <a:rPr lang="en-US" sz="1400" dirty="0">
                          <a:effectLst/>
                        </a:rPr>
                        <a:t>pathologic stage </a:t>
                      </a:r>
                      <a:r>
                        <a:rPr lang="en-US" sz="1400" dirty="0" err="1">
                          <a:effectLst/>
                        </a:rPr>
                        <a:t>i</a:t>
                      </a:r>
                      <a:r>
                        <a:rPr lang="en-US" sz="1400" dirty="0">
                          <a:effectLst/>
                        </a:rPr>
                        <a:t> </a:t>
                      </a:r>
                      <a:r>
                        <a:rPr lang="en-US" sz="1400" dirty="0" err="1">
                          <a:effectLst/>
                        </a:rPr>
                        <a:t>merkel</a:t>
                      </a:r>
                      <a:r>
                        <a:rPr lang="en-US" sz="1400" dirty="0">
                          <a:effectLst/>
                        </a:rPr>
                        <a:t> cell carcinoma </a:t>
                      </a:r>
                      <a:r>
                        <a:rPr lang="en-US" sz="1400" dirty="0" err="1">
                          <a:effectLst/>
                        </a:rPr>
                        <a:t>ajcc</a:t>
                      </a:r>
                      <a:r>
                        <a:rPr lang="en-US" sz="1400" dirty="0">
                          <a:effectLst/>
                        </a:rPr>
                        <a:t> v8</a:t>
                      </a:r>
                    </a:p>
                  </a:txBody>
                  <a:tcPr marL="47625" marR="47625" marT="38100" marB="38100" anchor="ctr"/>
                </a:tc>
                <a:tc>
                  <a:txBody>
                    <a:bodyPr/>
                    <a:lstStyle/>
                    <a:p>
                      <a:r>
                        <a:rPr lang="en-US" sz="1400" dirty="0">
                          <a:effectLst/>
                        </a:rPr>
                        <a:t>extra information on staging</a:t>
                      </a:r>
                    </a:p>
                  </a:txBody>
                  <a:tcPr marL="47625" marR="47625" marT="38100" marB="38100" anchor="ctr"/>
                </a:tc>
                <a:tc>
                  <a:txBody>
                    <a:bodyPr/>
                    <a:lstStyle/>
                    <a:p>
                      <a:r>
                        <a:rPr lang="en-US" sz="1400" dirty="0" err="1">
                          <a:effectLst/>
                        </a:rPr>
                        <a:t>merkel</a:t>
                      </a:r>
                      <a:r>
                        <a:rPr lang="en-US" sz="1400" dirty="0">
                          <a:effectLst/>
                        </a:rPr>
                        <a:t> cell carcinoma</a:t>
                      </a:r>
                    </a:p>
                  </a:txBody>
                  <a:tcPr marL="47625" marR="47625" marT="38100" marB="38100" anchor="ctr"/>
                </a:tc>
                <a:extLst>
                  <a:ext uri="{0D108BD9-81ED-4DB2-BD59-A6C34878D82A}">
                    <a16:rowId xmlns:a16="http://schemas.microsoft.com/office/drawing/2014/main" val="3070337974"/>
                  </a:ext>
                </a:extLst>
              </a:tr>
              <a:tr h="545304">
                <a:tc>
                  <a:txBody>
                    <a:bodyPr/>
                    <a:lstStyle/>
                    <a:p>
                      <a:r>
                        <a:rPr lang="en-US" sz="1400" dirty="0">
                          <a:effectLst/>
                        </a:rPr>
                        <a:t>adrenocortical carcinoma (part g)</a:t>
                      </a:r>
                    </a:p>
                  </a:txBody>
                  <a:tcPr marL="47625" marR="47625" marT="38100" marB="38100" anchor="ctr"/>
                </a:tc>
                <a:tc>
                  <a:txBody>
                    <a:bodyPr/>
                    <a:lstStyle/>
                    <a:p>
                      <a:r>
                        <a:rPr lang="en-US" sz="1400" dirty="0">
                          <a:effectLst/>
                        </a:rPr>
                        <a:t> Extra information in bracket</a:t>
                      </a:r>
                    </a:p>
                  </a:txBody>
                  <a:tcPr marL="47625" marR="47625" marT="38100" marB="38100" anchor="ctr"/>
                </a:tc>
                <a:tc>
                  <a:txBody>
                    <a:bodyPr/>
                    <a:lstStyle/>
                    <a:p>
                      <a:r>
                        <a:rPr lang="en-US" sz="1400" dirty="0">
                          <a:effectLst/>
                        </a:rPr>
                        <a:t> adrenal cortical carcinoma</a:t>
                      </a:r>
                    </a:p>
                  </a:txBody>
                  <a:tcPr marL="47625" marR="47625" marT="38100" marB="38100" anchor="ctr"/>
                </a:tc>
                <a:extLst>
                  <a:ext uri="{0D108BD9-81ED-4DB2-BD59-A6C34878D82A}">
                    <a16:rowId xmlns:a16="http://schemas.microsoft.com/office/drawing/2014/main" val="2004295928"/>
                  </a:ext>
                </a:extLst>
              </a:tr>
              <a:tr h="708487">
                <a:tc>
                  <a:txBody>
                    <a:bodyPr/>
                    <a:lstStyle/>
                    <a:p>
                      <a:r>
                        <a:rPr lang="en-US" sz="1400" dirty="0" err="1"/>
                        <a:t>ann</a:t>
                      </a:r>
                      <a:r>
                        <a:rPr lang="en-US" sz="1400" dirty="0"/>
                        <a:t> arbor stage iii diffuse large b-cell lymphoma</a:t>
                      </a:r>
                    </a:p>
                    <a:p>
                      <a:endParaRPr lang="en-US" sz="1400" dirty="0"/>
                    </a:p>
                  </a:txBody>
                  <a:tcPr/>
                </a:tc>
                <a:tc>
                  <a:txBody>
                    <a:bodyPr/>
                    <a:lstStyle/>
                    <a:p>
                      <a:r>
                        <a:rPr lang="en-US" sz="1400" dirty="0"/>
                        <a:t> extra information on staging </a:t>
                      </a:r>
                    </a:p>
                  </a:txBody>
                  <a:tcPr/>
                </a:tc>
                <a:tc>
                  <a:txBody>
                    <a:bodyPr/>
                    <a:lstStyle/>
                    <a:p>
                      <a:r>
                        <a:rPr lang="en-US" sz="1400" dirty="0"/>
                        <a:t>diffuse large b-cell lymphoma</a:t>
                      </a:r>
                    </a:p>
                    <a:p>
                      <a:endParaRPr lang="en-US" sz="1400" dirty="0"/>
                    </a:p>
                  </a:txBody>
                  <a:tcPr/>
                </a:tc>
                <a:extLst>
                  <a:ext uri="{0D108BD9-81ED-4DB2-BD59-A6C34878D82A}">
                    <a16:rowId xmlns:a16="http://schemas.microsoft.com/office/drawing/2014/main" val="3939223885"/>
                  </a:ext>
                </a:extLst>
              </a:tr>
            </a:tbl>
          </a:graphicData>
        </a:graphic>
      </p:graphicFrame>
    </p:spTree>
    <p:extLst>
      <p:ext uri="{BB962C8B-B14F-4D97-AF65-F5344CB8AC3E}">
        <p14:creationId xmlns:p14="http://schemas.microsoft.com/office/powerpoint/2010/main" val="19323699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1996C-AEFF-C3A9-751E-CB258B5285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A313D-6D6A-BE2B-263D-27E5BA15AEB2}"/>
              </a:ext>
            </a:extLst>
          </p:cNvPr>
          <p:cNvSpPr>
            <a:spLocks noGrp="1"/>
          </p:cNvSpPr>
          <p:nvPr>
            <p:ph type="title"/>
          </p:nvPr>
        </p:nvSpPr>
        <p:spPr>
          <a:xfrm>
            <a:off x="87086" y="21771"/>
            <a:ext cx="10651402" cy="1143000"/>
          </a:xfrm>
        </p:spPr>
        <p:txBody>
          <a:bodyPr/>
          <a:lstStyle/>
          <a:p>
            <a:r>
              <a:rPr lang="en-US" dirty="0"/>
              <a:t>Tumor Name Standardization		</a:t>
            </a:r>
          </a:p>
        </p:txBody>
      </p:sp>
      <p:sp>
        <p:nvSpPr>
          <p:cNvPr id="3" name="Content Placeholder 2">
            <a:extLst>
              <a:ext uri="{FF2B5EF4-FFF2-40B4-BE49-F238E27FC236}">
                <a16:creationId xmlns:a16="http://schemas.microsoft.com/office/drawing/2014/main" id="{7D082753-632D-7BBE-C9E9-F9AE285F5C75}"/>
              </a:ext>
            </a:extLst>
          </p:cNvPr>
          <p:cNvSpPr>
            <a:spLocks noGrp="1"/>
          </p:cNvSpPr>
          <p:nvPr>
            <p:ph idx="1"/>
          </p:nvPr>
        </p:nvSpPr>
        <p:spPr>
          <a:xfrm>
            <a:off x="179670" y="1164771"/>
            <a:ext cx="11261215" cy="4484914"/>
          </a:xfrm>
        </p:spPr>
        <p:txBody>
          <a:bodyPr>
            <a:normAutofit/>
          </a:bodyPr>
          <a:lstStyle/>
          <a:p>
            <a:pPr algn="just"/>
            <a:r>
              <a:rPr lang="en-US" sz="1800" dirty="0">
                <a:solidFill>
                  <a:schemeClr val="tx1"/>
                </a:solidFill>
                <a:latin typeface="+mn-lt"/>
                <a:cs typeface="+mn-cs"/>
              </a:rPr>
              <a:t> We aimed to standardize tumor names contained in CTR. Tumor names represent a significant proportion of condition names in CTR.</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Unlike other condition names, for tumor names , we have the WHO tumor classification system which is accepted as the gold standard for tumor nomenclature among clinicians. Also, other databases such as the </a:t>
            </a:r>
            <a:r>
              <a:rPr lang="en-US" sz="1800" dirty="0" err="1">
                <a:solidFill>
                  <a:schemeClr val="tx1"/>
                </a:solidFill>
                <a:latin typeface="+mn-lt"/>
                <a:cs typeface="+mn-cs"/>
              </a:rPr>
              <a:t>NCIt</a:t>
            </a:r>
            <a:r>
              <a:rPr lang="en-US" sz="1800" dirty="0">
                <a:solidFill>
                  <a:schemeClr val="tx1"/>
                </a:solidFill>
                <a:latin typeface="+mn-lt"/>
                <a:cs typeface="+mn-cs"/>
              </a:rPr>
              <a:t> (National Cancer Institute Thesaurus) have standardized tumor nomenclature. </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A standardized system for tumor nomenclature provides us with a reference for mapping unstandardized tumor names from CTR and a basis for evaluating any method that performs this mapping.</a:t>
            </a:r>
          </a:p>
          <a:p>
            <a:pPr algn="just"/>
            <a:endParaRPr lang="en-US" sz="1800" dirty="0">
              <a:solidFill>
                <a:schemeClr val="tx1"/>
              </a:solidFill>
              <a:latin typeface="+mn-lt"/>
              <a:cs typeface="+mn-cs"/>
            </a:endParaRPr>
          </a:p>
          <a:p>
            <a:pPr algn="just"/>
            <a:r>
              <a:rPr lang="en-US" sz="1800" dirty="0">
                <a:solidFill>
                  <a:schemeClr val="tx1"/>
                </a:solidFill>
                <a:latin typeface="+mn-lt"/>
                <a:cs typeface="+mn-cs"/>
              </a:rPr>
              <a:t>To this end, we developed the CANTOS (Clinical trials Automated Nomenclature and Tumor Ontology Standardization) pipeline to extract tumor names from CTR and standardize them with respect to the WHO tumor classification system and </a:t>
            </a:r>
            <a:r>
              <a:rPr lang="en-US" sz="1800" dirty="0" err="1">
                <a:solidFill>
                  <a:schemeClr val="tx1"/>
                </a:solidFill>
                <a:latin typeface="+mn-lt"/>
                <a:cs typeface="+mn-cs"/>
              </a:rPr>
              <a:t>NCIt</a:t>
            </a:r>
            <a:r>
              <a:rPr lang="en-US" sz="1800" dirty="0">
                <a:solidFill>
                  <a:schemeClr val="tx1"/>
                </a:solidFill>
                <a:latin typeface="+mn-lt"/>
                <a:cs typeface="+mn-cs"/>
              </a:rPr>
              <a:t> database</a:t>
            </a:r>
            <a:r>
              <a:rPr lang="en-US" sz="1800" dirty="0">
                <a:solidFill>
                  <a:srgbClr val="000000"/>
                </a:solidFill>
                <a:latin typeface="Times New Roman" panose="02020603050405020304" pitchFamily="18" charset="0"/>
              </a:rPr>
              <a:t>. </a:t>
            </a:r>
          </a:p>
          <a:p>
            <a:endParaRPr lang="en-US" sz="1800" dirty="0">
              <a:solidFill>
                <a:srgbClr val="000000"/>
              </a:solidFill>
              <a:latin typeface="Times New Roman" panose="02020603050405020304" pitchFamily="18" charset="0"/>
            </a:endParaRPr>
          </a:p>
          <a:p>
            <a:endParaRPr lang="en-US" sz="1800" dirty="0">
              <a:solidFill>
                <a:srgbClr val="000000"/>
              </a:solidFill>
              <a:latin typeface="Times New Roman" panose="02020603050405020304" pitchFamily="18" charset="0"/>
            </a:endParaRPr>
          </a:p>
          <a:p>
            <a:endParaRPr lang="en-US" dirty="0"/>
          </a:p>
        </p:txBody>
      </p:sp>
      <p:sp>
        <p:nvSpPr>
          <p:cNvPr id="4" name="Slide Number Placeholder 3">
            <a:extLst>
              <a:ext uri="{FF2B5EF4-FFF2-40B4-BE49-F238E27FC236}">
                <a16:creationId xmlns:a16="http://schemas.microsoft.com/office/drawing/2014/main" id="{874865C2-BF25-6030-3F39-CD518B0D06B9}"/>
              </a:ext>
            </a:extLst>
          </p:cNvPr>
          <p:cNvSpPr>
            <a:spLocks noGrp="1"/>
          </p:cNvSpPr>
          <p:nvPr>
            <p:ph type="sldNum" sz="quarter" idx="12"/>
          </p:nvPr>
        </p:nvSpPr>
        <p:spPr/>
        <p:txBody>
          <a:bodyPr/>
          <a:lstStyle/>
          <a:p>
            <a:fld id="{AD40181A-01B0-4CB8-8614-1473649F6741}" type="slidenum">
              <a:rPr lang="en-US" smtClean="0">
                <a:solidFill>
                  <a:schemeClr val="bg1"/>
                </a:solidFill>
              </a:rPr>
              <a:t>8</a:t>
            </a:fld>
            <a:endParaRPr lang="en-US" dirty="0">
              <a:solidFill>
                <a:schemeClr val="bg1"/>
              </a:solidFill>
            </a:endParaRPr>
          </a:p>
        </p:txBody>
      </p:sp>
    </p:spTree>
    <p:extLst>
      <p:ext uri="{BB962C8B-B14F-4D97-AF65-F5344CB8AC3E}">
        <p14:creationId xmlns:p14="http://schemas.microsoft.com/office/powerpoint/2010/main" val="5794083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AD40181A-01B0-4CB8-8614-1473649F6741}" type="slidenum">
              <a:rPr lang="en-US" smtClean="0">
                <a:solidFill>
                  <a:srgbClr val="FFFFFE"/>
                </a:solidFill>
              </a:rPr>
              <a:t>9</a:t>
            </a:fld>
            <a:endParaRPr lang="en-US" dirty="0">
              <a:solidFill>
                <a:srgbClr val="FFFFFE"/>
              </a:solidFill>
            </a:endParaRPr>
          </a:p>
        </p:txBody>
      </p:sp>
      <p:sp>
        <p:nvSpPr>
          <p:cNvPr id="3" name="Title 2"/>
          <p:cNvSpPr>
            <a:spLocks noGrp="1"/>
          </p:cNvSpPr>
          <p:nvPr>
            <p:ph type="title"/>
          </p:nvPr>
        </p:nvSpPr>
        <p:spPr>
          <a:xfrm>
            <a:off x="0" y="-294409"/>
            <a:ext cx="11660242" cy="1272422"/>
          </a:xfrm>
        </p:spPr>
        <p:txBody>
          <a:bodyPr/>
          <a:lstStyle/>
          <a:p>
            <a:r>
              <a:rPr lang="en-US" dirty="0"/>
              <a:t>CANTOS : Tumor identification phase</a:t>
            </a:r>
          </a:p>
        </p:txBody>
      </p:sp>
      <p:pic>
        <p:nvPicPr>
          <p:cNvPr id="4" name="Content Placeholder 8" descr="A blue and black logo&#10;&#10;Description automatically generated">
            <a:extLst>
              <a:ext uri="{FF2B5EF4-FFF2-40B4-BE49-F238E27FC236}">
                <a16:creationId xmlns:a16="http://schemas.microsoft.com/office/drawing/2014/main" id="{19C3A9C1-93F1-99D1-8570-48F0B1D01BD1}"/>
              </a:ext>
            </a:extLst>
          </p:cNvPr>
          <p:cNvPicPr>
            <a:picLocks noChangeAspect="1"/>
          </p:cNvPicPr>
          <p:nvPr/>
        </p:nvPicPr>
        <p:blipFill>
          <a:blip r:embed="rId2"/>
          <a:stretch>
            <a:fillRect/>
          </a:stretch>
        </p:blipFill>
        <p:spPr>
          <a:xfrm>
            <a:off x="307654" y="2337770"/>
            <a:ext cx="1782457" cy="1433858"/>
          </a:xfrm>
          <a:prstGeom prst="rect">
            <a:avLst/>
          </a:prstGeom>
        </p:spPr>
      </p:pic>
      <p:pic>
        <p:nvPicPr>
          <p:cNvPr id="5" name="Graphic 4" descr="Document outline">
            <a:extLst>
              <a:ext uri="{FF2B5EF4-FFF2-40B4-BE49-F238E27FC236}">
                <a16:creationId xmlns:a16="http://schemas.microsoft.com/office/drawing/2014/main" id="{35DFDB22-5FF4-65DD-75A8-BA8476C1E7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61564" y="2241763"/>
            <a:ext cx="1122081" cy="1122081"/>
          </a:xfrm>
          <a:prstGeom prst="rect">
            <a:avLst/>
          </a:prstGeom>
        </p:spPr>
      </p:pic>
      <p:sp>
        <p:nvSpPr>
          <p:cNvPr id="7" name="TextBox 6">
            <a:extLst>
              <a:ext uri="{FF2B5EF4-FFF2-40B4-BE49-F238E27FC236}">
                <a16:creationId xmlns:a16="http://schemas.microsoft.com/office/drawing/2014/main" id="{679CA8DB-EE78-BB29-19B5-1FAA56F5D1ED}"/>
              </a:ext>
            </a:extLst>
          </p:cNvPr>
          <p:cNvSpPr txBox="1"/>
          <p:nvPr/>
        </p:nvSpPr>
        <p:spPr>
          <a:xfrm>
            <a:off x="3238585" y="3316516"/>
            <a:ext cx="1598515" cy="369332"/>
          </a:xfrm>
          <a:prstGeom prst="rect">
            <a:avLst/>
          </a:prstGeom>
          <a:noFill/>
        </p:spPr>
        <p:txBody>
          <a:bodyPr wrap="none" rtlCol="0">
            <a:spAutoFit/>
          </a:bodyPr>
          <a:lstStyle/>
          <a:p>
            <a:r>
              <a:rPr lang="en-US" dirty="0" err="1">
                <a:solidFill>
                  <a:schemeClr val="bg2">
                    <a:lumMod val="50000"/>
                  </a:schemeClr>
                </a:solidFill>
              </a:rPr>
              <a:t>conditions.txt</a:t>
            </a:r>
            <a:endParaRPr lang="en-US" dirty="0">
              <a:solidFill>
                <a:schemeClr val="bg2">
                  <a:lumMod val="50000"/>
                </a:schemeClr>
              </a:solidFill>
            </a:endParaRPr>
          </a:p>
        </p:txBody>
      </p:sp>
      <p:sp>
        <p:nvSpPr>
          <p:cNvPr id="8" name="Right Arrow 7">
            <a:extLst>
              <a:ext uri="{FF2B5EF4-FFF2-40B4-BE49-F238E27FC236}">
                <a16:creationId xmlns:a16="http://schemas.microsoft.com/office/drawing/2014/main" id="{9F1004FD-3068-A67A-3EC2-49B333972427}"/>
              </a:ext>
            </a:extLst>
          </p:cNvPr>
          <p:cNvSpPr/>
          <p:nvPr/>
        </p:nvSpPr>
        <p:spPr>
          <a:xfrm>
            <a:off x="2213090" y="2642314"/>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8D1C32A-F598-2AFF-5354-C13FA1267869}"/>
              </a:ext>
            </a:extLst>
          </p:cNvPr>
          <p:cNvSpPr/>
          <p:nvPr/>
        </p:nvSpPr>
        <p:spPr>
          <a:xfrm>
            <a:off x="5605054" y="2455978"/>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Fuzzy String Match</a:t>
            </a:r>
          </a:p>
        </p:txBody>
      </p:sp>
      <p:pic>
        <p:nvPicPr>
          <p:cNvPr id="13" name="Graphic 12" descr="Database outline">
            <a:extLst>
              <a:ext uri="{FF2B5EF4-FFF2-40B4-BE49-F238E27FC236}">
                <a16:creationId xmlns:a16="http://schemas.microsoft.com/office/drawing/2014/main" id="{CA8A991E-041C-F9B3-E255-517A56F3176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23666" y="3972217"/>
            <a:ext cx="1244416" cy="1244416"/>
          </a:xfrm>
          <a:prstGeom prst="rect">
            <a:avLst/>
          </a:prstGeom>
        </p:spPr>
      </p:pic>
      <p:pic>
        <p:nvPicPr>
          <p:cNvPr id="14" name="Graphic 13" descr="Database outline">
            <a:extLst>
              <a:ext uri="{FF2B5EF4-FFF2-40B4-BE49-F238E27FC236}">
                <a16:creationId xmlns:a16="http://schemas.microsoft.com/office/drawing/2014/main" id="{301F0597-96AD-7EFF-38C3-B4AFFAB602E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125211" y="862584"/>
            <a:ext cx="1244416" cy="1244416"/>
          </a:xfrm>
          <a:prstGeom prst="rect">
            <a:avLst/>
          </a:prstGeom>
        </p:spPr>
      </p:pic>
      <p:sp>
        <p:nvSpPr>
          <p:cNvPr id="16" name="TextBox 15">
            <a:extLst>
              <a:ext uri="{FF2B5EF4-FFF2-40B4-BE49-F238E27FC236}">
                <a16:creationId xmlns:a16="http://schemas.microsoft.com/office/drawing/2014/main" id="{0DB0385E-F451-CD90-1DAF-EBD6E13D3162}"/>
              </a:ext>
            </a:extLst>
          </p:cNvPr>
          <p:cNvSpPr txBox="1"/>
          <p:nvPr/>
        </p:nvSpPr>
        <p:spPr>
          <a:xfrm>
            <a:off x="5258608" y="5094863"/>
            <a:ext cx="4034478" cy="369332"/>
          </a:xfrm>
          <a:prstGeom prst="rect">
            <a:avLst/>
          </a:prstGeom>
          <a:noFill/>
        </p:spPr>
        <p:txBody>
          <a:bodyPr wrap="square" rtlCol="0">
            <a:spAutoFit/>
          </a:bodyPr>
          <a:lstStyle/>
          <a:p>
            <a:r>
              <a:rPr lang="en-US" dirty="0">
                <a:solidFill>
                  <a:schemeClr val="bg2">
                    <a:lumMod val="50000"/>
                  </a:schemeClr>
                </a:solidFill>
              </a:rPr>
              <a:t>WHO Tumor Classification System</a:t>
            </a:r>
          </a:p>
        </p:txBody>
      </p:sp>
      <p:sp>
        <p:nvSpPr>
          <p:cNvPr id="17" name="TextBox 16">
            <a:extLst>
              <a:ext uri="{FF2B5EF4-FFF2-40B4-BE49-F238E27FC236}">
                <a16:creationId xmlns:a16="http://schemas.microsoft.com/office/drawing/2014/main" id="{A8E0CCAA-3593-6500-6D5D-A0A1FB7B2BCD}"/>
              </a:ext>
            </a:extLst>
          </p:cNvPr>
          <p:cNvSpPr txBox="1"/>
          <p:nvPr/>
        </p:nvSpPr>
        <p:spPr>
          <a:xfrm>
            <a:off x="5830121" y="616009"/>
            <a:ext cx="2031506" cy="369332"/>
          </a:xfrm>
          <a:prstGeom prst="rect">
            <a:avLst/>
          </a:prstGeom>
          <a:noFill/>
        </p:spPr>
        <p:txBody>
          <a:bodyPr wrap="square" rtlCol="0">
            <a:spAutoFit/>
          </a:bodyPr>
          <a:lstStyle/>
          <a:p>
            <a:r>
              <a:rPr lang="en-US" dirty="0">
                <a:solidFill>
                  <a:schemeClr val="bg2">
                    <a:lumMod val="50000"/>
                  </a:schemeClr>
                </a:solidFill>
              </a:rPr>
              <a:t>Tumor key words</a:t>
            </a:r>
          </a:p>
        </p:txBody>
      </p:sp>
      <p:sp>
        <p:nvSpPr>
          <p:cNvPr id="18" name="Right Arrow 17">
            <a:extLst>
              <a:ext uri="{FF2B5EF4-FFF2-40B4-BE49-F238E27FC236}">
                <a16:creationId xmlns:a16="http://schemas.microsoft.com/office/drawing/2014/main" id="{2B39A889-FCA5-B400-E8D3-B49F754BEE2E}"/>
              </a:ext>
            </a:extLst>
          </p:cNvPr>
          <p:cNvSpPr/>
          <p:nvPr/>
        </p:nvSpPr>
        <p:spPr>
          <a:xfrm>
            <a:off x="4385513" y="2616592"/>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own Arrow 18">
            <a:extLst>
              <a:ext uri="{FF2B5EF4-FFF2-40B4-BE49-F238E27FC236}">
                <a16:creationId xmlns:a16="http://schemas.microsoft.com/office/drawing/2014/main" id="{9B216ECB-C5A2-8803-328E-44CE7D138A72}"/>
              </a:ext>
            </a:extLst>
          </p:cNvPr>
          <p:cNvSpPr/>
          <p:nvPr/>
        </p:nvSpPr>
        <p:spPr>
          <a:xfrm>
            <a:off x="6595019" y="2023084"/>
            <a:ext cx="304800" cy="3693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Up Arrow 19">
            <a:extLst>
              <a:ext uri="{FF2B5EF4-FFF2-40B4-BE49-F238E27FC236}">
                <a16:creationId xmlns:a16="http://schemas.microsoft.com/office/drawing/2014/main" id="{73310A80-86DB-204B-8D96-19402D444123}"/>
              </a:ext>
            </a:extLst>
          </p:cNvPr>
          <p:cNvSpPr/>
          <p:nvPr/>
        </p:nvSpPr>
        <p:spPr>
          <a:xfrm>
            <a:off x="6589500" y="3443485"/>
            <a:ext cx="512747" cy="562340"/>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D44FC835-E36F-AA70-EB8A-A508E553CA79}"/>
              </a:ext>
            </a:extLst>
          </p:cNvPr>
          <p:cNvSpPr/>
          <p:nvPr/>
        </p:nvSpPr>
        <p:spPr>
          <a:xfrm>
            <a:off x="9158480" y="2383892"/>
            <a:ext cx="2284729" cy="9300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Flag tumor and manually validate</a:t>
            </a:r>
          </a:p>
        </p:txBody>
      </p:sp>
      <p:sp>
        <p:nvSpPr>
          <p:cNvPr id="22" name="Right Arrow 21">
            <a:extLst>
              <a:ext uri="{FF2B5EF4-FFF2-40B4-BE49-F238E27FC236}">
                <a16:creationId xmlns:a16="http://schemas.microsoft.com/office/drawing/2014/main" id="{3F4E4C5A-9D0E-A829-80F2-9E0BA92A71AB}"/>
              </a:ext>
            </a:extLst>
          </p:cNvPr>
          <p:cNvSpPr/>
          <p:nvPr/>
        </p:nvSpPr>
        <p:spPr>
          <a:xfrm>
            <a:off x="7996271" y="2616591"/>
            <a:ext cx="1025495" cy="52983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1473658"/>
      </p:ext>
    </p:extLst>
  </p:cSld>
  <p:clrMapOvr>
    <a:masterClrMapping/>
  </p:clrMapOvr>
</p:sld>
</file>

<file path=ppt/theme/theme1.xml><?xml version="1.0" encoding="utf-8"?>
<a:theme xmlns:a="http://schemas.openxmlformats.org/drawingml/2006/main" name="RIS_LabArchives_Template">
  <a:themeElements>
    <a:clrScheme name="CHOP Custom">
      <a:dk1>
        <a:srgbClr val="D11960"/>
      </a:dk1>
      <a:lt1>
        <a:srgbClr val="FFFFFE"/>
      </a:lt1>
      <a:dk2>
        <a:srgbClr val="FFFFFE"/>
      </a:dk2>
      <a:lt2>
        <a:srgbClr val="584B3D"/>
      </a:lt2>
      <a:accent1>
        <a:srgbClr val="3E9CC9"/>
      </a:accent1>
      <a:accent2>
        <a:srgbClr val="D11960"/>
      </a:accent2>
      <a:accent3>
        <a:srgbClr val="5C8D29"/>
      </a:accent3>
      <a:accent4>
        <a:srgbClr val="97C5DF"/>
      </a:accent4>
      <a:accent5>
        <a:srgbClr val="E5849B"/>
      </a:accent5>
      <a:accent6>
        <a:srgbClr val="9FBE7E"/>
      </a:accent6>
      <a:hlink>
        <a:srgbClr val="0000FF"/>
      </a:hlink>
      <a:folHlink>
        <a:srgbClr val="800080"/>
      </a:folHlink>
    </a:clrScheme>
    <a:fontScheme name="Custom 1">
      <a:majorFont>
        <a:latin typeface="Arial"/>
        <a:ea typeface=""/>
        <a:cs typeface=""/>
      </a:majorFont>
      <a:minorFont>
        <a:latin typeface="Georgia"/>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novationeco" id="{994BA8A9-91A8-8D4A-A9A8-8E8B7A3944AB}" vid="{60D1369B-A32A-9840-9929-4F474B34A6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h6a4a4262ab844b18de92e197378cee0 xmlns="e96402cb-0a6e-49e7-8465-cfae72b5129c">
      <Terms xmlns="http://schemas.microsoft.com/office/infopath/2007/PartnerControls"/>
    </h6a4a4262ab844b18de92e197378cee0>
    <o54b1e4c7e8f4e00a12ce46439e0e974 xmlns="e96402cb-0a6e-49e7-8465-cfae72b5129c">
      <Terms xmlns="http://schemas.microsoft.com/office/infopath/2007/PartnerControls"/>
    </o54b1e4c7e8f4e00a12ce46439e0e974>
    <Category xmlns="34d7e926-6bad-4161-b251-cfc43f69ae87">Templates</Category>
    <TaxKeywordTaxHTField xmlns="fcde5e04-944e-4dfc-be86-0a9ace870ff9">
      <Terms xmlns="http://schemas.microsoft.com/office/infopath/2007/PartnerControls"/>
    </TaxKeywordTaxHTField>
    <IconOverlay xmlns="http://schemas.microsoft.com/sharepoint/v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F3D347118B88A4EA8E9A5FEBC94FD86" ma:contentTypeVersion="8" ma:contentTypeDescription="Create a new document." ma:contentTypeScope="" ma:versionID="e54af44cc39137a71e496aa5089235ef">
  <xsd:schema xmlns:xsd="http://www.w3.org/2001/XMLSchema" xmlns:xs="http://www.w3.org/2001/XMLSchema" xmlns:p="http://schemas.microsoft.com/office/2006/metadata/properties" xmlns:ns2="fcde5e04-944e-4dfc-be86-0a9ace870ff9" xmlns:ns3="e96402cb-0a6e-49e7-8465-cfae72b5129c" xmlns:ns4="34d7e926-6bad-4161-b251-cfc43f69ae87" xmlns:ns5="http://schemas.microsoft.com/sharepoint/v4" targetNamespace="http://schemas.microsoft.com/office/2006/metadata/properties" ma:root="true" ma:fieldsID="4dfd49e6986a0fb6e4e84e6606b80ac7" ns2:_="" ns3:_="" ns4:_="" ns5:_="">
    <xsd:import namespace="fcde5e04-944e-4dfc-be86-0a9ace870ff9"/>
    <xsd:import namespace="e96402cb-0a6e-49e7-8465-cfae72b5129c"/>
    <xsd:import namespace="34d7e926-6bad-4161-b251-cfc43f69ae87"/>
    <xsd:import namespace="http://schemas.microsoft.com/sharepoint/v4"/>
    <xsd:element name="properties">
      <xsd:complexType>
        <xsd:sequence>
          <xsd:element name="documentManagement">
            <xsd:complexType>
              <xsd:all>
                <xsd:element ref="ns2:TaxKeywordTaxHTField" minOccurs="0"/>
                <xsd:element ref="ns3:o54b1e4c7e8f4e00a12ce46439e0e974" minOccurs="0"/>
                <xsd:element ref="ns3:h6a4a4262ab844b18de92e197378cee0" minOccurs="0"/>
                <xsd:element ref="ns4:Category" minOccurs="0"/>
                <xsd:element ref="ns5:IconOverla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cde5e04-944e-4dfc-be86-0a9ace870ff9" elementFormDefault="qualified">
    <xsd:import namespace="http://schemas.microsoft.com/office/2006/documentManagement/types"/>
    <xsd:import namespace="http://schemas.microsoft.com/office/infopath/2007/PartnerControls"/>
    <xsd:element name="TaxKeywordTaxHTField" ma:index="9" nillable="true" ma:taxonomy="true" ma:internalName="TaxKeywordTaxHTField" ma:taxonomyFieldName="TaxKeyword" ma:displayName="Enterprise Keywords" ma:fieldId="{23f27201-bee3-471e-b2e7-b64fd8b7ca38}" ma:taxonomyMulti="true" ma:sspId="096f6f6b-f55a-454e-8dbb-24a06af11355" ma:termSetId="00000000-0000-0000-0000-000000000000" ma:anchorId="00000000-0000-0000-0000-000000000000" ma:open="true" ma:isKeyword="tru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e96402cb-0a6e-49e7-8465-cfae72b5129c" elementFormDefault="qualified">
    <xsd:import namespace="http://schemas.microsoft.com/office/2006/documentManagement/types"/>
    <xsd:import namespace="http://schemas.microsoft.com/office/infopath/2007/PartnerControls"/>
    <xsd:element name="o54b1e4c7e8f4e00a12ce46439e0e974" ma:index="11" nillable="true" ma:taxonomy="true" ma:internalName="o54b1e4c7e8f4e00a12ce46439e0e974" ma:taxonomyFieldName="KnowledgeBaseMetadata" ma:displayName="Knowledge Base Tags" ma:fieldId="{854b1e4c-7e8f-4e00-a12c-e46439e0e974}" ma:taxonomyMulti="true" ma:sspId="096f6f6b-f55a-454e-8dbb-24a06af11355" ma:termSetId="0fa4fcc5-20ed-47ab-b5c6-c9c312be74d0" ma:anchorId="00000000-0000-0000-0000-000000000000" ma:open="false" ma:isKeyword="false">
      <xsd:complexType>
        <xsd:sequence>
          <xsd:element ref="pc:Terms" minOccurs="0" maxOccurs="1"/>
        </xsd:sequence>
      </xsd:complexType>
    </xsd:element>
    <xsd:element name="h6a4a4262ab844b18de92e197378cee0" ma:index="13" nillable="true" ma:taxonomy="true" ma:internalName="h6a4a4262ab844b18de92e197378cee0" ma:taxonomyFieldName="KBPoliciesAndProcedures" ma:displayName="Knowledge Base Policies and Procedures" ma:fieldId="{16a4a426-2ab8-44b1-8de9-2e197378cee0}" ma:taxonomyMulti="true" ma:sspId="096f6f6b-f55a-454e-8dbb-24a06af11355" ma:termSetId="bf388315-c5fb-4b9c-b70e-1e19d0e0d3b2"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34d7e926-6bad-4161-b251-cfc43f69ae87" elementFormDefault="qualified">
    <xsd:import namespace="http://schemas.microsoft.com/office/2006/documentManagement/types"/>
    <xsd:import namespace="http://schemas.microsoft.com/office/infopath/2007/PartnerControls"/>
    <xsd:element name="Category" ma:index="14" nillable="true" ma:displayName="Category" ma:format="Dropdown" ma:internalName="Category">
      <xsd:simpleType>
        <xsd:restriction base="dms:Choice">
          <xsd:enumeration value="Guidelines"/>
          <xsd:enumeration value="Templates"/>
          <xsd:enumeration value="AAG"/>
        </xsd:restrictio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E78B9CA-BC85-4AC4-82A4-AD53C20980F5}">
  <ds:schemaRefs>
    <ds:schemaRef ds:uri="http://schemas.microsoft.com/sharepoint/v3/contenttype/forms"/>
  </ds:schemaRefs>
</ds:datastoreItem>
</file>

<file path=customXml/itemProps2.xml><?xml version="1.0" encoding="utf-8"?>
<ds:datastoreItem xmlns:ds="http://schemas.openxmlformats.org/officeDocument/2006/customXml" ds:itemID="{7C493EF0-0BE4-4E84-A0BC-FF9879CDB9E8}">
  <ds:schemaRefs>
    <ds:schemaRef ds:uri="http://schemas.microsoft.com/office/2006/metadata/properties"/>
    <ds:schemaRef ds:uri="http://schemas.microsoft.com/office/infopath/2007/PartnerControls"/>
    <ds:schemaRef ds:uri="e96402cb-0a6e-49e7-8465-cfae72b5129c"/>
    <ds:schemaRef ds:uri="34d7e926-6bad-4161-b251-cfc43f69ae87"/>
    <ds:schemaRef ds:uri="fcde5e04-944e-4dfc-be86-0a9ace870ff9"/>
    <ds:schemaRef ds:uri="http://schemas.microsoft.com/sharepoint/v4"/>
  </ds:schemaRefs>
</ds:datastoreItem>
</file>

<file path=customXml/itemProps3.xml><?xml version="1.0" encoding="utf-8"?>
<ds:datastoreItem xmlns:ds="http://schemas.openxmlformats.org/officeDocument/2006/customXml" ds:itemID="{1BBAC596-346B-4E59-839B-DB15DC7AE2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cde5e04-944e-4dfc-be86-0a9ace870ff9"/>
    <ds:schemaRef ds:uri="e96402cb-0a6e-49e7-8465-cfae72b5129c"/>
    <ds:schemaRef ds:uri="34d7e926-6bad-4161-b251-cfc43f69ae87"/>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940</TotalTime>
  <Words>452</Words>
  <Application>Microsoft Macintosh PowerPoint</Application>
  <PresentationFormat>Widescreen</PresentationFormat>
  <Paragraphs>68</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Chronicle Text G1 Roman</vt:lpstr>
      <vt:lpstr>Georgia</vt:lpstr>
      <vt:lpstr>Rubrik-SemiBold</vt:lpstr>
      <vt:lpstr>Times New Roman</vt:lpstr>
      <vt:lpstr>RIS_LabArchives_Template</vt:lpstr>
      <vt:lpstr>CANTOS: Automated Tumor Name Standardization in the NIH Clinical Trials Registry Using the CANTOS Pipeline</vt:lpstr>
      <vt:lpstr>Background  </vt:lpstr>
      <vt:lpstr>Background  </vt:lpstr>
      <vt:lpstr>Background  </vt:lpstr>
      <vt:lpstr>Background  </vt:lpstr>
      <vt:lpstr>Background  </vt:lpstr>
      <vt:lpstr>Unstandardized tumor names</vt:lpstr>
      <vt:lpstr>Tumor Name Standardization  </vt:lpstr>
      <vt:lpstr>CANTOS : Tumor identification phase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keywords/>
  <cp:lastModifiedBy>Lahiri, Aditya</cp:lastModifiedBy>
  <cp:revision>12</cp:revision>
  <dcterms:created xsi:type="dcterms:W3CDTF">2018-01-25T18:17:50Z</dcterms:created>
  <dcterms:modified xsi:type="dcterms:W3CDTF">2025-04-06T15:21:39Z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0x010100DF3D347118B88A4EA8E9A5FEBC94FD86</vt:lpwstr>
  </property>
  <property fmtid="{D5CDD505-2E9C-101B-9397-08002B2CF9AE}" pid="3" name="KBPoliciesAndProcedures">
    <vt:lpwstr/>
  </property>
  <property fmtid="{D5CDD505-2E9C-101B-9397-08002B2CF9AE}" pid="4" name="TaxKeyword">
    <vt:lpwstr/>
  </property>
  <property fmtid="{D5CDD505-2E9C-101B-9397-08002B2CF9AE}" pid="5" name="KnowledgeBaseMetadata">
    <vt:lpwstr/>
  </property>
  <property fmtid="{D5CDD505-2E9C-101B-9397-08002B2CF9AE}" pid="6" name="TaxCatchAll">
    <vt:lpwstr/>
  </property>
</Properties>
</file>
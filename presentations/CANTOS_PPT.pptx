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3"/>
  </p:notesMasterIdLst>
  <p:sldIdLst>
    <p:sldId id="256" r:id="rId5"/>
    <p:sldId id="257" r:id="rId6"/>
    <p:sldId id="260" r:id="rId7"/>
    <p:sldId id="261" r:id="rId8"/>
    <p:sldId id="262" r:id="rId9"/>
    <p:sldId id="263" r:id="rId10"/>
    <p:sldId id="259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1960"/>
    <a:srgbClr val="584B3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39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08" y="-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374326-AD78-4E67-8599-BA8A5604D89A}" type="datetimeFigureOut">
              <a:rPr lang="en-US" smtClean="0"/>
              <a:t>4/5/25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8EB8B-B78C-4FCA-B737-0D9226F57E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37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199" y="592924"/>
            <a:ext cx="5577591" cy="1207008"/>
          </a:xfrm>
        </p:spPr>
        <p:txBody>
          <a:bodyPr anchor="ctr"/>
          <a:lstStyle>
            <a:lvl1pPr algn="l">
              <a:defRPr sz="3600" b="1" cap="all" baseline="0">
                <a:solidFill>
                  <a:srgbClr val="3E9CC9"/>
                </a:solidFill>
                <a:latin typeface="+mj-lt"/>
              </a:defRPr>
            </a:lvl1pPr>
          </a:lstStyle>
          <a:p>
            <a:r>
              <a:rPr lang="en-US" cap="all" baseline="0" dirty="0"/>
              <a:t>Click to add title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199" y="1994858"/>
            <a:ext cx="5577589" cy="497951"/>
          </a:xfrm>
        </p:spPr>
        <p:txBody>
          <a:bodyPr>
            <a:normAutofit/>
          </a:bodyPr>
          <a:lstStyle>
            <a:lvl1pPr marL="0" indent="0" algn="l">
              <a:buNone/>
              <a:defRPr sz="2800" b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09685" y="6356352"/>
            <a:ext cx="5637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D40181A-01B0-4CB8-8614-1473649F674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764852"/>
            <a:ext cx="5577417" cy="502920"/>
          </a:xfrm>
        </p:spPr>
        <p:txBody>
          <a:bodyPr>
            <a:normAutofit/>
          </a:bodyPr>
          <a:lstStyle>
            <a:lvl1pPr marL="0" indent="0">
              <a:buNone/>
              <a:defRPr sz="2400" b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date</a:t>
            </a:r>
          </a:p>
        </p:txBody>
      </p:sp>
    </p:spTree>
    <p:extLst>
      <p:ext uri="{BB962C8B-B14F-4D97-AF65-F5344CB8AC3E}">
        <p14:creationId xmlns:p14="http://schemas.microsoft.com/office/powerpoint/2010/main" val="2282824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2052" y="320156"/>
            <a:ext cx="11010595" cy="11430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222052" y="1736231"/>
            <a:ext cx="11010595" cy="3895344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25727" y="6356352"/>
            <a:ext cx="547727" cy="365125"/>
          </a:xfrm>
        </p:spPr>
        <p:txBody>
          <a:bodyPr/>
          <a:lstStyle>
            <a:lvl1pPr>
              <a:defRPr>
                <a:solidFill>
                  <a:srgbClr val="FFFFFE"/>
                </a:solidFill>
              </a:defRPr>
            </a:lvl1pPr>
          </a:lstStyle>
          <a:p>
            <a:fld id="{AD40181A-01B0-4CB8-8614-1473649F674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70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325727" y="6356352"/>
            <a:ext cx="548647" cy="365125"/>
          </a:xfrm>
        </p:spPr>
        <p:txBody>
          <a:bodyPr/>
          <a:lstStyle>
            <a:lvl1pPr>
              <a:defRPr>
                <a:solidFill>
                  <a:srgbClr val="FFFFFE"/>
                </a:solidFill>
              </a:defRPr>
            </a:lvl1pPr>
          </a:lstStyle>
          <a:p>
            <a:fld id="{AD40181A-01B0-4CB8-8614-1473649F674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45733" y="1543930"/>
            <a:ext cx="9753600" cy="1444752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1099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3E9CC9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3E9CC9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3"/>
                </a:solidFill>
              </a:defRPr>
            </a:lvl1pPr>
          </a:lstStyle>
          <a:p>
            <a:fld id="{AD40181A-01B0-4CB8-8614-1473649F674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9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 cap="all" baseline="0">
          <a:solidFill>
            <a:srgbClr val="3E9CC9"/>
          </a:solidFill>
          <a:latin typeface="Rubrik-SemiBold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rgbClr val="584B3D"/>
          </a:solidFill>
          <a:latin typeface="Chronicle Text G1 Roman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rgbClr val="584B3D"/>
          </a:solidFill>
          <a:latin typeface="Chronicle Text G1 Roman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rgbClr val="584B3D"/>
          </a:solidFill>
          <a:latin typeface="Chronicle Text G1 Roman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rgbClr val="584B3D"/>
          </a:solidFill>
          <a:latin typeface="Chronicle Text G1 Roman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rgbClr val="584B3D"/>
          </a:solidFill>
          <a:latin typeface="Chronicle Text G1 Roman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0" y="0"/>
            <a:ext cx="7168896" cy="1849990"/>
          </a:xfrm>
        </p:spPr>
        <p:txBody>
          <a:bodyPr/>
          <a:lstStyle/>
          <a:p>
            <a:r>
              <a:rPr lang="en-US" sz="2400" dirty="0"/>
              <a:t>CANTOS: Automated Tumor Name Standardization in the NIH Clinical Trials Registry Using the CANTOS Pipeline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43255" y="1965318"/>
            <a:ext cx="6723889" cy="1016027"/>
          </a:xfrm>
        </p:spPr>
        <p:txBody>
          <a:bodyPr>
            <a:normAutofit/>
          </a:bodyPr>
          <a:lstStyle/>
          <a:p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Aditya Lahiri, Sangeeta Shukla, Ben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Stear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Taha Mohseni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Ahooyi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Katherine Beigel, Elizabeth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Margolskee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Deanne Taylor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/>
              <a:t>1</a:t>
            </a:fld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47758" y="1780652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87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984" y="-12879"/>
            <a:ext cx="10651402" cy="1143000"/>
          </a:xfrm>
        </p:spPr>
        <p:txBody>
          <a:bodyPr/>
          <a:lstStyle/>
          <a:p>
            <a:r>
              <a:rPr lang="en-US" dirty="0"/>
              <a:t>Background	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2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blue and black logo&#10;&#10;Description automatically generated">
            <a:extLst>
              <a:ext uri="{FF2B5EF4-FFF2-40B4-BE49-F238E27FC236}">
                <a16:creationId xmlns:a16="http://schemas.microsoft.com/office/drawing/2014/main" id="{AA18857C-B046-09F1-9416-720821612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39" y="48364021"/>
            <a:ext cx="3640413" cy="2928450"/>
          </a:xfrm>
          <a:prstGeom prst="rect">
            <a:avLst/>
          </a:prstGeom>
        </p:spPr>
      </p:pic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3007CFA9-434F-8970-63DB-3BEDE6850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39" y="48516421"/>
            <a:ext cx="3640413" cy="2928450"/>
          </a:xfrm>
          <a:prstGeom prst="rect">
            <a:avLst/>
          </a:prstGeom>
        </p:spPr>
      </p:pic>
      <p:pic>
        <p:nvPicPr>
          <p:cNvPr id="9" name="Content Placeholder 8" descr="A blue and black logo&#10;&#10;Description automatically generated">
            <a:extLst>
              <a:ext uri="{FF2B5EF4-FFF2-40B4-BE49-F238E27FC236}">
                <a16:creationId xmlns:a16="http://schemas.microsoft.com/office/drawing/2014/main" id="{2F43AB81-9950-65C5-AE75-3C6ED7B101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439" y="1517867"/>
            <a:ext cx="1782457" cy="143385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B92896-E57F-5C6E-81D3-86816D039FB4}"/>
              </a:ext>
            </a:extLst>
          </p:cNvPr>
          <p:cNvSpPr/>
          <p:nvPr/>
        </p:nvSpPr>
        <p:spPr>
          <a:xfrm>
            <a:off x="3743847" y="1596510"/>
            <a:ext cx="2123552" cy="105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Approx 500k studies, all 50 US states and 223 countries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379600C1-4BE1-99D6-DA05-2F684F20672C}"/>
              </a:ext>
            </a:extLst>
          </p:cNvPr>
          <p:cNvSpPr/>
          <p:nvPr/>
        </p:nvSpPr>
        <p:spPr>
          <a:xfrm>
            <a:off x="2524124" y="1825019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28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2652D-5529-680B-A167-1C44C4A42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10EA6-7D6C-7E19-1CD8-E54A6787B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84" y="-12879"/>
            <a:ext cx="10651402" cy="1143000"/>
          </a:xfrm>
        </p:spPr>
        <p:txBody>
          <a:bodyPr/>
          <a:lstStyle/>
          <a:p>
            <a:r>
              <a:rPr lang="en-US" dirty="0"/>
              <a:t>Background	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3F883-275D-4544-F0B9-E35E9067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3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blue and black logo&#10;&#10;Description automatically generated">
            <a:extLst>
              <a:ext uri="{FF2B5EF4-FFF2-40B4-BE49-F238E27FC236}">
                <a16:creationId xmlns:a16="http://schemas.microsoft.com/office/drawing/2014/main" id="{40DC8898-86B4-57BF-1948-1FEE81AD7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39" y="48364021"/>
            <a:ext cx="3640413" cy="2928450"/>
          </a:xfrm>
          <a:prstGeom prst="rect">
            <a:avLst/>
          </a:prstGeom>
        </p:spPr>
      </p:pic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DDAC97F1-143B-0FFF-28AB-F39804DA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39" y="48516421"/>
            <a:ext cx="3640413" cy="2928450"/>
          </a:xfrm>
          <a:prstGeom prst="rect">
            <a:avLst/>
          </a:prstGeom>
        </p:spPr>
      </p:pic>
      <p:pic>
        <p:nvPicPr>
          <p:cNvPr id="9" name="Content Placeholder 8" descr="A blue and black logo&#10;&#10;Description automatically generated">
            <a:extLst>
              <a:ext uri="{FF2B5EF4-FFF2-40B4-BE49-F238E27FC236}">
                <a16:creationId xmlns:a16="http://schemas.microsoft.com/office/drawing/2014/main" id="{8A1724EC-1264-943A-5FE8-A03AEF1945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439" y="1517867"/>
            <a:ext cx="1782457" cy="143385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656638-5CDC-27E2-7B42-F66CAD1B7302}"/>
              </a:ext>
            </a:extLst>
          </p:cNvPr>
          <p:cNvSpPr/>
          <p:nvPr/>
        </p:nvSpPr>
        <p:spPr>
          <a:xfrm>
            <a:off x="7322604" y="1596510"/>
            <a:ext cx="2345271" cy="1001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Drug-Disease Relationships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52BA12-BCB8-162A-9F27-466BC0C5BD57}"/>
              </a:ext>
            </a:extLst>
          </p:cNvPr>
          <p:cNvSpPr/>
          <p:nvPr/>
        </p:nvSpPr>
        <p:spPr>
          <a:xfrm>
            <a:off x="3743847" y="1596510"/>
            <a:ext cx="2123552" cy="105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Approx 500k studies, all 50 US states and 223 countries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77111A2-86D6-BD1C-0EA3-959DC8F720B8}"/>
              </a:ext>
            </a:extLst>
          </p:cNvPr>
          <p:cNvSpPr/>
          <p:nvPr/>
        </p:nvSpPr>
        <p:spPr>
          <a:xfrm>
            <a:off x="6061627" y="1857673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2D5791DC-CF64-996C-DD47-DC43E8C1C89B}"/>
              </a:ext>
            </a:extLst>
          </p:cNvPr>
          <p:cNvSpPr/>
          <p:nvPr/>
        </p:nvSpPr>
        <p:spPr>
          <a:xfrm>
            <a:off x="2524124" y="1825019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82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9C0FB-6016-6F0F-EB3E-4B438E475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C9B35-B9B8-FB5A-B6AC-AFE889852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84" y="-12879"/>
            <a:ext cx="10651402" cy="1143000"/>
          </a:xfrm>
        </p:spPr>
        <p:txBody>
          <a:bodyPr/>
          <a:lstStyle/>
          <a:p>
            <a:r>
              <a:rPr lang="en-US" dirty="0"/>
              <a:t>Background	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9177F-49C3-DF0A-09BB-F7255201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blue and black logo&#10;&#10;Description automatically generated">
            <a:extLst>
              <a:ext uri="{FF2B5EF4-FFF2-40B4-BE49-F238E27FC236}">
                <a16:creationId xmlns:a16="http://schemas.microsoft.com/office/drawing/2014/main" id="{A47F5C01-DA34-79F5-CB9E-3E6DCCF42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39" y="48364021"/>
            <a:ext cx="3640413" cy="2928450"/>
          </a:xfrm>
          <a:prstGeom prst="rect">
            <a:avLst/>
          </a:prstGeom>
        </p:spPr>
      </p:pic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7C17AAD4-0BBC-7EDF-DCDB-CC6D21F94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39" y="48516421"/>
            <a:ext cx="3640413" cy="2928450"/>
          </a:xfrm>
          <a:prstGeom prst="rect">
            <a:avLst/>
          </a:prstGeom>
        </p:spPr>
      </p:pic>
      <p:pic>
        <p:nvPicPr>
          <p:cNvPr id="9" name="Content Placeholder 8" descr="A blue and black logo&#10;&#10;Description automatically generated">
            <a:extLst>
              <a:ext uri="{FF2B5EF4-FFF2-40B4-BE49-F238E27FC236}">
                <a16:creationId xmlns:a16="http://schemas.microsoft.com/office/drawing/2014/main" id="{C9DB618C-07FF-8DC4-E3CC-A2420C3DA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439" y="1517867"/>
            <a:ext cx="1782457" cy="143385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C3833CC-00C9-7E9A-51E4-59643EE30BFD}"/>
              </a:ext>
            </a:extLst>
          </p:cNvPr>
          <p:cNvSpPr/>
          <p:nvPr/>
        </p:nvSpPr>
        <p:spPr>
          <a:xfrm>
            <a:off x="7322604" y="1596510"/>
            <a:ext cx="2345271" cy="1001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Drug-Disease Relationships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291399-4D19-928E-060C-7505B313DE27}"/>
              </a:ext>
            </a:extLst>
          </p:cNvPr>
          <p:cNvSpPr/>
          <p:nvPr/>
        </p:nvSpPr>
        <p:spPr>
          <a:xfrm>
            <a:off x="3743847" y="1596510"/>
            <a:ext cx="2123552" cy="105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Approx 500k studies, all 50 US states and 223 countries</a:t>
            </a:r>
          </a:p>
        </p:txBody>
      </p:sp>
      <p:pic>
        <p:nvPicPr>
          <p:cNvPr id="15" name="Graphic 14" descr="Document outline">
            <a:extLst>
              <a:ext uri="{FF2B5EF4-FFF2-40B4-BE49-F238E27FC236}">
                <a16:creationId xmlns:a16="http://schemas.microsoft.com/office/drawing/2014/main" id="{49AE5A82-F779-1D63-60FC-7C2D62B9E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5382" y="3395236"/>
            <a:ext cx="914400" cy="914400"/>
          </a:xfrm>
          <a:prstGeom prst="rect">
            <a:avLst/>
          </a:prstGeom>
        </p:spPr>
      </p:pic>
      <p:pic>
        <p:nvPicPr>
          <p:cNvPr id="16" name="Graphic 15" descr="Document outline">
            <a:extLst>
              <a:ext uri="{FF2B5EF4-FFF2-40B4-BE49-F238E27FC236}">
                <a16:creationId xmlns:a16="http://schemas.microsoft.com/office/drawing/2014/main" id="{9884AF72-6ECF-62D9-ECD6-78F560860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805" y="3377810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AF9611E-21E1-21C7-6536-4B9F85B47D3E}"/>
              </a:ext>
            </a:extLst>
          </p:cNvPr>
          <p:cNvSpPr txBox="1"/>
          <p:nvPr/>
        </p:nvSpPr>
        <p:spPr>
          <a:xfrm>
            <a:off x="9175805" y="4343715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conditions.txt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E8C055-881B-3E4A-A5AF-623B32C8416A}"/>
              </a:ext>
            </a:extLst>
          </p:cNvPr>
          <p:cNvSpPr txBox="1"/>
          <p:nvPr/>
        </p:nvSpPr>
        <p:spPr>
          <a:xfrm>
            <a:off x="6777271" y="4343715"/>
            <a:ext cx="188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interventions.txt</a:t>
            </a:r>
            <a:endParaRPr lang="en-US" dirty="0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C615022A-6D21-C710-823C-CCA668F88C7D}"/>
              </a:ext>
            </a:extLst>
          </p:cNvPr>
          <p:cNvSpPr/>
          <p:nvPr/>
        </p:nvSpPr>
        <p:spPr>
          <a:xfrm>
            <a:off x="6061627" y="1857673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5BAFB85F-CC33-935C-1B6B-8492F34F6D40}"/>
              </a:ext>
            </a:extLst>
          </p:cNvPr>
          <p:cNvSpPr/>
          <p:nvPr/>
        </p:nvSpPr>
        <p:spPr>
          <a:xfrm>
            <a:off x="2524124" y="1825019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A06CBE06-71A1-9A82-031E-18DDD8E6CE15}"/>
              </a:ext>
            </a:extLst>
          </p:cNvPr>
          <p:cNvSpPr/>
          <p:nvPr/>
        </p:nvSpPr>
        <p:spPr>
          <a:xfrm>
            <a:off x="7482799" y="2738973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1AF1282B-94D5-EAE4-BD50-6438B9B04157}"/>
              </a:ext>
            </a:extLst>
          </p:cNvPr>
          <p:cNvSpPr/>
          <p:nvPr/>
        </p:nvSpPr>
        <p:spPr>
          <a:xfrm>
            <a:off x="9261176" y="2699570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035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8BF6D-3FB8-90FA-4141-3CD29B447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20A40-AED4-E4A1-01EA-264D8273E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84" y="-12879"/>
            <a:ext cx="10651402" cy="1143000"/>
          </a:xfrm>
        </p:spPr>
        <p:txBody>
          <a:bodyPr/>
          <a:lstStyle/>
          <a:p>
            <a:r>
              <a:rPr lang="en-US" dirty="0"/>
              <a:t>Background	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0B9FA-34FC-82EF-09AE-B01ED831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blue and black logo&#10;&#10;Description automatically generated">
            <a:extLst>
              <a:ext uri="{FF2B5EF4-FFF2-40B4-BE49-F238E27FC236}">
                <a16:creationId xmlns:a16="http://schemas.microsoft.com/office/drawing/2014/main" id="{D63BD362-5AED-C364-624A-40906A8FF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39" y="48364021"/>
            <a:ext cx="3640413" cy="2928450"/>
          </a:xfrm>
          <a:prstGeom prst="rect">
            <a:avLst/>
          </a:prstGeom>
        </p:spPr>
      </p:pic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8497C344-3249-D0DD-C4A2-A8077B66C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39" y="48516421"/>
            <a:ext cx="3640413" cy="2928450"/>
          </a:xfrm>
          <a:prstGeom prst="rect">
            <a:avLst/>
          </a:prstGeom>
        </p:spPr>
      </p:pic>
      <p:pic>
        <p:nvPicPr>
          <p:cNvPr id="9" name="Content Placeholder 8" descr="A blue and black logo&#10;&#10;Description automatically generated">
            <a:extLst>
              <a:ext uri="{FF2B5EF4-FFF2-40B4-BE49-F238E27FC236}">
                <a16:creationId xmlns:a16="http://schemas.microsoft.com/office/drawing/2014/main" id="{C544F9AE-89A5-3A9D-F314-F823395F98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439" y="1517867"/>
            <a:ext cx="1782457" cy="143385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A7229DE-3FD2-E978-17A2-29C130CB899B}"/>
              </a:ext>
            </a:extLst>
          </p:cNvPr>
          <p:cNvSpPr/>
          <p:nvPr/>
        </p:nvSpPr>
        <p:spPr>
          <a:xfrm>
            <a:off x="7322604" y="1596510"/>
            <a:ext cx="2345271" cy="1001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Drug-Disease Relationships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E2FB5-CF89-06C0-D04B-A15A3CAFADA4}"/>
              </a:ext>
            </a:extLst>
          </p:cNvPr>
          <p:cNvSpPr/>
          <p:nvPr/>
        </p:nvSpPr>
        <p:spPr>
          <a:xfrm>
            <a:off x="3743847" y="1596510"/>
            <a:ext cx="2123552" cy="105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Approx 500k studies, all 50 US states and 223 countries</a:t>
            </a:r>
          </a:p>
        </p:txBody>
      </p:sp>
      <p:pic>
        <p:nvPicPr>
          <p:cNvPr id="15" name="Graphic 14" descr="Document outline">
            <a:extLst>
              <a:ext uri="{FF2B5EF4-FFF2-40B4-BE49-F238E27FC236}">
                <a16:creationId xmlns:a16="http://schemas.microsoft.com/office/drawing/2014/main" id="{8D7507A1-E35C-F63B-4A00-DB3A52AC5A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5382" y="3395236"/>
            <a:ext cx="914400" cy="914400"/>
          </a:xfrm>
          <a:prstGeom prst="rect">
            <a:avLst/>
          </a:prstGeom>
        </p:spPr>
      </p:pic>
      <p:pic>
        <p:nvPicPr>
          <p:cNvPr id="16" name="Graphic 15" descr="Document outline">
            <a:extLst>
              <a:ext uri="{FF2B5EF4-FFF2-40B4-BE49-F238E27FC236}">
                <a16:creationId xmlns:a16="http://schemas.microsoft.com/office/drawing/2014/main" id="{9AD80547-62CB-C387-5F6C-EA1FB84A25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805" y="3377810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0C10235-7C96-47E0-6762-0ED491BA63B9}"/>
              </a:ext>
            </a:extLst>
          </p:cNvPr>
          <p:cNvSpPr txBox="1"/>
          <p:nvPr/>
        </p:nvSpPr>
        <p:spPr>
          <a:xfrm>
            <a:off x="9175805" y="4343715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conditions.txt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4812B3-4259-0897-3B4F-EB88DBBF3093}"/>
              </a:ext>
            </a:extLst>
          </p:cNvPr>
          <p:cNvSpPr txBox="1"/>
          <p:nvPr/>
        </p:nvSpPr>
        <p:spPr>
          <a:xfrm>
            <a:off x="6777271" y="4343715"/>
            <a:ext cx="188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interventions.txt</a:t>
            </a:r>
            <a:endParaRPr lang="en-US" dirty="0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E28767B-45ED-C362-32C4-169FCF4F21B3}"/>
              </a:ext>
            </a:extLst>
          </p:cNvPr>
          <p:cNvSpPr/>
          <p:nvPr/>
        </p:nvSpPr>
        <p:spPr>
          <a:xfrm>
            <a:off x="6061627" y="1857673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3654F060-6E8A-1D0A-E818-9B123E78C5C0}"/>
              </a:ext>
            </a:extLst>
          </p:cNvPr>
          <p:cNvSpPr/>
          <p:nvPr/>
        </p:nvSpPr>
        <p:spPr>
          <a:xfrm>
            <a:off x="2524124" y="1825019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F0A84076-01BC-8A90-4D91-34DBC1C808D6}"/>
              </a:ext>
            </a:extLst>
          </p:cNvPr>
          <p:cNvSpPr/>
          <p:nvPr/>
        </p:nvSpPr>
        <p:spPr>
          <a:xfrm>
            <a:off x="7482799" y="2738973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CB42DA62-D4C0-D004-92A7-E0137DA777DF}"/>
              </a:ext>
            </a:extLst>
          </p:cNvPr>
          <p:cNvSpPr/>
          <p:nvPr/>
        </p:nvSpPr>
        <p:spPr>
          <a:xfrm>
            <a:off x="8043214" y="3554320"/>
            <a:ext cx="1175657" cy="4572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ACDA329E-BDF2-2F24-CF1E-96E0A8EA33C9}"/>
              </a:ext>
            </a:extLst>
          </p:cNvPr>
          <p:cNvSpPr/>
          <p:nvPr/>
        </p:nvSpPr>
        <p:spPr>
          <a:xfrm>
            <a:off x="9261176" y="2699570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DD0282-8814-22A4-9728-6E528C8EBCC9}"/>
              </a:ext>
            </a:extLst>
          </p:cNvPr>
          <p:cNvSpPr txBox="1"/>
          <p:nvPr/>
        </p:nvSpPr>
        <p:spPr>
          <a:xfrm>
            <a:off x="8175210" y="3254538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NCT-ID</a:t>
            </a:r>
          </a:p>
        </p:txBody>
      </p:sp>
    </p:spTree>
    <p:extLst>
      <p:ext uri="{BB962C8B-B14F-4D97-AF65-F5344CB8AC3E}">
        <p14:creationId xmlns:p14="http://schemas.microsoft.com/office/powerpoint/2010/main" val="74268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00A5F-458B-B24E-E0B7-C65E2AC77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C8C67-29C8-EA43-6689-5B7F972B2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84" y="-12879"/>
            <a:ext cx="10651402" cy="1143000"/>
          </a:xfrm>
        </p:spPr>
        <p:txBody>
          <a:bodyPr/>
          <a:lstStyle/>
          <a:p>
            <a:r>
              <a:rPr lang="en-US" dirty="0"/>
              <a:t>Background	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CCCEA-AE59-D3A6-CB52-199E43F54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blue and black logo&#10;&#10;Description automatically generated">
            <a:extLst>
              <a:ext uri="{FF2B5EF4-FFF2-40B4-BE49-F238E27FC236}">
                <a16:creationId xmlns:a16="http://schemas.microsoft.com/office/drawing/2014/main" id="{A6EDB998-68E1-AD17-716A-78FAED898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39" y="48364021"/>
            <a:ext cx="3640413" cy="2928450"/>
          </a:xfrm>
          <a:prstGeom prst="rect">
            <a:avLst/>
          </a:prstGeom>
        </p:spPr>
      </p:pic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C5B46770-B05D-D544-EBA1-BA836127A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39" y="48516421"/>
            <a:ext cx="3640413" cy="2928450"/>
          </a:xfrm>
          <a:prstGeom prst="rect">
            <a:avLst/>
          </a:prstGeom>
        </p:spPr>
      </p:pic>
      <p:pic>
        <p:nvPicPr>
          <p:cNvPr id="9" name="Content Placeholder 8" descr="A blue and black logo&#10;&#10;Description automatically generated">
            <a:extLst>
              <a:ext uri="{FF2B5EF4-FFF2-40B4-BE49-F238E27FC236}">
                <a16:creationId xmlns:a16="http://schemas.microsoft.com/office/drawing/2014/main" id="{2B68742D-1F7E-9CD1-6BA4-7DD7BC91FC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439" y="1517867"/>
            <a:ext cx="1782457" cy="143385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245BBB5-4661-7EC5-62C2-3AD7E197C4B0}"/>
              </a:ext>
            </a:extLst>
          </p:cNvPr>
          <p:cNvSpPr/>
          <p:nvPr/>
        </p:nvSpPr>
        <p:spPr>
          <a:xfrm>
            <a:off x="7322604" y="1596510"/>
            <a:ext cx="2345271" cy="1001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Drug-Disease Relationships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30E80D-F761-C46B-0B74-D83E0D4D6F45}"/>
              </a:ext>
            </a:extLst>
          </p:cNvPr>
          <p:cNvSpPr/>
          <p:nvPr/>
        </p:nvSpPr>
        <p:spPr>
          <a:xfrm>
            <a:off x="3743847" y="1596510"/>
            <a:ext cx="2123552" cy="105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Approx 500k studies, all 50 US states and 223 countries</a:t>
            </a:r>
          </a:p>
        </p:txBody>
      </p:sp>
      <p:pic>
        <p:nvPicPr>
          <p:cNvPr id="15" name="Graphic 14" descr="Document outline">
            <a:extLst>
              <a:ext uri="{FF2B5EF4-FFF2-40B4-BE49-F238E27FC236}">
                <a16:creationId xmlns:a16="http://schemas.microsoft.com/office/drawing/2014/main" id="{D9813EFA-86CD-823E-3D84-28C37F21B6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5382" y="3395236"/>
            <a:ext cx="914400" cy="914400"/>
          </a:xfrm>
          <a:prstGeom prst="rect">
            <a:avLst/>
          </a:prstGeom>
        </p:spPr>
      </p:pic>
      <p:pic>
        <p:nvPicPr>
          <p:cNvPr id="16" name="Graphic 15" descr="Document outline">
            <a:extLst>
              <a:ext uri="{FF2B5EF4-FFF2-40B4-BE49-F238E27FC236}">
                <a16:creationId xmlns:a16="http://schemas.microsoft.com/office/drawing/2014/main" id="{55446897-A0ED-1E2C-0F08-6C2D4BE10E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805" y="3377810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34A011-45D1-4ABC-8A32-8A00898C8A8A}"/>
              </a:ext>
            </a:extLst>
          </p:cNvPr>
          <p:cNvSpPr txBox="1"/>
          <p:nvPr/>
        </p:nvSpPr>
        <p:spPr>
          <a:xfrm>
            <a:off x="9175805" y="4343715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conditions.txt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356B19-6B3F-7B2F-7558-4A06C6A26305}"/>
              </a:ext>
            </a:extLst>
          </p:cNvPr>
          <p:cNvSpPr txBox="1"/>
          <p:nvPr/>
        </p:nvSpPr>
        <p:spPr>
          <a:xfrm>
            <a:off x="6777271" y="4343715"/>
            <a:ext cx="188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interventions.txt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83A785D-3ED7-645C-5D7B-5ED5E9EC15B7}"/>
              </a:ext>
            </a:extLst>
          </p:cNvPr>
          <p:cNvSpPr/>
          <p:nvPr/>
        </p:nvSpPr>
        <p:spPr>
          <a:xfrm>
            <a:off x="6061627" y="1857673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4FFC6DBB-025C-FFDB-6CF7-190EC5E3073D}"/>
              </a:ext>
            </a:extLst>
          </p:cNvPr>
          <p:cNvSpPr/>
          <p:nvPr/>
        </p:nvSpPr>
        <p:spPr>
          <a:xfrm>
            <a:off x="2524124" y="1825019"/>
            <a:ext cx="1025495" cy="5298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06CF1118-B838-CDEF-F620-D15A3D1288E8}"/>
              </a:ext>
            </a:extLst>
          </p:cNvPr>
          <p:cNvSpPr/>
          <p:nvPr/>
        </p:nvSpPr>
        <p:spPr>
          <a:xfrm>
            <a:off x="7482799" y="2738973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70096815-009D-BEF4-DCB6-E8F9D649D0AE}"/>
              </a:ext>
            </a:extLst>
          </p:cNvPr>
          <p:cNvSpPr/>
          <p:nvPr/>
        </p:nvSpPr>
        <p:spPr>
          <a:xfrm>
            <a:off x="8043214" y="3554320"/>
            <a:ext cx="1175657" cy="4572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B71E8DA3-F389-9793-F689-9B21E8ECEEB2}"/>
              </a:ext>
            </a:extLst>
          </p:cNvPr>
          <p:cNvSpPr/>
          <p:nvPr/>
        </p:nvSpPr>
        <p:spPr>
          <a:xfrm>
            <a:off x="9261176" y="2699570"/>
            <a:ext cx="444381" cy="6486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CF9D19-5B91-8E26-D5FC-EC12367CB2B8}"/>
              </a:ext>
            </a:extLst>
          </p:cNvPr>
          <p:cNvSpPr txBox="1"/>
          <p:nvPr/>
        </p:nvSpPr>
        <p:spPr>
          <a:xfrm>
            <a:off x="8175210" y="3254538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NCT-ID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E9C16-68E9-B059-7BAB-8D0153960D46}"/>
              </a:ext>
            </a:extLst>
          </p:cNvPr>
          <p:cNvSpPr txBox="1"/>
          <p:nvPr/>
        </p:nvSpPr>
        <p:spPr>
          <a:xfrm>
            <a:off x="547439" y="4845456"/>
            <a:ext cx="100604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Challenge: disease names in clinical trials registry  contain extraneous information, typographical errors, missing values, non-standard nomenclature and other inconsistencies which create barriers for data integration and downstream analysis of the CTR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283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1996C-AEFF-C3A9-751E-CB258B528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A313D-6D6A-BE2B-263D-27E5BA15A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2053" y="320156"/>
            <a:ext cx="10651402" cy="1143000"/>
          </a:xfrm>
        </p:spPr>
        <p:txBody>
          <a:bodyPr/>
          <a:lstStyle/>
          <a:p>
            <a:r>
              <a:rPr lang="en-US" dirty="0"/>
              <a:t>Tumor Name Standardization	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865C2-BF25-6030-3F39-CD518B0D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5054C-30A8-2747-5DB5-31260516A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369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0181A-01B0-4CB8-8614-1473649F6741}" type="slidenum">
              <a:rPr lang="en-US" smtClean="0">
                <a:solidFill>
                  <a:srgbClr val="FFFFFE"/>
                </a:solidFill>
              </a:rPr>
              <a:t>8</a:t>
            </a:fld>
            <a:endParaRPr lang="en-US" dirty="0">
              <a:solidFill>
                <a:srgbClr val="FFFFFE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8101" y="99178"/>
            <a:ext cx="9753600" cy="144475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473658"/>
      </p:ext>
    </p:extLst>
  </p:cSld>
  <p:clrMapOvr>
    <a:masterClrMapping/>
  </p:clrMapOvr>
</p:sld>
</file>

<file path=ppt/theme/theme1.xml><?xml version="1.0" encoding="utf-8"?>
<a:theme xmlns:a="http://schemas.openxmlformats.org/drawingml/2006/main" name="RIS_LabArchives_Template">
  <a:themeElements>
    <a:clrScheme name="CHOP Custom">
      <a:dk1>
        <a:srgbClr val="D11960"/>
      </a:dk1>
      <a:lt1>
        <a:srgbClr val="FFFFFE"/>
      </a:lt1>
      <a:dk2>
        <a:srgbClr val="FFFFFE"/>
      </a:dk2>
      <a:lt2>
        <a:srgbClr val="584B3D"/>
      </a:lt2>
      <a:accent1>
        <a:srgbClr val="3E9CC9"/>
      </a:accent1>
      <a:accent2>
        <a:srgbClr val="D11960"/>
      </a:accent2>
      <a:accent3>
        <a:srgbClr val="5C8D29"/>
      </a:accent3>
      <a:accent4>
        <a:srgbClr val="97C5DF"/>
      </a:accent4>
      <a:accent5>
        <a:srgbClr val="E5849B"/>
      </a:accent5>
      <a:accent6>
        <a:srgbClr val="9FBE7E"/>
      </a:accent6>
      <a:hlink>
        <a:srgbClr val="0000FF"/>
      </a:hlink>
      <a:folHlink>
        <a:srgbClr val="800080"/>
      </a:folHlink>
    </a:clrScheme>
    <a:fontScheme name="Custom 1">
      <a:majorFont>
        <a:latin typeface="Arial"/>
        <a:ea typeface=""/>
        <a:cs typeface=""/>
      </a:majorFont>
      <a:minorFont>
        <a:latin typeface="Georgi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novationeco" id="{994BA8A9-91A8-8D4A-A9A8-8E8B7A3944AB}" vid="{60D1369B-A32A-9840-9929-4F474B34A6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h6a4a4262ab844b18de92e197378cee0 xmlns="e96402cb-0a6e-49e7-8465-cfae72b5129c">
      <Terms xmlns="http://schemas.microsoft.com/office/infopath/2007/PartnerControls"/>
    </h6a4a4262ab844b18de92e197378cee0>
    <o54b1e4c7e8f4e00a12ce46439e0e974 xmlns="e96402cb-0a6e-49e7-8465-cfae72b5129c">
      <Terms xmlns="http://schemas.microsoft.com/office/infopath/2007/PartnerControls"/>
    </o54b1e4c7e8f4e00a12ce46439e0e974>
    <Category xmlns="34d7e926-6bad-4161-b251-cfc43f69ae87">Templates</Category>
    <TaxKeywordTaxHTField xmlns="fcde5e04-944e-4dfc-be86-0a9ace870ff9">
      <Terms xmlns="http://schemas.microsoft.com/office/infopath/2007/PartnerControls"/>
    </TaxKeywordTaxHTField>
    <IconOverlay xmlns="http://schemas.microsoft.com/sharepoint/v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F3D347118B88A4EA8E9A5FEBC94FD86" ma:contentTypeVersion="8" ma:contentTypeDescription="Create a new document." ma:contentTypeScope="" ma:versionID="e54af44cc39137a71e496aa5089235ef">
  <xsd:schema xmlns:xsd="http://www.w3.org/2001/XMLSchema" xmlns:xs="http://www.w3.org/2001/XMLSchema" xmlns:p="http://schemas.microsoft.com/office/2006/metadata/properties" xmlns:ns2="fcde5e04-944e-4dfc-be86-0a9ace870ff9" xmlns:ns3="e96402cb-0a6e-49e7-8465-cfae72b5129c" xmlns:ns4="34d7e926-6bad-4161-b251-cfc43f69ae87" xmlns:ns5="http://schemas.microsoft.com/sharepoint/v4" targetNamespace="http://schemas.microsoft.com/office/2006/metadata/properties" ma:root="true" ma:fieldsID="4dfd49e6986a0fb6e4e84e6606b80ac7" ns2:_="" ns3:_="" ns4:_="" ns5:_="">
    <xsd:import namespace="fcde5e04-944e-4dfc-be86-0a9ace870ff9"/>
    <xsd:import namespace="e96402cb-0a6e-49e7-8465-cfae72b5129c"/>
    <xsd:import namespace="34d7e926-6bad-4161-b251-cfc43f69ae87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2:TaxKeywordTaxHTField" minOccurs="0"/>
                <xsd:element ref="ns3:o54b1e4c7e8f4e00a12ce46439e0e974" minOccurs="0"/>
                <xsd:element ref="ns3:h6a4a4262ab844b18de92e197378cee0" minOccurs="0"/>
                <xsd:element ref="ns4:Category" minOccurs="0"/>
                <xsd:element ref="ns5:IconOverla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de5e04-944e-4dfc-be86-0a9ace870ff9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9" nillable="true" ma:taxonomy="true" ma:internalName="TaxKeywordTaxHTField" ma:taxonomyFieldName="TaxKeyword" ma:displayName="Enterprise Keywords" ma:fieldId="{23f27201-bee3-471e-b2e7-b64fd8b7ca38}" ma:taxonomyMulti="true" ma:sspId="096f6f6b-f55a-454e-8dbb-24a06af11355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402cb-0a6e-49e7-8465-cfae72b5129c" elementFormDefault="qualified">
    <xsd:import namespace="http://schemas.microsoft.com/office/2006/documentManagement/types"/>
    <xsd:import namespace="http://schemas.microsoft.com/office/infopath/2007/PartnerControls"/>
    <xsd:element name="o54b1e4c7e8f4e00a12ce46439e0e974" ma:index="11" nillable="true" ma:taxonomy="true" ma:internalName="o54b1e4c7e8f4e00a12ce46439e0e974" ma:taxonomyFieldName="KnowledgeBaseMetadata" ma:displayName="Knowledge Base Tags" ma:fieldId="{854b1e4c-7e8f-4e00-a12c-e46439e0e974}" ma:taxonomyMulti="true" ma:sspId="096f6f6b-f55a-454e-8dbb-24a06af11355" ma:termSetId="0fa4fcc5-20ed-47ab-b5c6-c9c312be74d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6a4a4262ab844b18de92e197378cee0" ma:index="13" nillable="true" ma:taxonomy="true" ma:internalName="h6a4a4262ab844b18de92e197378cee0" ma:taxonomyFieldName="KBPoliciesAndProcedures" ma:displayName="Knowledge Base Policies and Procedures" ma:fieldId="{16a4a426-2ab8-44b1-8de9-2e197378cee0}" ma:taxonomyMulti="true" ma:sspId="096f6f6b-f55a-454e-8dbb-24a06af11355" ma:termSetId="bf388315-c5fb-4b9c-b70e-1e19d0e0d3b2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d7e926-6bad-4161-b251-cfc43f69ae87" elementFormDefault="qualified">
    <xsd:import namespace="http://schemas.microsoft.com/office/2006/documentManagement/types"/>
    <xsd:import namespace="http://schemas.microsoft.com/office/infopath/2007/PartnerControls"/>
    <xsd:element name="Category" ma:index="14" nillable="true" ma:displayName="Category" ma:format="Dropdown" ma:internalName="Category">
      <xsd:simpleType>
        <xsd:restriction base="dms:Choice">
          <xsd:enumeration value="Guidelines"/>
          <xsd:enumeration value="Templates"/>
          <xsd:enumeration value="AAG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5" nillable="true" ma:displayName="IconOverlay" ma:hidden="true" ma:internalName="IconOverlay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78B9CA-BC85-4AC4-82A4-AD53C20980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493EF0-0BE4-4E84-A0BC-FF9879CDB9E8}">
  <ds:schemaRefs>
    <ds:schemaRef ds:uri="http://schemas.microsoft.com/office/2006/metadata/properties"/>
    <ds:schemaRef ds:uri="http://schemas.microsoft.com/office/infopath/2007/PartnerControls"/>
    <ds:schemaRef ds:uri="e96402cb-0a6e-49e7-8465-cfae72b5129c"/>
    <ds:schemaRef ds:uri="34d7e926-6bad-4161-b251-cfc43f69ae87"/>
    <ds:schemaRef ds:uri="fcde5e04-944e-4dfc-be86-0a9ace870ff9"/>
    <ds:schemaRef ds:uri="http://schemas.microsoft.com/sharepoint/v4"/>
  </ds:schemaRefs>
</ds:datastoreItem>
</file>

<file path=customXml/itemProps3.xml><?xml version="1.0" encoding="utf-8"?>
<ds:datastoreItem xmlns:ds="http://schemas.openxmlformats.org/officeDocument/2006/customXml" ds:itemID="{1BBAC596-346B-4E59-839B-DB15DC7AE2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de5e04-944e-4dfc-be86-0a9ace870ff9"/>
    <ds:schemaRef ds:uri="e96402cb-0a6e-49e7-8465-cfae72b5129c"/>
    <ds:schemaRef ds:uri="34d7e926-6bad-4161-b251-cfc43f69ae87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897</TotalTime>
  <Words>185</Words>
  <Application>Microsoft Macintosh PowerPoint</Application>
  <PresentationFormat>Widescreen</PresentationFormat>
  <Paragraphs>34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Chronicle Text G1 Roman</vt:lpstr>
      <vt:lpstr>Georgia</vt:lpstr>
      <vt:lpstr>Rubrik-SemiBold</vt:lpstr>
      <vt:lpstr>Times New Roman</vt:lpstr>
      <vt:lpstr>RIS_LabArchives_Template</vt:lpstr>
      <vt:lpstr>CANTOS: Automated Tumor Name Standardization in the NIH Clinical Trials Registry Using the CANTOS Pipeline</vt:lpstr>
      <vt:lpstr>Background  </vt:lpstr>
      <vt:lpstr>Background  </vt:lpstr>
      <vt:lpstr>Background  </vt:lpstr>
      <vt:lpstr>Background  </vt:lpstr>
      <vt:lpstr>Background  </vt:lpstr>
      <vt:lpstr>Tumor Name Standardization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keywords/>
  <cp:lastModifiedBy>Lahiri, Aditya</cp:lastModifiedBy>
  <cp:revision>11</cp:revision>
  <dcterms:created xsi:type="dcterms:W3CDTF">2018-01-25T18:17:50Z</dcterms:created>
  <dcterms:modified xsi:type="dcterms:W3CDTF">2025-04-06T14:38:21Z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0x010100DF3D347118B88A4EA8E9A5FEBC94FD86</vt:lpwstr>
  </property>
  <property fmtid="{D5CDD505-2E9C-101B-9397-08002B2CF9AE}" pid="3" name="KBPoliciesAndProcedures">
    <vt:lpwstr/>
  </property>
  <property fmtid="{D5CDD505-2E9C-101B-9397-08002B2CF9AE}" pid="4" name="TaxKeyword">
    <vt:lpwstr/>
  </property>
  <property fmtid="{D5CDD505-2E9C-101B-9397-08002B2CF9AE}" pid="5" name="KnowledgeBaseMetadata">
    <vt:lpwstr/>
  </property>
  <property fmtid="{D5CDD505-2E9C-101B-9397-08002B2CF9AE}" pid="6" name="TaxCatchAll">
    <vt:lpwstr/>
  </property>
</Properties>
</file>
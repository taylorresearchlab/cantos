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9"/>
  </p:notesMasterIdLst>
  <p:sldIdLst>
    <p:sldId id="256" r:id="rId5"/>
    <p:sldId id="257" r:id="rId6"/>
    <p:sldId id="259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1960"/>
    <a:srgbClr val="584B3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207" autoAdjust="0"/>
    <p:restoredTop sz="94660"/>
  </p:normalViewPr>
  <p:slideViewPr>
    <p:cSldViewPr snapToGrid="0">
      <p:cViewPr varScale="1">
        <p:scale>
          <a:sx n="99" d="100"/>
          <a:sy n="99" d="100"/>
        </p:scale>
        <p:origin x="184" y="6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374326-AD78-4E67-8599-BA8A5604D89A}" type="datetimeFigureOut">
              <a:rPr lang="en-US" smtClean="0"/>
              <a:t>4/5/25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E8EB8B-B78C-4FCA-B737-0D9226F57E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337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38199" y="592924"/>
            <a:ext cx="5577591" cy="1207008"/>
          </a:xfrm>
        </p:spPr>
        <p:txBody>
          <a:bodyPr anchor="ctr"/>
          <a:lstStyle>
            <a:lvl1pPr algn="l">
              <a:defRPr sz="3600" b="1" cap="all" baseline="0">
                <a:solidFill>
                  <a:srgbClr val="3E9CC9"/>
                </a:solidFill>
                <a:latin typeface="+mj-lt"/>
              </a:defRPr>
            </a:lvl1pPr>
          </a:lstStyle>
          <a:p>
            <a:r>
              <a:rPr lang="en-US" cap="all" baseline="0" dirty="0"/>
              <a:t>Click to add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38199" y="1994858"/>
            <a:ext cx="5577589" cy="497951"/>
          </a:xfrm>
        </p:spPr>
        <p:txBody>
          <a:bodyPr>
            <a:normAutofit/>
          </a:bodyPr>
          <a:lstStyle>
            <a:lvl1pPr marL="0" indent="0" algn="l">
              <a:buNone/>
              <a:defRPr sz="2800" b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09685" y="6356352"/>
            <a:ext cx="5637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40181A-01B0-4CB8-8614-1473649F674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764852"/>
            <a:ext cx="5577417" cy="502920"/>
          </a:xfrm>
        </p:spPr>
        <p:txBody>
          <a:bodyPr>
            <a:normAutofit/>
          </a:bodyPr>
          <a:lstStyle>
            <a:lvl1pPr marL="0" indent="0">
              <a:buNone/>
              <a:defRPr sz="2400" b="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2282824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2052" y="320156"/>
            <a:ext cx="11010595" cy="1143000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22052" y="1736231"/>
            <a:ext cx="11010595" cy="3895344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25727" y="6356352"/>
            <a:ext cx="547727" cy="365125"/>
          </a:xfrm>
        </p:spPr>
        <p:txBody>
          <a:bodyPr/>
          <a:lstStyle>
            <a:lvl1pPr>
              <a:defRPr>
                <a:solidFill>
                  <a:srgbClr val="FFFFFE"/>
                </a:solidFill>
              </a:defRPr>
            </a:lvl1pPr>
          </a:lstStyle>
          <a:p>
            <a:fld id="{AD40181A-01B0-4CB8-8614-1473649F67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670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25727" y="6356352"/>
            <a:ext cx="548647" cy="365125"/>
          </a:xfrm>
        </p:spPr>
        <p:txBody>
          <a:bodyPr/>
          <a:lstStyle>
            <a:lvl1pPr>
              <a:defRPr>
                <a:solidFill>
                  <a:srgbClr val="FFFFFE"/>
                </a:solidFill>
              </a:defRPr>
            </a:lvl1pPr>
          </a:lstStyle>
          <a:p>
            <a:fld id="{AD40181A-01B0-4CB8-8614-1473649F674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45733" y="1543930"/>
            <a:ext cx="9753600" cy="1444752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51099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3E9CC9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3E9CC9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AD40181A-01B0-4CB8-8614-1473649F67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9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 cap="all" baseline="0">
          <a:solidFill>
            <a:srgbClr val="3E9CC9"/>
          </a:solidFill>
          <a:latin typeface="Rubrik-SemiBold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rgbClr val="584B3D"/>
          </a:solidFill>
          <a:latin typeface="Chronicle Text G1 Roman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rgbClr val="584B3D"/>
          </a:solidFill>
          <a:latin typeface="Chronicle Text G1 Roman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rgbClr val="584B3D"/>
          </a:solidFill>
          <a:latin typeface="Chronicle Text G1 Roman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rgbClr val="584B3D"/>
          </a:solidFill>
          <a:latin typeface="Chronicle Text G1 Roman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rgbClr val="584B3D"/>
          </a:solidFill>
          <a:latin typeface="Chronicle Text G1 Roman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0"/>
            <a:ext cx="7168896" cy="1849990"/>
          </a:xfrm>
        </p:spPr>
        <p:txBody>
          <a:bodyPr/>
          <a:lstStyle/>
          <a:p>
            <a:r>
              <a:rPr lang="en-US" sz="2400" dirty="0"/>
              <a:t>CANTOS: Automated Tumor Name Standardization in the NIH Clinical Trials Registry Using the CANTOS Pipeline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43255" y="1965318"/>
            <a:ext cx="6723889" cy="1016027"/>
          </a:xfrm>
        </p:spPr>
        <p:txBody>
          <a:bodyPr>
            <a:norm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Aditya Lahiri, Sangeeta Shukla, Ben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Stear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Taha Mohseni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Ahooyi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Katherine Beigel, Elizabeth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Margolskee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Deanne Taylor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0181A-01B0-4CB8-8614-1473649F6741}" type="slidenum">
              <a:rPr lang="en-US" smtClean="0"/>
              <a:t>1</a:t>
            </a:fld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247758" y="178065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876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984" y="-12879"/>
            <a:ext cx="10651402" cy="1143000"/>
          </a:xfrm>
        </p:spPr>
        <p:txBody>
          <a:bodyPr/>
          <a:lstStyle/>
          <a:p>
            <a:r>
              <a:rPr lang="en-US" dirty="0"/>
              <a:t>Background	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0181A-01B0-4CB8-8614-1473649F6741}" type="slidenum">
              <a:rPr lang="en-US" smtClean="0">
                <a:solidFill>
                  <a:schemeClr val="bg1"/>
                </a:solidFill>
              </a:rPr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195350-C016-8384-FB0B-8AF85C4CB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984" y="989256"/>
            <a:ext cx="11010595" cy="389534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28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1996C-AEFF-C3A9-751E-CB258B528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A313D-6D6A-BE2B-263D-27E5BA15A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053" y="320156"/>
            <a:ext cx="10651402" cy="1143000"/>
          </a:xfrm>
        </p:spPr>
        <p:txBody>
          <a:bodyPr/>
          <a:lstStyle/>
          <a:p>
            <a:r>
              <a:rPr lang="en-US" dirty="0"/>
              <a:t>Tumor Name Standardization	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865C2-BF25-6030-3F39-CD518B0D0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0181A-01B0-4CB8-8614-1473649F6741}" type="slidenum">
              <a:rPr lang="en-US" smtClean="0">
                <a:solidFill>
                  <a:schemeClr val="bg1"/>
                </a:solidFill>
              </a:r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E5054C-30A8-2747-5DB5-31260516A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369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0181A-01B0-4CB8-8614-1473649F6741}" type="slidenum">
              <a:rPr lang="en-US" smtClean="0">
                <a:solidFill>
                  <a:srgbClr val="FFFFFE"/>
                </a:solidFill>
              </a:rPr>
              <a:t>4</a:t>
            </a:fld>
            <a:endParaRPr lang="en-US" dirty="0">
              <a:solidFill>
                <a:srgbClr val="FFFFFE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8101" y="99178"/>
            <a:ext cx="9753600" cy="144475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473658"/>
      </p:ext>
    </p:extLst>
  </p:cSld>
  <p:clrMapOvr>
    <a:masterClrMapping/>
  </p:clrMapOvr>
</p:sld>
</file>

<file path=ppt/theme/theme1.xml><?xml version="1.0" encoding="utf-8"?>
<a:theme xmlns:a="http://schemas.openxmlformats.org/drawingml/2006/main" name="RIS_LabArchives_Template">
  <a:themeElements>
    <a:clrScheme name="CHOP Custom">
      <a:dk1>
        <a:srgbClr val="D11960"/>
      </a:dk1>
      <a:lt1>
        <a:srgbClr val="FFFFFE"/>
      </a:lt1>
      <a:dk2>
        <a:srgbClr val="FFFFFE"/>
      </a:dk2>
      <a:lt2>
        <a:srgbClr val="584B3D"/>
      </a:lt2>
      <a:accent1>
        <a:srgbClr val="3E9CC9"/>
      </a:accent1>
      <a:accent2>
        <a:srgbClr val="D11960"/>
      </a:accent2>
      <a:accent3>
        <a:srgbClr val="5C8D29"/>
      </a:accent3>
      <a:accent4>
        <a:srgbClr val="97C5DF"/>
      </a:accent4>
      <a:accent5>
        <a:srgbClr val="E5849B"/>
      </a:accent5>
      <a:accent6>
        <a:srgbClr val="9FBE7E"/>
      </a:accent6>
      <a:hlink>
        <a:srgbClr val="0000FF"/>
      </a:hlink>
      <a:folHlink>
        <a:srgbClr val="800080"/>
      </a:folHlink>
    </a:clrScheme>
    <a:fontScheme name="Custom 1">
      <a:majorFont>
        <a:latin typeface="Arial"/>
        <a:ea typeface=""/>
        <a:cs typeface=""/>
      </a:majorFont>
      <a:minorFont>
        <a:latin typeface="Georgi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novationeco" id="{994BA8A9-91A8-8D4A-A9A8-8E8B7A3944AB}" vid="{60D1369B-A32A-9840-9929-4F474B34A6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h6a4a4262ab844b18de92e197378cee0 xmlns="e96402cb-0a6e-49e7-8465-cfae72b5129c">
      <Terms xmlns="http://schemas.microsoft.com/office/infopath/2007/PartnerControls"/>
    </h6a4a4262ab844b18de92e197378cee0>
    <o54b1e4c7e8f4e00a12ce46439e0e974 xmlns="e96402cb-0a6e-49e7-8465-cfae72b5129c">
      <Terms xmlns="http://schemas.microsoft.com/office/infopath/2007/PartnerControls"/>
    </o54b1e4c7e8f4e00a12ce46439e0e974>
    <Category xmlns="34d7e926-6bad-4161-b251-cfc43f69ae87">Templates</Category>
    <TaxKeywordTaxHTField xmlns="fcde5e04-944e-4dfc-be86-0a9ace870ff9">
      <Terms xmlns="http://schemas.microsoft.com/office/infopath/2007/PartnerControls"/>
    </TaxKeywordTaxHTField>
    <IconOverlay xmlns="http://schemas.microsoft.com/sharepoint/v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3D347118B88A4EA8E9A5FEBC94FD86" ma:contentTypeVersion="8" ma:contentTypeDescription="Create a new document." ma:contentTypeScope="" ma:versionID="e54af44cc39137a71e496aa5089235ef">
  <xsd:schema xmlns:xsd="http://www.w3.org/2001/XMLSchema" xmlns:xs="http://www.w3.org/2001/XMLSchema" xmlns:p="http://schemas.microsoft.com/office/2006/metadata/properties" xmlns:ns2="fcde5e04-944e-4dfc-be86-0a9ace870ff9" xmlns:ns3="e96402cb-0a6e-49e7-8465-cfae72b5129c" xmlns:ns4="34d7e926-6bad-4161-b251-cfc43f69ae87" xmlns:ns5="http://schemas.microsoft.com/sharepoint/v4" targetNamespace="http://schemas.microsoft.com/office/2006/metadata/properties" ma:root="true" ma:fieldsID="4dfd49e6986a0fb6e4e84e6606b80ac7" ns2:_="" ns3:_="" ns4:_="" ns5:_="">
    <xsd:import namespace="fcde5e04-944e-4dfc-be86-0a9ace870ff9"/>
    <xsd:import namespace="e96402cb-0a6e-49e7-8465-cfae72b5129c"/>
    <xsd:import namespace="34d7e926-6bad-4161-b251-cfc43f69ae87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TaxKeywordTaxHTField" minOccurs="0"/>
                <xsd:element ref="ns3:o54b1e4c7e8f4e00a12ce46439e0e974" minOccurs="0"/>
                <xsd:element ref="ns3:h6a4a4262ab844b18de92e197378cee0" minOccurs="0"/>
                <xsd:element ref="ns4:Category" minOccurs="0"/>
                <xsd:element ref="ns5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de5e04-944e-4dfc-be86-0a9ace870ff9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9" nillable="true" ma:taxonomy="true" ma:internalName="TaxKeywordTaxHTField" ma:taxonomyFieldName="TaxKeyword" ma:displayName="Enterprise Keywords" ma:fieldId="{23f27201-bee3-471e-b2e7-b64fd8b7ca38}" ma:taxonomyMulti="true" ma:sspId="096f6f6b-f55a-454e-8dbb-24a06af11355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402cb-0a6e-49e7-8465-cfae72b5129c" elementFormDefault="qualified">
    <xsd:import namespace="http://schemas.microsoft.com/office/2006/documentManagement/types"/>
    <xsd:import namespace="http://schemas.microsoft.com/office/infopath/2007/PartnerControls"/>
    <xsd:element name="o54b1e4c7e8f4e00a12ce46439e0e974" ma:index="11" nillable="true" ma:taxonomy="true" ma:internalName="o54b1e4c7e8f4e00a12ce46439e0e974" ma:taxonomyFieldName="KnowledgeBaseMetadata" ma:displayName="Knowledge Base Tags" ma:fieldId="{854b1e4c-7e8f-4e00-a12c-e46439e0e974}" ma:taxonomyMulti="true" ma:sspId="096f6f6b-f55a-454e-8dbb-24a06af11355" ma:termSetId="0fa4fcc5-20ed-47ab-b5c6-c9c312be74d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h6a4a4262ab844b18de92e197378cee0" ma:index="13" nillable="true" ma:taxonomy="true" ma:internalName="h6a4a4262ab844b18de92e197378cee0" ma:taxonomyFieldName="KBPoliciesAndProcedures" ma:displayName="Knowledge Base Policies and Procedures" ma:fieldId="{16a4a426-2ab8-44b1-8de9-2e197378cee0}" ma:taxonomyMulti="true" ma:sspId="096f6f6b-f55a-454e-8dbb-24a06af11355" ma:termSetId="bf388315-c5fb-4b9c-b70e-1e19d0e0d3b2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d7e926-6bad-4161-b251-cfc43f69ae87" elementFormDefault="qualified">
    <xsd:import namespace="http://schemas.microsoft.com/office/2006/documentManagement/types"/>
    <xsd:import namespace="http://schemas.microsoft.com/office/infopath/2007/PartnerControls"/>
    <xsd:element name="Category" ma:index="14" nillable="true" ma:displayName="Category" ma:format="Dropdown" ma:internalName="Category">
      <xsd:simpleType>
        <xsd:restriction base="dms:Choice">
          <xsd:enumeration value="Guidelines"/>
          <xsd:enumeration value="Templates"/>
          <xsd:enumeration value="AAG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5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78B9CA-BC85-4AC4-82A4-AD53C20980F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493EF0-0BE4-4E84-A0BC-FF9879CDB9E8}">
  <ds:schemaRefs>
    <ds:schemaRef ds:uri="http://schemas.microsoft.com/office/2006/metadata/properties"/>
    <ds:schemaRef ds:uri="http://schemas.microsoft.com/office/infopath/2007/PartnerControls"/>
    <ds:schemaRef ds:uri="e96402cb-0a6e-49e7-8465-cfae72b5129c"/>
    <ds:schemaRef ds:uri="34d7e926-6bad-4161-b251-cfc43f69ae87"/>
    <ds:schemaRef ds:uri="fcde5e04-944e-4dfc-be86-0a9ace870ff9"/>
    <ds:schemaRef ds:uri="http://schemas.microsoft.com/sharepoint/v4"/>
  </ds:schemaRefs>
</ds:datastoreItem>
</file>

<file path=customXml/itemProps3.xml><?xml version="1.0" encoding="utf-8"?>
<ds:datastoreItem xmlns:ds="http://schemas.openxmlformats.org/officeDocument/2006/customXml" ds:itemID="{1BBAC596-346B-4E59-839B-DB15DC7AE2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de5e04-944e-4dfc-be86-0a9ace870ff9"/>
    <ds:schemaRef ds:uri="e96402cb-0a6e-49e7-8465-cfae72b5129c"/>
    <ds:schemaRef ds:uri="34d7e926-6bad-4161-b251-cfc43f69ae87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</TotalTime>
  <Words>49</Words>
  <Application>Microsoft Macintosh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Chronicle Text G1 Roman</vt:lpstr>
      <vt:lpstr>Georgia</vt:lpstr>
      <vt:lpstr>Rubrik-SemiBold</vt:lpstr>
      <vt:lpstr>Times New Roman</vt:lpstr>
      <vt:lpstr>RIS_LabArchives_Template</vt:lpstr>
      <vt:lpstr>CANTOS: Automated Tumor Name Standardization in the NIH Clinical Trials Registry Using the CANTOS Pipeline</vt:lpstr>
      <vt:lpstr>Background  </vt:lpstr>
      <vt:lpstr>Tumor Name Standardization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keywords/>
  <cp:lastModifiedBy>Lahiri, Aditya</cp:lastModifiedBy>
  <cp:revision>10</cp:revision>
  <dcterms:created xsi:type="dcterms:W3CDTF">2018-01-25T18:17:50Z</dcterms:created>
  <dcterms:modified xsi:type="dcterms:W3CDTF">2025-04-06T03:00:16Z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0x010100DF3D347118B88A4EA8E9A5FEBC94FD86</vt:lpwstr>
  </property>
  <property fmtid="{D5CDD505-2E9C-101B-9397-08002B2CF9AE}" pid="3" name="KBPoliciesAndProcedures">
    <vt:lpwstr/>
  </property>
  <property fmtid="{D5CDD505-2E9C-101B-9397-08002B2CF9AE}" pid="4" name="TaxKeyword">
    <vt:lpwstr/>
  </property>
  <property fmtid="{D5CDD505-2E9C-101B-9397-08002B2CF9AE}" pid="5" name="KnowledgeBaseMetadata">
    <vt:lpwstr/>
  </property>
  <property fmtid="{D5CDD505-2E9C-101B-9397-08002B2CF9AE}" pid="6" name="TaxCatchAll">
    <vt:lpwstr/>
  </property>
</Properties>
</file>
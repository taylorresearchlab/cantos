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Lst>
  <p:notesMasterIdLst>
    <p:notesMasterId r:id="rId24"/>
  </p:notesMasterIdLst>
  <p:sldIdLst>
    <p:sldId id="256" r:id="rId5"/>
    <p:sldId id="257" r:id="rId6"/>
    <p:sldId id="260" r:id="rId7"/>
    <p:sldId id="261" r:id="rId8"/>
    <p:sldId id="262" r:id="rId9"/>
    <p:sldId id="263" r:id="rId10"/>
    <p:sldId id="273" r:id="rId11"/>
    <p:sldId id="258" r:id="rId12"/>
    <p:sldId id="267" r:id="rId13"/>
    <p:sldId id="265" r:id="rId14"/>
    <p:sldId id="272" r:id="rId15"/>
    <p:sldId id="268" r:id="rId16"/>
    <p:sldId id="266" r:id="rId17"/>
    <p:sldId id="269" r:id="rId18"/>
    <p:sldId id="270" r:id="rId19"/>
    <p:sldId id="271" r:id="rId20"/>
    <p:sldId id="274" r:id="rId21"/>
    <p:sldId id="264" r:id="rId22"/>
    <p:sldId id="259"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11960"/>
    <a:srgbClr val="584B3D"/>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5898" autoAdjust="0"/>
    <p:restoredTop sz="94660"/>
  </p:normalViewPr>
  <p:slideViewPr>
    <p:cSldViewPr snapToGrid="0">
      <p:cViewPr varScale="1">
        <p:scale>
          <a:sx n="117" d="100"/>
          <a:sy n="117" d="100"/>
        </p:scale>
        <p:origin x="208" y="920"/>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374326-AD78-4E67-8599-BA8A5604D89A}" type="datetimeFigureOut">
              <a:rPr lang="en-US" smtClean="0"/>
              <a:t>4/5/25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7E8EB8B-B78C-4FCA-B737-0D9226F57ED2}" type="slidenum">
              <a:rPr lang="en-US" smtClean="0"/>
              <a:t>‹#›</a:t>
            </a:fld>
            <a:endParaRPr lang="en-US"/>
          </a:p>
        </p:txBody>
      </p:sp>
    </p:spTree>
    <p:extLst>
      <p:ext uri="{BB962C8B-B14F-4D97-AF65-F5344CB8AC3E}">
        <p14:creationId xmlns:p14="http://schemas.microsoft.com/office/powerpoint/2010/main" val="22293377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838199" y="592924"/>
            <a:ext cx="5577591" cy="1207008"/>
          </a:xfrm>
        </p:spPr>
        <p:txBody>
          <a:bodyPr anchor="ctr"/>
          <a:lstStyle>
            <a:lvl1pPr algn="l">
              <a:defRPr sz="3600" b="1" cap="all" baseline="0">
                <a:solidFill>
                  <a:srgbClr val="3E9CC9"/>
                </a:solidFill>
                <a:latin typeface="+mj-lt"/>
              </a:defRPr>
            </a:lvl1pPr>
          </a:lstStyle>
          <a:p>
            <a:r>
              <a:rPr lang="en-US" cap="all" baseline="0" dirty="0"/>
              <a:t>Click to add title</a:t>
            </a:r>
            <a:endParaRPr lang="en-US" dirty="0"/>
          </a:p>
        </p:txBody>
      </p:sp>
      <p:sp>
        <p:nvSpPr>
          <p:cNvPr id="3" name="Subtitle 2"/>
          <p:cNvSpPr>
            <a:spLocks noGrp="1"/>
          </p:cNvSpPr>
          <p:nvPr>
            <p:ph type="subTitle" idx="1" hasCustomPrompt="1"/>
          </p:nvPr>
        </p:nvSpPr>
        <p:spPr>
          <a:xfrm>
            <a:off x="838199" y="1994858"/>
            <a:ext cx="5577589" cy="497951"/>
          </a:xfrm>
        </p:spPr>
        <p:txBody>
          <a:bodyPr>
            <a:normAutofit/>
          </a:bodyPr>
          <a:lstStyle>
            <a:lvl1pPr marL="0" indent="0" algn="l">
              <a:buNone/>
              <a:defRPr sz="2800" b="0" baseline="0">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6" name="Slide Number Placeholder 5"/>
          <p:cNvSpPr>
            <a:spLocks noGrp="1"/>
          </p:cNvSpPr>
          <p:nvPr>
            <p:ph type="sldNum" sz="quarter" idx="12"/>
          </p:nvPr>
        </p:nvSpPr>
        <p:spPr>
          <a:xfrm>
            <a:off x="11309685" y="6356352"/>
            <a:ext cx="563768" cy="365125"/>
          </a:xfrm>
        </p:spPr>
        <p:txBody>
          <a:bodyPr/>
          <a:lstStyle>
            <a:lvl1pPr>
              <a:defRPr>
                <a:solidFill>
                  <a:schemeClr val="bg1"/>
                </a:solidFill>
              </a:defRPr>
            </a:lvl1pPr>
          </a:lstStyle>
          <a:p>
            <a:fld id="{AD40181A-01B0-4CB8-8614-1473649F6741}" type="slidenum">
              <a:rPr lang="en-US" smtClean="0"/>
              <a:pPr/>
              <a:t>‹#›</a:t>
            </a:fld>
            <a:endParaRPr lang="en-US" dirty="0"/>
          </a:p>
        </p:txBody>
      </p:sp>
      <p:sp>
        <p:nvSpPr>
          <p:cNvPr id="12" name="Text Placeholder 11"/>
          <p:cNvSpPr>
            <a:spLocks noGrp="1"/>
          </p:cNvSpPr>
          <p:nvPr>
            <p:ph type="body" sz="quarter" idx="13" hasCustomPrompt="1"/>
          </p:nvPr>
        </p:nvSpPr>
        <p:spPr>
          <a:xfrm>
            <a:off x="838200" y="2764852"/>
            <a:ext cx="5577417" cy="502920"/>
          </a:xfrm>
        </p:spPr>
        <p:txBody>
          <a:bodyPr>
            <a:normAutofit/>
          </a:bodyPr>
          <a:lstStyle>
            <a:lvl1pPr marL="0" indent="0">
              <a:buNone/>
              <a:defRPr sz="2400" b="0" baseline="0">
                <a:latin typeface="Arial" panose="020B0604020202020204" pitchFamily="34" charset="0"/>
                <a:cs typeface="Arial" panose="020B0604020202020204" pitchFamily="34" charset="0"/>
              </a:defRPr>
            </a:lvl1pPr>
          </a:lstStyle>
          <a:p>
            <a:pPr lvl="0"/>
            <a:r>
              <a:rPr lang="en-US" dirty="0"/>
              <a:t>Click to add date</a:t>
            </a:r>
          </a:p>
        </p:txBody>
      </p:sp>
    </p:spTree>
    <p:extLst>
      <p:ext uri="{BB962C8B-B14F-4D97-AF65-F5344CB8AC3E}">
        <p14:creationId xmlns:p14="http://schemas.microsoft.com/office/powerpoint/2010/main" val="2282824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222052" y="320156"/>
            <a:ext cx="11010595" cy="1143000"/>
          </a:xfrm>
        </p:spPr>
        <p:txBody>
          <a:bodyPr/>
          <a:lstStyle>
            <a:lvl1pPr>
              <a:defRPr b="1">
                <a:latin typeface="+mj-lt"/>
              </a:defRPr>
            </a:lvl1pPr>
          </a:lstStyle>
          <a:p>
            <a:r>
              <a:rPr lang="en-US" dirty="0"/>
              <a:t>Click to add title</a:t>
            </a:r>
          </a:p>
        </p:txBody>
      </p:sp>
      <p:sp>
        <p:nvSpPr>
          <p:cNvPr id="3" name="Content Placeholder 2"/>
          <p:cNvSpPr>
            <a:spLocks noGrp="1"/>
          </p:cNvSpPr>
          <p:nvPr>
            <p:ph idx="1" hasCustomPrompt="1"/>
          </p:nvPr>
        </p:nvSpPr>
        <p:spPr>
          <a:xfrm>
            <a:off x="1222052" y="1736231"/>
            <a:ext cx="11010595" cy="3895344"/>
          </a:xfrm>
        </p:spPr>
        <p:txBody>
          <a:bodyPr/>
          <a:lstStyle>
            <a:lvl1pPr>
              <a:defRPr>
                <a:latin typeface="Arial" panose="020B0604020202020204" pitchFamily="34" charset="0"/>
                <a:cs typeface="Arial" panose="020B0604020202020204" pitchFamily="34" charset="0"/>
              </a:defRPr>
            </a:lvl1pPr>
          </a:lstStyle>
          <a:p>
            <a:pPr lvl="0"/>
            <a:r>
              <a:rPr lang="en-US" dirty="0"/>
              <a:t>Click to add text</a:t>
            </a:r>
          </a:p>
        </p:txBody>
      </p:sp>
      <p:sp>
        <p:nvSpPr>
          <p:cNvPr id="6" name="Slide Number Placeholder 5"/>
          <p:cNvSpPr>
            <a:spLocks noGrp="1"/>
          </p:cNvSpPr>
          <p:nvPr>
            <p:ph type="sldNum" sz="quarter" idx="12"/>
          </p:nvPr>
        </p:nvSpPr>
        <p:spPr>
          <a:xfrm>
            <a:off x="11325727" y="6356352"/>
            <a:ext cx="547727" cy="365125"/>
          </a:xfrm>
        </p:spPr>
        <p:txBody>
          <a:bodyPr/>
          <a:lstStyle>
            <a:lvl1pPr>
              <a:defRPr>
                <a:solidFill>
                  <a:srgbClr val="FFFFFE"/>
                </a:solidFill>
              </a:defRPr>
            </a:lvl1pPr>
          </a:lstStyle>
          <a:p>
            <a:fld id="{AD40181A-01B0-4CB8-8614-1473649F6741}" type="slidenum">
              <a:rPr lang="en-US" smtClean="0"/>
              <a:pPr/>
              <a:t>‹#›</a:t>
            </a:fld>
            <a:endParaRPr lang="en-US" dirty="0"/>
          </a:p>
        </p:txBody>
      </p:sp>
    </p:spTree>
    <p:extLst>
      <p:ext uri="{BB962C8B-B14F-4D97-AF65-F5344CB8AC3E}">
        <p14:creationId xmlns:p14="http://schemas.microsoft.com/office/powerpoint/2010/main" val="42006706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ransition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a:xfrm>
            <a:off x="11325727" y="6356352"/>
            <a:ext cx="548647" cy="365125"/>
          </a:xfrm>
        </p:spPr>
        <p:txBody>
          <a:bodyPr/>
          <a:lstStyle>
            <a:lvl1pPr>
              <a:defRPr>
                <a:solidFill>
                  <a:srgbClr val="FFFFFE"/>
                </a:solidFill>
              </a:defRPr>
            </a:lvl1pPr>
          </a:lstStyle>
          <a:p>
            <a:fld id="{AD40181A-01B0-4CB8-8614-1473649F6741}" type="slidenum">
              <a:rPr lang="en-US" smtClean="0"/>
              <a:pPr/>
              <a:t>‹#›</a:t>
            </a:fld>
            <a:endParaRPr lang="en-US" dirty="0"/>
          </a:p>
        </p:txBody>
      </p:sp>
      <p:sp>
        <p:nvSpPr>
          <p:cNvPr id="2" name="Title 1"/>
          <p:cNvSpPr>
            <a:spLocks noGrp="1"/>
          </p:cNvSpPr>
          <p:nvPr>
            <p:ph type="title" hasCustomPrompt="1"/>
          </p:nvPr>
        </p:nvSpPr>
        <p:spPr>
          <a:xfrm>
            <a:off x="1745733" y="1543930"/>
            <a:ext cx="9753600" cy="1444752"/>
          </a:xfrm>
        </p:spPr>
        <p:txBody>
          <a:bodyPr/>
          <a:lstStyle>
            <a:lvl1pPr>
              <a:defRPr b="1">
                <a:latin typeface="+mj-lt"/>
              </a:defRPr>
            </a:lvl1pPr>
          </a:lstStyle>
          <a:p>
            <a:r>
              <a:rPr lang="en-US" dirty="0"/>
              <a:t>Click to add title</a:t>
            </a:r>
          </a:p>
        </p:txBody>
      </p:sp>
    </p:spTree>
    <p:extLst>
      <p:ext uri="{BB962C8B-B14F-4D97-AF65-F5344CB8AC3E}">
        <p14:creationId xmlns:p14="http://schemas.microsoft.com/office/powerpoint/2010/main" val="5109936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Autofit/>
          </a:bodyPr>
          <a:lstStyle/>
          <a:p>
            <a:r>
              <a:rPr lang="en-US" dirty="0"/>
              <a:t>Click to add TITLE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rgbClr val="3E9CC9"/>
                </a:solidFill>
              </a:defRPr>
            </a:lvl1pPr>
          </a:lstStyle>
          <a:p>
            <a:endParaRPr lang="en-US" dirty="0"/>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rgbClr val="3E9CC9"/>
                </a:solidFill>
              </a:defRPr>
            </a:lvl1pPr>
          </a:lstStyle>
          <a:p>
            <a:endParaRPr lang="en-US" dirty="0"/>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accent3"/>
                </a:solidFill>
              </a:defRPr>
            </a:lvl1pPr>
          </a:lstStyle>
          <a:p>
            <a:fld id="{AD40181A-01B0-4CB8-8614-1473649F6741}" type="slidenum">
              <a:rPr lang="en-US" smtClean="0"/>
              <a:pPr/>
              <a:t>‹#›</a:t>
            </a:fld>
            <a:endParaRPr lang="en-US" dirty="0"/>
          </a:p>
        </p:txBody>
      </p:sp>
    </p:spTree>
    <p:extLst>
      <p:ext uri="{BB962C8B-B14F-4D97-AF65-F5344CB8AC3E}">
        <p14:creationId xmlns:p14="http://schemas.microsoft.com/office/powerpoint/2010/main" val="995964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Lst>
  <p:hf hdr="0" ftr="0" dt="0"/>
  <p:txStyles>
    <p:titleStyle>
      <a:lvl1pPr algn="l" defTabSz="914400" rtl="0" eaLnBrk="1" latinLnBrk="0" hangingPunct="1">
        <a:lnSpc>
          <a:spcPct val="90000"/>
        </a:lnSpc>
        <a:spcBef>
          <a:spcPct val="0"/>
        </a:spcBef>
        <a:buNone/>
        <a:defRPr sz="3600" b="0" i="0" kern="1200" cap="all" baseline="0">
          <a:solidFill>
            <a:srgbClr val="3E9CC9"/>
          </a:solidFill>
          <a:latin typeface="Rubrik-SemiBold"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baseline="0">
          <a:solidFill>
            <a:srgbClr val="584B3D"/>
          </a:solidFill>
          <a:latin typeface="Chronicle Text G1 Roman"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baseline="0">
          <a:solidFill>
            <a:srgbClr val="584B3D"/>
          </a:solidFill>
          <a:latin typeface="Chronicle Text G1 Roman"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baseline="0">
          <a:solidFill>
            <a:srgbClr val="584B3D"/>
          </a:solidFill>
          <a:latin typeface="Chronicle Text G1 Roman"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baseline="0">
          <a:solidFill>
            <a:srgbClr val="584B3D"/>
          </a:solidFill>
          <a:latin typeface="Chronicle Text G1 Roman"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baseline="0">
          <a:solidFill>
            <a:srgbClr val="584B3D"/>
          </a:solidFill>
          <a:latin typeface="Chronicle Text G1 Roman"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3.xml"/><Relationship Id="rId5" Type="http://schemas.openxmlformats.org/officeDocument/2006/relationships/image" Target="../media/image7.sv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3.xml"/><Relationship Id="rId5" Type="http://schemas.openxmlformats.org/officeDocument/2006/relationships/image" Target="../media/image7.sv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3.xml"/><Relationship Id="rId5" Type="http://schemas.openxmlformats.org/officeDocument/2006/relationships/image" Target="../media/image7.sv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ctrTitle"/>
          </p:nvPr>
        </p:nvSpPr>
        <p:spPr>
          <a:xfrm>
            <a:off x="0" y="0"/>
            <a:ext cx="7168896" cy="1849990"/>
          </a:xfrm>
        </p:spPr>
        <p:txBody>
          <a:bodyPr/>
          <a:lstStyle/>
          <a:p>
            <a:r>
              <a:rPr lang="en-US" sz="2400" dirty="0">
                <a:solidFill>
                  <a:schemeClr val="accent1"/>
                </a:solidFill>
              </a:rPr>
              <a:t>CANTOS: </a:t>
            </a:r>
            <a:r>
              <a:rPr lang="en-US" sz="2400" dirty="0">
                <a:solidFill>
                  <a:schemeClr val="accent1"/>
                </a:solidFill>
                <a:latin typeface="+mn-lt"/>
                <a:cs typeface="+mn-cs"/>
              </a:rPr>
              <a:t>Clinical trials Automated Nomenclature and Tumor Ontology Standardization PIPELINE</a:t>
            </a:r>
            <a:endParaRPr lang="en-US" sz="2400" dirty="0">
              <a:solidFill>
                <a:schemeClr val="accent1"/>
              </a:solidFill>
            </a:endParaRPr>
          </a:p>
        </p:txBody>
      </p:sp>
      <p:sp>
        <p:nvSpPr>
          <p:cNvPr id="5" name="Subtitle 4"/>
          <p:cNvSpPr>
            <a:spLocks noGrp="1"/>
          </p:cNvSpPr>
          <p:nvPr>
            <p:ph type="subTitle" idx="1"/>
          </p:nvPr>
        </p:nvSpPr>
        <p:spPr>
          <a:xfrm>
            <a:off x="143255" y="1965318"/>
            <a:ext cx="6723889" cy="1016027"/>
          </a:xfrm>
        </p:spPr>
        <p:txBody>
          <a:bodyPr>
            <a:normAutofit/>
          </a:bodyPr>
          <a:lstStyle/>
          <a:p>
            <a:r>
              <a:rPr lang="en-US" sz="1800" b="0" i="0" u="none" strike="noStrike" dirty="0">
                <a:solidFill>
                  <a:srgbClr val="000000"/>
                </a:solidFill>
                <a:effectLst/>
                <a:latin typeface="Times New Roman" panose="02020603050405020304" pitchFamily="18" charset="0"/>
              </a:rPr>
              <a:t>Aditya Lahiri, Sangeeta Shukla, Ben </a:t>
            </a:r>
            <a:r>
              <a:rPr lang="en-US" sz="1800" b="0" i="0" u="none" strike="noStrike" dirty="0" err="1">
                <a:solidFill>
                  <a:srgbClr val="000000"/>
                </a:solidFill>
                <a:effectLst/>
                <a:latin typeface="Times New Roman" panose="02020603050405020304" pitchFamily="18" charset="0"/>
              </a:rPr>
              <a:t>Stear</a:t>
            </a:r>
            <a:r>
              <a:rPr lang="en-US" sz="1800" b="0" i="0" u="none" strike="noStrike" dirty="0">
                <a:solidFill>
                  <a:srgbClr val="000000"/>
                </a:solidFill>
                <a:effectLst/>
                <a:latin typeface="Times New Roman" panose="02020603050405020304" pitchFamily="18" charset="0"/>
              </a:rPr>
              <a:t>, Taha Mohseni </a:t>
            </a:r>
            <a:r>
              <a:rPr lang="en-US" sz="1800" b="0" i="0" u="none" strike="noStrike" dirty="0" err="1">
                <a:solidFill>
                  <a:srgbClr val="000000"/>
                </a:solidFill>
                <a:effectLst/>
                <a:latin typeface="Times New Roman" panose="02020603050405020304" pitchFamily="18" charset="0"/>
              </a:rPr>
              <a:t>Ahooyi</a:t>
            </a:r>
            <a:r>
              <a:rPr lang="en-US" sz="1800" b="0" i="0" u="none" strike="noStrike" dirty="0">
                <a:solidFill>
                  <a:srgbClr val="000000"/>
                </a:solidFill>
                <a:effectLst/>
                <a:latin typeface="Times New Roman" panose="02020603050405020304" pitchFamily="18" charset="0"/>
              </a:rPr>
              <a:t>, Katherine Beigel, Elizabeth </a:t>
            </a:r>
            <a:r>
              <a:rPr lang="en-US" sz="1800" b="0" i="0" u="none" strike="noStrike" dirty="0" err="1">
                <a:solidFill>
                  <a:srgbClr val="000000"/>
                </a:solidFill>
                <a:effectLst/>
                <a:latin typeface="Times New Roman" panose="02020603050405020304" pitchFamily="18" charset="0"/>
              </a:rPr>
              <a:t>Margolskee</a:t>
            </a:r>
            <a:r>
              <a:rPr lang="en-US" sz="1800" b="0" i="0" u="none" strike="noStrike" dirty="0">
                <a:solidFill>
                  <a:srgbClr val="000000"/>
                </a:solidFill>
                <a:effectLst/>
                <a:latin typeface="Times New Roman" panose="02020603050405020304" pitchFamily="18" charset="0"/>
              </a:rPr>
              <a:t>, Deanne Taylor </a:t>
            </a:r>
            <a:endParaRPr lang="en-US" dirty="0"/>
          </a:p>
        </p:txBody>
      </p:sp>
      <p:sp>
        <p:nvSpPr>
          <p:cNvPr id="4" name="Slide Number Placeholder 3"/>
          <p:cNvSpPr>
            <a:spLocks noGrp="1"/>
          </p:cNvSpPr>
          <p:nvPr>
            <p:ph type="sldNum" sz="quarter" idx="12"/>
          </p:nvPr>
        </p:nvSpPr>
        <p:spPr/>
        <p:txBody>
          <a:bodyPr/>
          <a:lstStyle/>
          <a:p>
            <a:fld id="{AD40181A-01B0-4CB8-8614-1473649F6741}" type="slidenum">
              <a:rPr lang="en-US" smtClean="0"/>
              <a:t>1</a:t>
            </a:fld>
            <a:endParaRPr lang="en-US" dirty="0"/>
          </a:p>
        </p:txBody>
      </p:sp>
      <p:sp>
        <p:nvSpPr>
          <p:cNvPr id="2" name="TextBox 1"/>
          <p:cNvSpPr txBox="1"/>
          <p:nvPr/>
        </p:nvSpPr>
        <p:spPr>
          <a:xfrm>
            <a:off x="8247758" y="1780652"/>
            <a:ext cx="184666"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6828765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5984" y="-12879"/>
            <a:ext cx="10651402" cy="1143000"/>
          </a:xfrm>
        </p:spPr>
        <p:txBody>
          <a:bodyPr/>
          <a:lstStyle/>
          <a:p>
            <a:r>
              <a:rPr lang="en-US" dirty="0"/>
              <a:t>Background		</a:t>
            </a:r>
          </a:p>
        </p:txBody>
      </p:sp>
      <p:sp>
        <p:nvSpPr>
          <p:cNvPr id="4" name="Slide Number Placeholder 3"/>
          <p:cNvSpPr>
            <a:spLocks noGrp="1"/>
          </p:cNvSpPr>
          <p:nvPr>
            <p:ph type="sldNum" sz="quarter" idx="12"/>
          </p:nvPr>
        </p:nvSpPr>
        <p:spPr/>
        <p:txBody>
          <a:bodyPr/>
          <a:lstStyle/>
          <a:p>
            <a:fld id="{AD40181A-01B0-4CB8-8614-1473649F6741}" type="slidenum">
              <a:rPr lang="en-US" smtClean="0">
                <a:solidFill>
                  <a:schemeClr val="bg1"/>
                </a:solidFill>
              </a:rPr>
              <a:t>2</a:t>
            </a:fld>
            <a:endParaRPr lang="en-US" dirty="0">
              <a:solidFill>
                <a:schemeClr val="bg1"/>
              </a:solidFill>
            </a:endParaRPr>
          </a:p>
        </p:txBody>
      </p:sp>
      <p:pic>
        <p:nvPicPr>
          <p:cNvPr id="7" name="Picture 6" descr="A blue and black logo&#10;&#10;Description automatically generated">
            <a:extLst>
              <a:ext uri="{FF2B5EF4-FFF2-40B4-BE49-F238E27FC236}">
                <a16:creationId xmlns:a16="http://schemas.microsoft.com/office/drawing/2014/main" id="{AA18857C-B046-09F1-9416-720821612124}"/>
              </a:ext>
            </a:extLst>
          </p:cNvPr>
          <p:cNvPicPr>
            <a:picLocks noChangeAspect="1"/>
          </p:cNvPicPr>
          <p:nvPr/>
        </p:nvPicPr>
        <p:blipFill>
          <a:blip r:embed="rId2"/>
          <a:stretch>
            <a:fillRect/>
          </a:stretch>
        </p:blipFill>
        <p:spPr>
          <a:xfrm>
            <a:off x="395039" y="48364021"/>
            <a:ext cx="3640413" cy="2928450"/>
          </a:xfrm>
          <a:prstGeom prst="rect">
            <a:avLst/>
          </a:prstGeom>
        </p:spPr>
      </p:pic>
      <p:pic>
        <p:nvPicPr>
          <p:cNvPr id="8" name="Picture 7" descr="A blue and black logo&#10;&#10;Description automatically generated">
            <a:extLst>
              <a:ext uri="{FF2B5EF4-FFF2-40B4-BE49-F238E27FC236}">
                <a16:creationId xmlns:a16="http://schemas.microsoft.com/office/drawing/2014/main" id="{3007CFA9-434F-8970-63DB-3BEDE685070B}"/>
              </a:ext>
            </a:extLst>
          </p:cNvPr>
          <p:cNvPicPr>
            <a:picLocks noChangeAspect="1"/>
          </p:cNvPicPr>
          <p:nvPr/>
        </p:nvPicPr>
        <p:blipFill>
          <a:blip r:embed="rId2"/>
          <a:stretch>
            <a:fillRect/>
          </a:stretch>
        </p:blipFill>
        <p:spPr>
          <a:xfrm>
            <a:off x="547439" y="48516421"/>
            <a:ext cx="3640413" cy="2928450"/>
          </a:xfrm>
          <a:prstGeom prst="rect">
            <a:avLst/>
          </a:prstGeom>
        </p:spPr>
      </p:pic>
      <p:pic>
        <p:nvPicPr>
          <p:cNvPr id="9" name="Content Placeholder 8" descr="A blue and black logo&#10;&#10;Description automatically generated">
            <a:extLst>
              <a:ext uri="{FF2B5EF4-FFF2-40B4-BE49-F238E27FC236}">
                <a16:creationId xmlns:a16="http://schemas.microsoft.com/office/drawing/2014/main" id="{2F43AB81-9950-65C5-AE75-3C6ED7B101BD}"/>
              </a:ext>
            </a:extLst>
          </p:cNvPr>
          <p:cNvPicPr>
            <a:picLocks noGrp="1" noChangeAspect="1"/>
          </p:cNvPicPr>
          <p:nvPr>
            <p:ph idx="1"/>
          </p:nvPr>
        </p:nvPicPr>
        <p:blipFill>
          <a:blip r:embed="rId2"/>
          <a:stretch>
            <a:fillRect/>
          </a:stretch>
        </p:blipFill>
        <p:spPr>
          <a:xfrm>
            <a:off x="547439" y="1517867"/>
            <a:ext cx="1782457" cy="1433858"/>
          </a:xfrm>
          <a:prstGeom prst="rect">
            <a:avLst/>
          </a:prstGeom>
        </p:spPr>
      </p:pic>
      <p:sp>
        <p:nvSpPr>
          <p:cNvPr id="13" name="Rectangle 12">
            <a:extLst>
              <a:ext uri="{FF2B5EF4-FFF2-40B4-BE49-F238E27FC236}">
                <a16:creationId xmlns:a16="http://schemas.microsoft.com/office/drawing/2014/main" id="{B3B92896-E57F-5C6E-81D3-86816D039FB4}"/>
              </a:ext>
            </a:extLst>
          </p:cNvPr>
          <p:cNvSpPr/>
          <p:nvPr/>
        </p:nvSpPr>
        <p:spPr>
          <a:xfrm>
            <a:off x="3743847" y="1596510"/>
            <a:ext cx="2123552" cy="10521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Approx 500k studies, all 50 US states and 223 countries</a:t>
            </a:r>
          </a:p>
        </p:txBody>
      </p:sp>
      <p:sp>
        <p:nvSpPr>
          <p:cNvPr id="23" name="Right Arrow 22">
            <a:extLst>
              <a:ext uri="{FF2B5EF4-FFF2-40B4-BE49-F238E27FC236}">
                <a16:creationId xmlns:a16="http://schemas.microsoft.com/office/drawing/2014/main" id="{379600C1-4BE1-99D6-DA05-2F684F20672C}"/>
              </a:ext>
            </a:extLst>
          </p:cNvPr>
          <p:cNvSpPr/>
          <p:nvPr/>
        </p:nvSpPr>
        <p:spPr>
          <a:xfrm>
            <a:off x="2524124" y="182501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47288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2652D-5529-680B-A167-1C44C4A42A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510EA6-7D6C-7E19-1CD8-E54A6787B37B}"/>
              </a:ext>
            </a:extLst>
          </p:cNvPr>
          <p:cNvSpPr>
            <a:spLocks noGrp="1"/>
          </p:cNvSpPr>
          <p:nvPr>
            <p:ph type="title"/>
          </p:nvPr>
        </p:nvSpPr>
        <p:spPr>
          <a:xfrm>
            <a:off x="165984" y="-12879"/>
            <a:ext cx="10651402" cy="1143000"/>
          </a:xfrm>
        </p:spPr>
        <p:txBody>
          <a:bodyPr/>
          <a:lstStyle/>
          <a:p>
            <a:r>
              <a:rPr lang="en-US" dirty="0"/>
              <a:t>Background		</a:t>
            </a:r>
          </a:p>
        </p:txBody>
      </p:sp>
      <p:sp>
        <p:nvSpPr>
          <p:cNvPr id="4" name="Slide Number Placeholder 3">
            <a:extLst>
              <a:ext uri="{FF2B5EF4-FFF2-40B4-BE49-F238E27FC236}">
                <a16:creationId xmlns:a16="http://schemas.microsoft.com/office/drawing/2014/main" id="{9043F883-275D-4544-F0B9-E35E9067DC80}"/>
              </a:ext>
            </a:extLst>
          </p:cNvPr>
          <p:cNvSpPr>
            <a:spLocks noGrp="1"/>
          </p:cNvSpPr>
          <p:nvPr>
            <p:ph type="sldNum" sz="quarter" idx="12"/>
          </p:nvPr>
        </p:nvSpPr>
        <p:spPr/>
        <p:txBody>
          <a:bodyPr/>
          <a:lstStyle/>
          <a:p>
            <a:fld id="{AD40181A-01B0-4CB8-8614-1473649F6741}" type="slidenum">
              <a:rPr lang="en-US" smtClean="0">
                <a:solidFill>
                  <a:schemeClr val="bg1"/>
                </a:solidFill>
              </a:rPr>
              <a:t>3</a:t>
            </a:fld>
            <a:endParaRPr lang="en-US" dirty="0">
              <a:solidFill>
                <a:schemeClr val="bg1"/>
              </a:solidFill>
            </a:endParaRPr>
          </a:p>
        </p:txBody>
      </p:sp>
      <p:pic>
        <p:nvPicPr>
          <p:cNvPr id="7" name="Picture 6" descr="A blue and black logo&#10;&#10;Description automatically generated">
            <a:extLst>
              <a:ext uri="{FF2B5EF4-FFF2-40B4-BE49-F238E27FC236}">
                <a16:creationId xmlns:a16="http://schemas.microsoft.com/office/drawing/2014/main" id="{40DC8898-86B4-57BF-1948-1FEE81AD7CB1}"/>
              </a:ext>
            </a:extLst>
          </p:cNvPr>
          <p:cNvPicPr>
            <a:picLocks noChangeAspect="1"/>
          </p:cNvPicPr>
          <p:nvPr/>
        </p:nvPicPr>
        <p:blipFill>
          <a:blip r:embed="rId2"/>
          <a:stretch>
            <a:fillRect/>
          </a:stretch>
        </p:blipFill>
        <p:spPr>
          <a:xfrm>
            <a:off x="395039" y="48364021"/>
            <a:ext cx="3640413" cy="2928450"/>
          </a:xfrm>
          <a:prstGeom prst="rect">
            <a:avLst/>
          </a:prstGeom>
        </p:spPr>
      </p:pic>
      <p:pic>
        <p:nvPicPr>
          <p:cNvPr id="8" name="Picture 7" descr="A blue and black logo&#10;&#10;Description automatically generated">
            <a:extLst>
              <a:ext uri="{FF2B5EF4-FFF2-40B4-BE49-F238E27FC236}">
                <a16:creationId xmlns:a16="http://schemas.microsoft.com/office/drawing/2014/main" id="{DDAC97F1-143B-0FFF-28AB-F39804DAA7F0}"/>
              </a:ext>
            </a:extLst>
          </p:cNvPr>
          <p:cNvPicPr>
            <a:picLocks noChangeAspect="1"/>
          </p:cNvPicPr>
          <p:nvPr/>
        </p:nvPicPr>
        <p:blipFill>
          <a:blip r:embed="rId2"/>
          <a:stretch>
            <a:fillRect/>
          </a:stretch>
        </p:blipFill>
        <p:spPr>
          <a:xfrm>
            <a:off x="547439" y="48516421"/>
            <a:ext cx="3640413" cy="2928450"/>
          </a:xfrm>
          <a:prstGeom prst="rect">
            <a:avLst/>
          </a:prstGeom>
        </p:spPr>
      </p:pic>
      <p:pic>
        <p:nvPicPr>
          <p:cNvPr id="9" name="Content Placeholder 8" descr="A blue and black logo&#10;&#10;Description automatically generated">
            <a:extLst>
              <a:ext uri="{FF2B5EF4-FFF2-40B4-BE49-F238E27FC236}">
                <a16:creationId xmlns:a16="http://schemas.microsoft.com/office/drawing/2014/main" id="{8A1724EC-1264-943A-5FE8-A03AEF194515}"/>
              </a:ext>
            </a:extLst>
          </p:cNvPr>
          <p:cNvPicPr>
            <a:picLocks noGrp="1" noChangeAspect="1"/>
          </p:cNvPicPr>
          <p:nvPr>
            <p:ph idx="1"/>
          </p:nvPr>
        </p:nvPicPr>
        <p:blipFill>
          <a:blip r:embed="rId2"/>
          <a:stretch>
            <a:fillRect/>
          </a:stretch>
        </p:blipFill>
        <p:spPr>
          <a:xfrm>
            <a:off x="547439" y="1517867"/>
            <a:ext cx="1782457" cy="1433858"/>
          </a:xfrm>
          <a:prstGeom prst="rect">
            <a:avLst/>
          </a:prstGeom>
        </p:spPr>
      </p:pic>
      <p:sp>
        <p:nvSpPr>
          <p:cNvPr id="10" name="Rectangle 9">
            <a:extLst>
              <a:ext uri="{FF2B5EF4-FFF2-40B4-BE49-F238E27FC236}">
                <a16:creationId xmlns:a16="http://schemas.microsoft.com/office/drawing/2014/main" id="{DD656638-5CDC-27E2-7B42-F66CAD1B7302}"/>
              </a:ext>
            </a:extLst>
          </p:cNvPr>
          <p:cNvSpPr/>
          <p:nvPr/>
        </p:nvSpPr>
        <p:spPr>
          <a:xfrm>
            <a:off x="7322604" y="1596510"/>
            <a:ext cx="2345271" cy="10017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Drug-Disease Relationships</a:t>
            </a:r>
          </a:p>
        </p:txBody>
      </p:sp>
      <p:sp>
        <p:nvSpPr>
          <p:cNvPr id="13" name="Rectangle 12">
            <a:extLst>
              <a:ext uri="{FF2B5EF4-FFF2-40B4-BE49-F238E27FC236}">
                <a16:creationId xmlns:a16="http://schemas.microsoft.com/office/drawing/2014/main" id="{1552BA12-BCB8-162A-9F27-466BC0C5BD57}"/>
              </a:ext>
            </a:extLst>
          </p:cNvPr>
          <p:cNvSpPr/>
          <p:nvPr/>
        </p:nvSpPr>
        <p:spPr>
          <a:xfrm>
            <a:off x="3743847" y="1596510"/>
            <a:ext cx="2123552" cy="10521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Approx 500k studies, all 50 US states and 223 countries</a:t>
            </a:r>
          </a:p>
        </p:txBody>
      </p:sp>
      <p:sp>
        <p:nvSpPr>
          <p:cNvPr id="22" name="Right Arrow 21">
            <a:extLst>
              <a:ext uri="{FF2B5EF4-FFF2-40B4-BE49-F238E27FC236}">
                <a16:creationId xmlns:a16="http://schemas.microsoft.com/office/drawing/2014/main" id="{877111A2-86D6-BD1C-0EA3-959DC8F720B8}"/>
              </a:ext>
            </a:extLst>
          </p:cNvPr>
          <p:cNvSpPr/>
          <p:nvPr/>
        </p:nvSpPr>
        <p:spPr>
          <a:xfrm>
            <a:off x="6061627" y="1857673"/>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D5791DC-CF64-996C-DD47-DC43E8C1C89B}"/>
              </a:ext>
            </a:extLst>
          </p:cNvPr>
          <p:cNvSpPr/>
          <p:nvPr/>
        </p:nvSpPr>
        <p:spPr>
          <a:xfrm>
            <a:off x="2524124" y="182501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284828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9C0FB-6016-6F0F-EB3E-4B438E475F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2C9B35-B9B8-FB5A-B6AC-AFE889852AE9}"/>
              </a:ext>
            </a:extLst>
          </p:cNvPr>
          <p:cNvSpPr>
            <a:spLocks noGrp="1"/>
          </p:cNvSpPr>
          <p:nvPr>
            <p:ph type="title"/>
          </p:nvPr>
        </p:nvSpPr>
        <p:spPr>
          <a:xfrm>
            <a:off x="165984" y="-12879"/>
            <a:ext cx="10651402" cy="1143000"/>
          </a:xfrm>
        </p:spPr>
        <p:txBody>
          <a:bodyPr/>
          <a:lstStyle/>
          <a:p>
            <a:r>
              <a:rPr lang="en-US" dirty="0"/>
              <a:t>Background		</a:t>
            </a:r>
          </a:p>
        </p:txBody>
      </p:sp>
      <p:sp>
        <p:nvSpPr>
          <p:cNvPr id="4" name="Slide Number Placeholder 3">
            <a:extLst>
              <a:ext uri="{FF2B5EF4-FFF2-40B4-BE49-F238E27FC236}">
                <a16:creationId xmlns:a16="http://schemas.microsoft.com/office/drawing/2014/main" id="{B689177F-49C3-DF0A-09BB-F7255201DC99}"/>
              </a:ext>
            </a:extLst>
          </p:cNvPr>
          <p:cNvSpPr>
            <a:spLocks noGrp="1"/>
          </p:cNvSpPr>
          <p:nvPr>
            <p:ph type="sldNum" sz="quarter" idx="12"/>
          </p:nvPr>
        </p:nvSpPr>
        <p:spPr/>
        <p:txBody>
          <a:bodyPr/>
          <a:lstStyle/>
          <a:p>
            <a:fld id="{AD40181A-01B0-4CB8-8614-1473649F6741}" type="slidenum">
              <a:rPr lang="en-US" smtClean="0">
                <a:solidFill>
                  <a:schemeClr val="bg1"/>
                </a:solidFill>
              </a:rPr>
              <a:t>4</a:t>
            </a:fld>
            <a:endParaRPr lang="en-US" dirty="0">
              <a:solidFill>
                <a:schemeClr val="bg1"/>
              </a:solidFill>
            </a:endParaRPr>
          </a:p>
        </p:txBody>
      </p:sp>
      <p:pic>
        <p:nvPicPr>
          <p:cNvPr id="7" name="Picture 6" descr="A blue and black logo&#10;&#10;Description automatically generated">
            <a:extLst>
              <a:ext uri="{FF2B5EF4-FFF2-40B4-BE49-F238E27FC236}">
                <a16:creationId xmlns:a16="http://schemas.microsoft.com/office/drawing/2014/main" id="{A47F5C01-DA34-79F5-CB9E-3E6DCCF42C0C}"/>
              </a:ext>
            </a:extLst>
          </p:cNvPr>
          <p:cNvPicPr>
            <a:picLocks noChangeAspect="1"/>
          </p:cNvPicPr>
          <p:nvPr/>
        </p:nvPicPr>
        <p:blipFill>
          <a:blip r:embed="rId2"/>
          <a:stretch>
            <a:fillRect/>
          </a:stretch>
        </p:blipFill>
        <p:spPr>
          <a:xfrm>
            <a:off x="395039" y="48364021"/>
            <a:ext cx="3640413" cy="2928450"/>
          </a:xfrm>
          <a:prstGeom prst="rect">
            <a:avLst/>
          </a:prstGeom>
        </p:spPr>
      </p:pic>
      <p:pic>
        <p:nvPicPr>
          <p:cNvPr id="8" name="Picture 7" descr="A blue and black logo&#10;&#10;Description automatically generated">
            <a:extLst>
              <a:ext uri="{FF2B5EF4-FFF2-40B4-BE49-F238E27FC236}">
                <a16:creationId xmlns:a16="http://schemas.microsoft.com/office/drawing/2014/main" id="{7C17AAD4-0BBC-7EDF-DCDB-CC6D21F946CE}"/>
              </a:ext>
            </a:extLst>
          </p:cNvPr>
          <p:cNvPicPr>
            <a:picLocks noChangeAspect="1"/>
          </p:cNvPicPr>
          <p:nvPr/>
        </p:nvPicPr>
        <p:blipFill>
          <a:blip r:embed="rId2"/>
          <a:stretch>
            <a:fillRect/>
          </a:stretch>
        </p:blipFill>
        <p:spPr>
          <a:xfrm>
            <a:off x="547439" y="48516421"/>
            <a:ext cx="3640413" cy="2928450"/>
          </a:xfrm>
          <a:prstGeom prst="rect">
            <a:avLst/>
          </a:prstGeom>
        </p:spPr>
      </p:pic>
      <p:pic>
        <p:nvPicPr>
          <p:cNvPr id="9" name="Content Placeholder 8" descr="A blue and black logo&#10;&#10;Description automatically generated">
            <a:extLst>
              <a:ext uri="{FF2B5EF4-FFF2-40B4-BE49-F238E27FC236}">
                <a16:creationId xmlns:a16="http://schemas.microsoft.com/office/drawing/2014/main" id="{C9DB618C-07FF-8DC4-E3CC-A2420C3DA134}"/>
              </a:ext>
            </a:extLst>
          </p:cNvPr>
          <p:cNvPicPr>
            <a:picLocks noGrp="1" noChangeAspect="1"/>
          </p:cNvPicPr>
          <p:nvPr>
            <p:ph idx="1"/>
          </p:nvPr>
        </p:nvPicPr>
        <p:blipFill>
          <a:blip r:embed="rId2"/>
          <a:stretch>
            <a:fillRect/>
          </a:stretch>
        </p:blipFill>
        <p:spPr>
          <a:xfrm>
            <a:off x="547439" y="1517867"/>
            <a:ext cx="1782457" cy="1433858"/>
          </a:xfrm>
          <a:prstGeom prst="rect">
            <a:avLst/>
          </a:prstGeom>
        </p:spPr>
      </p:pic>
      <p:sp>
        <p:nvSpPr>
          <p:cNvPr id="10" name="Rectangle 9">
            <a:extLst>
              <a:ext uri="{FF2B5EF4-FFF2-40B4-BE49-F238E27FC236}">
                <a16:creationId xmlns:a16="http://schemas.microsoft.com/office/drawing/2014/main" id="{FC3833CC-00C9-7E9A-51E4-59643EE30BFD}"/>
              </a:ext>
            </a:extLst>
          </p:cNvPr>
          <p:cNvSpPr/>
          <p:nvPr/>
        </p:nvSpPr>
        <p:spPr>
          <a:xfrm>
            <a:off x="7322604" y="1596510"/>
            <a:ext cx="2345271" cy="10017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Drug-Disease Relationships</a:t>
            </a:r>
          </a:p>
        </p:txBody>
      </p:sp>
      <p:sp>
        <p:nvSpPr>
          <p:cNvPr id="13" name="Rectangle 12">
            <a:extLst>
              <a:ext uri="{FF2B5EF4-FFF2-40B4-BE49-F238E27FC236}">
                <a16:creationId xmlns:a16="http://schemas.microsoft.com/office/drawing/2014/main" id="{D2291399-4D19-928E-060C-7505B313DE27}"/>
              </a:ext>
            </a:extLst>
          </p:cNvPr>
          <p:cNvSpPr/>
          <p:nvPr/>
        </p:nvSpPr>
        <p:spPr>
          <a:xfrm>
            <a:off x="3743847" y="1596510"/>
            <a:ext cx="2123552" cy="10521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Approx 500k studies, all 50 US states and 223 countries</a:t>
            </a:r>
          </a:p>
        </p:txBody>
      </p:sp>
      <p:pic>
        <p:nvPicPr>
          <p:cNvPr id="15" name="Graphic 14" descr="Document outline">
            <a:extLst>
              <a:ext uri="{FF2B5EF4-FFF2-40B4-BE49-F238E27FC236}">
                <a16:creationId xmlns:a16="http://schemas.microsoft.com/office/drawing/2014/main" id="{49AE5A82-F779-1D63-60FC-7C2D62B9EE3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195382" y="3395236"/>
            <a:ext cx="914400" cy="914400"/>
          </a:xfrm>
          <a:prstGeom prst="rect">
            <a:avLst/>
          </a:prstGeom>
        </p:spPr>
      </p:pic>
      <p:pic>
        <p:nvPicPr>
          <p:cNvPr id="16" name="Graphic 15" descr="Document outline">
            <a:extLst>
              <a:ext uri="{FF2B5EF4-FFF2-40B4-BE49-F238E27FC236}">
                <a16:creationId xmlns:a16="http://schemas.microsoft.com/office/drawing/2014/main" id="{9884AF72-6ECF-62D9-ECD6-78F56086063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175805" y="3377810"/>
            <a:ext cx="914400" cy="914400"/>
          </a:xfrm>
          <a:prstGeom prst="rect">
            <a:avLst/>
          </a:prstGeom>
        </p:spPr>
      </p:pic>
      <p:sp>
        <p:nvSpPr>
          <p:cNvPr id="17" name="TextBox 16">
            <a:extLst>
              <a:ext uri="{FF2B5EF4-FFF2-40B4-BE49-F238E27FC236}">
                <a16:creationId xmlns:a16="http://schemas.microsoft.com/office/drawing/2014/main" id="{0AF9611E-21E1-21C7-6536-4B9F85B47D3E}"/>
              </a:ext>
            </a:extLst>
          </p:cNvPr>
          <p:cNvSpPr txBox="1"/>
          <p:nvPr/>
        </p:nvSpPr>
        <p:spPr>
          <a:xfrm>
            <a:off x="9175805" y="4343715"/>
            <a:ext cx="1598515" cy="369332"/>
          </a:xfrm>
          <a:prstGeom prst="rect">
            <a:avLst/>
          </a:prstGeom>
          <a:noFill/>
        </p:spPr>
        <p:txBody>
          <a:bodyPr wrap="none" rtlCol="0">
            <a:spAutoFit/>
          </a:bodyPr>
          <a:lstStyle/>
          <a:p>
            <a:r>
              <a:rPr lang="en-US" dirty="0" err="1"/>
              <a:t>conditions.txt</a:t>
            </a:r>
            <a:endParaRPr lang="en-US" dirty="0"/>
          </a:p>
        </p:txBody>
      </p:sp>
      <p:sp>
        <p:nvSpPr>
          <p:cNvPr id="19" name="TextBox 18">
            <a:extLst>
              <a:ext uri="{FF2B5EF4-FFF2-40B4-BE49-F238E27FC236}">
                <a16:creationId xmlns:a16="http://schemas.microsoft.com/office/drawing/2014/main" id="{1BE8C055-881B-3E4A-A5AF-623B32C8416A}"/>
              </a:ext>
            </a:extLst>
          </p:cNvPr>
          <p:cNvSpPr txBox="1"/>
          <p:nvPr/>
        </p:nvSpPr>
        <p:spPr>
          <a:xfrm>
            <a:off x="6777271" y="4343715"/>
            <a:ext cx="1887055" cy="369332"/>
          </a:xfrm>
          <a:prstGeom prst="rect">
            <a:avLst/>
          </a:prstGeom>
          <a:noFill/>
        </p:spPr>
        <p:txBody>
          <a:bodyPr wrap="square" rtlCol="0">
            <a:spAutoFit/>
          </a:bodyPr>
          <a:lstStyle/>
          <a:p>
            <a:r>
              <a:rPr lang="en-US" dirty="0" err="1"/>
              <a:t>interventions.txt</a:t>
            </a:r>
            <a:endParaRPr lang="en-US" dirty="0"/>
          </a:p>
        </p:txBody>
      </p:sp>
      <p:sp>
        <p:nvSpPr>
          <p:cNvPr id="22" name="Right Arrow 21">
            <a:extLst>
              <a:ext uri="{FF2B5EF4-FFF2-40B4-BE49-F238E27FC236}">
                <a16:creationId xmlns:a16="http://schemas.microsoft.com/office/drawing/2014/main" id="{C615022A-6D21-C710-823C-CCA668F88C7D}"/>
              </a:ext>
            </a:extLst>
          </p:cNvPr>
          <p:cNvSpPr/>
          <p:nvPr/>
        </p:nvSpPr>
        <p:spPr>
          <a:xfrm>
            <a:off x="6061627" y="1857673"/>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BAFB85F-CC33-935C-1B6B-8492F34F6D40}"/>
              </a:ext>
            </a:extLst>
          </p:cNvPr>
          <p:cNvSpPr/>
          <p:nvPr/>
        </p:nvSpPr>
        <p:spPr>
          <a:xfrm>
            <a:off x="2524124" y="182501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Down Arrow 23">
            <a:extLst>
              <a:ext uri="{FF2B5EF4-FFF2-40B4-BE49-F238E27FC236}">
                <a16:creationId xmlns:a16="http://schemas.microsoft.com/office/drawing/2014/main" id="{A06CBE06-71A1-9A82-031E-18DDD8E6CE15}"/>
              </a:ext>
            </a:extLst>
          </p:cNvPr>
          <p:cNvSpPr/>
          <p:nvPr/>
        </p:nvSpPr>
        <p:spPr>
          <a:xfrm>
            <a:off x="7482799" y="2738973"/>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Down Arrow 25">
            <a:extLst>
              <a:ext uri="{FF2B5EF4-FFF2-40B4-BE49-F238E27FC236}">
                <a16:creationId xmlns:a16="http://schemas.microsoft.com/office/drawing/2014/main" id="{1AF1282B-94D5-EAE4-BD50-6438B9B04157}"/>
              </a:ext>
            </a:extLst>
          </p:cNvPr>
          <p:cNvSpPr/>
          <p:nvPr/>
        </p:nvSpPr>
        <p:spPr>
          <a:xfrm>
            <a:off x="9261176" y="2699570"/>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320355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08BF6D-3FB8-90FA-4141-3CD29B4479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220A40-AED4-E4A1-01EA-264D8273E7B6}"/>
              </a:ext>
            </a:extLst>
          </p:cNvPr>
          <p:cNvSpPr>
            <a:spLocks noGrp="1"/>
          </p:cNvSpPr>
          <p:nvPr>
            <p:ph type="title"/>
          </p:nvPr>
        </p:nvSpPr>
        <p:spPr>
          <a:xfrm>
            <a:off x="165984" y="-12879"/>
            <a:ext cx="10651402" cy="1143000"/>
          </a:xfrm>
        </p:spPr>
        <p:txBody>
          <a:bodyPr/>
          <a:lstStyle/>
          <a:p>
            <a:r>
              <a:rPr lang="en-US" dirty="0"/>
              <a:t>Background		</a:t>
            </a:r>
          </a:p>
        </p:txBody>
      </p:sp>
      <p:sp>
        <p:nvSpPr>
          <p:cNvPr id="4" name="Slide Number Placeholder 3">
            <a:extLst>
              <a:ext uri="{FF2B5EF4-FFF2-40B4-BE49-F238E27FC236}">
                <a16:creationId xmlns:a16="http://schemas.microsoft.com/office/drawing/2014/main" id="{CFF0B9FA-34FC-82EF-09AE-B01ED83114EB}"/>
              </a:ext>
            </a:extLst>
          </p:cNvPr>
          <p:cNvSpPr>
            <a:spLocks noGrp="1"/>
          </p:cNvSpPr>
          <p:nvPr>
            <p:ph type="sldNum" sz="quarter" idx="12"/>
          </p:nvPr>
        </p:nvSpPr>
        <p:spPr/>
        <p:txBody>
          <a:bodyPr/>
          <a:lstStyle/>
          <a:p>
            <a:fld id="{AD40181A-01B0-4CB8-8614-1473649F6741}" type="slidenum">
              <a:rPr lang="en-US" smtClean="0">
                <a:solidFill>
                  <a:schemeClr val="bg1"/>
                </a:solidFill>
              </a:rPr>
              <a:t>5</a:t>
            </a:fld>
            <a:endParaRPr lang="en-US" dirty="0">
              <a:solidFill>
                <a:schemeClr val="bg1"/>
              </a:solidFill>
            </a:endParaRPr>
          </a:p>
        </p:txBody>
      </p:sp>
      <p:pic>
        <p:nvPicPr>
          <p:cNvPr id="7" name="Picture 6" descr="A blue and black logo&#10;&#10;Description automatically generated">
            <a:extLst>
              <a:ext uri="{FF2B5EF4-FFF2-40B4-BE49-F238E27FC236}">
                <a16:creationId xmlns:a16="http://schemas.microsoft.com/office/drawing/2014/main" id="{D63BD362-5AED-C364-624A-40906A8FFA6B}"/>
              </a:ext>
            </a:extLst>
          </p:cNvPr>
          <p:cNvPicPr>
            <a:picLocks noChangeAspect="1"/>
          </p:cNvPicPr>
          <p:nvPr/>
        </p:nvPicPr>
        <p:blipFill>
          <a:blip r:embed="rId2"/>
          <a:stretch>
            <a:fillRect/>
          </a:stretch>
        </p:blipFill>
        <p:spPr>
          <a:xfrm>
            <a:off x="395039" y="48364021"/>
            <a:ext cx="3640413" cy="2928450"/>
          </a:xfrm>
          <a:prstGeom prst="rect">
            <a:avLst/>
          </a:prstGeom>
        </p:spPr>
      </p:pic>
      <p:pic>
        <p:nvPicPr>
          <p:cNvPr id="8" name="Picture 7" descr="A blue and black logo&#10;&#10;Description automatically generated">
            <a:extLst>
              <a:ext uri="{FF2B5EF4-FFF2-40B4-BE49-F238E27FC236}">
                <a16:creationId xmlns:a16="http://schemas.microsoft.com/office/drawing/2014/main" id="{8497C344-3249-D0DD-C4A2-A8077B66C7E7}"/>
              </a:ext>
            </a:extLst>
          </p:cNvPr>
          <p:cNvPicPr>
            <a:picLocks noChangeAspect="1"/>
          </p:cNvPicPr>
          <p:nvPr/>
        </p:nvPicPr>
        <p:blipFill>
          <a:blip r:embed="rId2"/>
          <a:stretch>
            <a:fillRect/>
          </a:stretch>
        </p:blipFill>
        <p:spPr>
          <a:xfrm>
            <a:off x="547439" y="48516421"/>
            <a:ext cx="3640413" cy="2928450"/>
          </a:xfrm>
          <a:prstGeom prst="rect">
            <a:avLst/>
          </a:prstGeom>
        </p:spPr>
      </p:pic>
      <p:pic>
        <p:nvPicPr>
          <p:cNvPr id="9" name="Content Placeholder 8" descr="A blue and black logo&#10;&#10;Description automatically generated">
            <a:extLst>
              <a:ext uri="{FF2B5EF4-FFF2-40B4-BE49-F238E27FC236}">
                <a16:creationId xmlns:a16="http://schemas.microsoft.com/office/drawing/2014/main" id="{C544F9AE-89A5-3A9D-F314-F823395F98A6}"/>
              </a:ext>
            </a:extLst>
          </p:cNvPr>
          <p:cNvPicPr>
            <a:picLocks noGrp="1" noChangeAspect="1"/>
          </p:cNvPicPr>
          <p:nvPr>
            <p:ph idx="1"/>
          </p:nvPr>
        </p:nvPicPr>
        <p:blipFill>
          <a:blip r:embed="rId2"/>
          <a:stretch>
            <a:fillRect/>
          </a:stretch>
        </p:blipFill>
        <p:spPr>
          <a:xfrm>
            <a:off x="547439" y="1517867"/>
            <a:ext cx="1782457" cy="1433858"/>
          </a:xfrm>
          <a:prstGeom prst="rect">
            <a:avLst/>
          </a:prstGeom>
        </p:spPr>
      </p:pic>
      <p:sp>
        <p:nvSpPr>
          <p:cNvPr id="10" name="Rectangle 9">
            <a:extLst>
              <a:ext uri="{FF2B5EF4-FFF2-40B4-BE49-F238E27FC236}">
                <a16:creationId xmlns:a16="http://schemas.microsoft.com/office/drawing/2014/main" id="{5A7229DE-3FD2-E978-17A2-29C130CB899B}"/>
              </a:ext>
            </a:extLst>
          </p:cNvPr>
          <p:cNvSpPr/>
          <p:nvPr/>
        </p:nvSpPr>
        <p:spPr>
          <a:xfrm>
            <a:off x="7322604" y="1596510"/>
            <a:ext cx="2345271" cy="10017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Drug-Disease Relationships</a:t>
            </a:r>
          </a:p>
        </p:txBody>
      </p:sp>
      <p:sp>
        <p:nvSpPr>
          <p:cNvPr id="13" name="Rectangle 12">
            <a:extLst>
              <a:ext uri="{FF2B5EF4-FFF2-40B4-BE49-F238E27FC236}">
                <a16:creationId xmlns:a16="http://schemas.microsoft.com/office/drawing/2014/main" id="{F47E2FB5-CF89-06C0-D04B-A15A3CAFADA4}"/>
              </a:ext>
            </a:extLst>
          </p:cNvPr>
          <p:cNvSpPr/>
          <p:nvPr/>
        </p:nvSpPr>
        <p:spPr>
          <a:xfrm>
            <a:off x="3743847" y="1596510"/>
            <a:ext cx="2123552" cy="10521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Approx 500k studies, all 50 US states and 223 countries</a:t>
            </a:r>
          </a:p>
        </p:txBody>
      </p:sp>
      <p:pic>
        <p:nvPicPr>
          <p:cNvPr id="15" name="Graphic 14" descr="Document outline">
            <a:extLst>
              <a:ext uri="{FF2B5EF4-FFF2-40B4-BE49-F238E27FC236}">
                <a16:creationId xmlns:a16="http://schemas.microsoft.com/office/drawing/2014/main" id="{8D7507A1-E35C-F63B-4A00-DB3A52AC5A2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195382" y="3395236"/>
            <a:ext cx="914400" cy="914400"/>
          </a:xfrm>
          <a:prstGeom prst="rect">
            <a:avLst/>
          </a:prstGeom>
        </p:spPr>
      </p:pic>
      <p:pic>
        <p:nvPicPr>
          <p:cNvPr id="16" name="Graphic 15" descr="Document outline">
            <a:extLst>
              <a:ext uri="{FF2B5EF4-FFF2-40B4-BE49-F238E27FC236}">
                <a16:creationId xmlns:a16="http://schemas.microsoft.com/office/drawing/2014/main" id="{9AD80547-62CB-C387-5F6C-EA1FB84A255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175805" y="3377810"/>
            <a:ext cx="914400" cy="914400"/>
          </a:xfrm>
          <a:prstGeom prst="rect">
            <a:avLst/>
          </a:prstGeom>
        </p:spPr>
      </p:pic>
      <p:sp>
        <p:nvSpPr>
          <p:cNvPr id="17" name="TextBox 16">
            <a:extLst>
              <a:ext uri="{FF2B5EF4-FFF2-40B4-BE49-F238E27FC236}">
                <a16:creationId xmlns:a16="http://schemas.microsoft.com/office/drawing/2014/main" id="{10C10235-7C96-47E0-6762-0ED491BA63B9}"/>
              </a:ext>
            </a:extLst>
          </p:cNvPr>
          <p:cNvSpPr txBox="1"/>
          <p:nvPr/>
        </p:nvSpPr>
        <p:spPr>
          <a:xfrm>
            <a:off x="9175805" y="4343715"/>
            <a:ext cx="1598515" cy="369332"/>
          </a:xfrm>
          <a:prstGeom prst="rect">
            <a:avLst/>
          </a:prstGeom>
          <a:noFill/>
        </p:spPr>
        <p:txBody>
          <a:bodyPr wrap="none" rtlCol="0">
            <a:spAutoFit/>
          </a:bodyPr>
          <a:lstStyle/>
          <a:p>
            <a:r>
              <a:rPr lang="en-US" dirty="0" err="1"/>
              <a:t>conditions.txt</a:t>
            </a:r>
            <a:endParaRPr lang="en-US" dirty="0"/>
          </a:p>
        </p:txBody>
      </p:sp>
      <p:sp>
        <p:nvSpPr>
          <p:cNvPr id="19" name="TextBox 18">
            <a:extLst>
              <a:ext uri="{FF2B5EF4-FFF2-40B4-BE49-F238E27FC236}">
                <a16:creationId xmlns:a16="http://schemas.microsoft.com/office/drawing/2014/main" id="{5A4812B3-4259-0897-3B4F-EB88DBBF3093}"/>
              </a:ext>
            </a:extLst>
          </p:cNvPr>
          <p:cNvSpPr txBox="1"/>
          <p:nvPr/>
        </p:nvSpPr>
        <p:spPr>
          <a:xfrm>
            <a:off x="6777271" y="4343715"/>
            <a:ext cx="1887055" cy="369332"/>
          </a:xfrm>
          <a:prstGeom prst="rect">
            <a:avLst/>
          </a:prstGeom>
          <a:noFill/>
        </p:spPr>
        <p:txBody>
          <a:bodyPr wrap="square" rtlCol="0">
            <a:spAutoFit/>
          </a:bodyPr>
          <a:lstStyle/>
          <a:p>
            <a:r>
              <a:rPr lang="en-US" dirty="0" err="1"/>
              <a:t>interventions.txt</a:t>
            </a:r>
            <a:endParaRPr lang="en-US" dirty="0"/>
          </a:p>
        </p:txBody>
      </p:sp>
      <p:sp>
        <p:nvSpPr>
          <p:cNvPr id="22" name="Right Arrow 21">
            <a:extLst>
              <a:ext uri="{FF2B5EF4-FFF2-40B4-BE49-F238E27FC236}">
                <a16:creationId xmlns:a16="http://schemas.microsoft.com/office/drawing/2014/main" id="{8E28767B-45ED-C362-32C4-169FCF4F21B3}"/>
              </a:ext>
            </a:extLst>
          </p:cNvPr>
          <p:cNvSpPr/>
          <p:nvPr/>
        </p:nvSpPr>
        <p:spPr>
          <a:xfrm>
            <a:off x="6061627" y="1857673"/>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3654F060-6E8A-1D0A-E818-9B123E78C5C0}"/>
              </a:ext>
            </a:extLst>
          </p:cNvPr>
          <p:cNvSpPr/>
          <p:nvPr/>
        </p:nvSpPr>
        <p:spPr>
          <a:xfrm>
            <a:off x="2524124" y="182501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Down Arrow 23">
            <a:extLst>
              <a:ext uri="{FF2B5EF4-FFF2-40B4-BE49-F238E27FC236}">
                <a16:creationId xmlns:a16="http://schemas.microsoft.com/office/drawing/2014/main" id="{F0A84076-01BC-8A90-4D91-34DBC1C808D6}"/>
              </a:ext>
            </a:extLst>
          </p:cNvPr>
          <p:cNvSpPr/>
          <p:nvPr/>
        </p:nvSpPr>
        <p:spPr>
          <a:xfrm>
            <a:off x="7482799" y="2738973"/>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Left-Right Arrow 24">
            <a:extLst>
              <a:ext uri="{FF2B5EF4-FFF2-40B4-BE49-F238E27FC236}">
                <a16:creationId xmlns:a16="http://schemas.microsoft.com/office/drawing/2014/main" id="{CB42DA62-D4C0-D004-92A7-E0137DA777DF}"/>
              </a:ext>
            </a:extLst>
          </p:cNvPr>
          <p:cNvSpPr/>
          <p:nvPr/>
        </p:nvSpPr>
        <p:spPr>
          <a:xfrm>
            <a:off x="8043214" y="3554320"/>
            <a:ext cx="1175657" cy="457200"/>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Down Arrow 25">
            <a:extLst>
              <a:ext uri="{FF2B5EF4-FFF2-40B4-BE49-F238E27FC236}">
                <a16:creationId xmlns:a16="http://schemas.microsoft.com/office/drawing/2014/main" id="{ACDA329E-BDF2-2F24-CF1E-96E0A8EA33C9}"/>
              </a:ext>
            </a:extLst>
          </p:cNvPr>
          <p:cNvSpPr/>
          <p:nvPr/>
        </p:nvSpPr>
        <p:spPr>
          <a:xfrm>
            <a:off x="9261176" y="2699570"/>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21DD0282-8814-22A4-9728-6E528C8EBCC9}"/>
              </a:ext>
            </a:extLst>
          </p:cNvPr>
          <p:cNvSpPr txBox="1"/>
          <p:nvPr/>
        </p:nvSpPr>
        <p:spPr>
          <a:xfrm>
            <a:off x="8175210" y="3254538"/>
            <a:ext cx="1000595" cy="369332"/>
          </a:xfrm>
          <a:prstGeom prst="rect">
            <a:avLst/>
          </a:prstGeom>
          <a:noFill/>
        </p:spPr>
        <p:txBody>
          <a:bodyPr wrap="none" rtlCol="0">
            <a:spAutoFit/>
          </a:bodyPr>
          <a:lstStyle/>
          <a:p>
            <a:r>
              <a:rPr lang="en-US" dirty="0"/>
              <a:t>NCT-ID</a:t>
            </a:r>
          </a:p>
        </p:txBody>
      </p:sp>
    </p:spTree>
    <p:extLst>
      <p:ext uri="{BB962C8B-B14F-4D97-AF65-F5344CB8AC3E}">
        <p14:creationId xmlns:p14="http://schemas.microsoft.com/office/powerpoint/2010/main" val="742687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A00A5F-458B-B24E-E0B7-C65E2AC772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AC8C67-29C8-EA43-6689-5B7F972B2F06}"/>
              </a:ext>
            </a:extLst>
          </p:cNvPr>
          <p:cNvSpPr>
            <a:spLocks noGrp="1"/>
          </p:cNvSpPr>
          <p:nvPr>
            <p:ph type="title"/>
          </p:nvPr>
        </p:nvSpPr>
        <p:spPr>
          <a:xfrm>
            <a:off x="165984" y="-12879"/>
            <a:ext cx="10651402" cy="1143000"/>
          </a:xfrm>
        </p:spPr>
        <p:txBody>
          <a:bodyPr/>
          <a:lstStyle/>
          <a:p>
            <a:r>
              <a:rPr lang="en-US" dirty="0"/>
              <a:t>Background		</a:t>
            </a:r>
          </a:p>
        </p:txBody>
      </p:sp>
      <p:sp>
        <p:nvSpPr>
          <p:cNvPr id="4" name="Slide Number Placeholder 3">
            <a:extLst>
              <a:ext uri="{FF2B5EF4-FFF2-40B4-BE49-F238E27FC236}">
                <a16:creationId xmlns:a16="http://schemas.microsoft.com/office/drawing/2014/main" id="{5F7CCCEA-AE59-D3A6-CB52-199E43F54A92}"/>
              </a:ext>
            </a:extLst>
          </p:cNvPr>
          <p:cNvSpPr>
            <a:spLocks noGrp="1"/>
          </p:cNvSpPr>
          <p:nvPr>
            <p:ph type="sldNum" sz="quarter" idx="12"/>
          </p:nvPr>
        </p:nvSpPr>
        <p:spPr/>
        <p:txBody>
          <a:bodyPr/>
          <a:lstStyle/>
          <a:p>
            <a:fld id="{AD40181A-01B0-4CB8-8614-1473649F6741}" type="slidenum">
              <a:rPr lang="en-US" smtClean="0">
                <a:solidFill>
                  <a:schemeClr val="bg1"/>
                </a:solidFill>
              </a:rPr>
              <a:t>6</a:t>
            </a:fld>
            <a:endParaRPr lang="en-US" dirty="0">
              <a:solidFill>
                <a:schemeClr val="bg1"/>
              </a:solidFill>
            </a:endParaRPr>
          </a:p>
        </p:txBody>
      </p:sp>
      <p:pic>
        <p:nvPicPr>
          <p:cNvPr id="7" name="Picture 6" descr="A blue and black logo&#10;&#10;Description automatically generated">
            <a:extLst>
              <a:ext uri="{FF2B5EF4-FFF2-40B4-BE49-F238E27FC236}">
                <a16:creationId xmlns:a16="http://schemas.microsoft.com/office/drawing/2014/main" id="{A6EDB998-68E1-AD17-716A-78FAED898F7A}"/>
              </a:ext>
            </a:extLst>
          </p:cNvPr>
          <p:cNvPicPr>
            <a:picLocks noChangeAspect="1"/>
          </p:cNvPicPr>
          <p:nvPr/>
        </p:nvPicPr>
        <p:blipFill>
          <a:blip r:embed="rId2"/>
          <a:stretch>
            <a:fillRect/>
          </a:stretch>
        </p:blipFill>
        <p:spPr>
          <a:xfrm>
            <a:off x="395039" y="48364021"/>
            <a:ext cx="3640413" cy="2928450"/>
          </a:xfrm>
          <a:prstGeom prst="rect">
            <a:avLst/>
          </a:prstGeom>
        </p:spPr>
      </p:pic>
      <p:pic>
        <p:nvPicPr>
          <p:cNvPr id="8" name="Picture 7" descr="A blue and black logo&#10;&#10;Description automatically generated">
            <a:extLst>
              <a:ext uri="{FF2B5EF4-FFF2-40B4-BE49-F238E27FC236}">
                <a16:creationId xmlns:a16="http://schemas.microsoft.com/office/drawing/2014/main" id="{C5B46770-B05D-D544-EBA1-BA836127AA2A}"/>
              </a:ext>
            </a:extLst>
          </p:cNvPr>
          <p:cNvPicPr>
            <a:picLocks noChangeAspect="1"/>
          </p:cNvPicPr>
          <p:nvPr/>
        </p:nvPicPr>
        <p:blipFill>
          <a:blip r:embed="rId2"/>
          <a:stretch>
            <a:fillRect/>
          </a:stretch>
        </p:blipFill>
        <p:spPr>
          <a:xfrm>
            <a:off x="547439" y="48516421"/>
            <a:ext cx="3640413" cy="2928450"/>
          </a:xfrm>
          <a:prstGeom prst="rect">
            <a:avLst/>
          </a:prstGeom>
        </p:spPr>
      </p:pic>
      <p:pic>
        <p:nvPicPr>
          <p:cNvPr id="9" name="Content Placeholder 8" descr="A blue and black logo&#10;&#10;Description automatically generated">
            <a:extLst>
              <a:ext uri="{FF2B5EF4-FFF2-40B4-BE49-F238E27FC236}">
                <a16:creationId xmlns:a16="http://schemas.microsoft.com/office/drawing/2014/main" id="{2B68742D-1F7E-9CD1-6BA4-7DD7BC91FC9F}"/>
              </a:ext>
            </a:extLst>
          </p:cNvPr>
          <p:cNvPicPr>
            <a:picLocks noGrp="1" noChangeAspect="1"/>
          </p:cNvPicPr>
          <p:nvPr>
            <p:ph idx="1"/>
          </p:nvPr>
        </p:nvPicPr>
        <p:blipFill>
          <a:blip r:embed="rId2"/>
          <a:stretch>
            <a:fillRect/>
          </a:stretch>
        </p:blipFill>
        <p:spPr>
          <a:xfrm>
            <a:off x="547439" y="1517867"/>
            <a:ext cx="1782457" cy="1433858"/>
          </a:xfrm>
          <a:prstGeom prst="rect">
            <a:avLst/>
          </a:prstGeom>
        </p:spPr>
      </p:pic>
      <p:sp>
        <p:nvSpPr>
          <p:cNvPr id="10" name="Rectangle 9">
            <a:extLst>
              <a:ext uri="{FF2B5EF4-FFF2-40B4-BE49-F238E27FC236}">
                <a16:creationId xmlns:a16="http://schemas.microsoft.com/office/drawing/2014/main" id="{6245BBB5-4661-7EC5-62C2-3AD7E197C4B0}"/>
              </a:ext>
            </a:extLst>
          </p:cNvPr>
          <p:cNvSpPr/>
          <p:nvPr/>
        </p:nvSpPr>
        <p:spPr>
          <a:xfrm>
            <a:off x="7322604" y="1596510"/>
            <a:ext cx="2345271" cy="10017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Drug-Disease Relationships</a:t>
            </a:r>
          </a:p>
        </p:txBody>
      </p:sp>
      <p:sp>
        <p:nvSpPr>
          <p:cNvPr id="13" name="Rectangle 12">
            <a:extLst>
              <a:ext uri="{FF2B5EF4-FFF2-40B4-BE49-F238E27FC236}">
                <a16:creationId xmlns:a16="http://schemas.microsoft.com/office/drawing/2014/main" id="{C130E80D-F761-C46B-0B74-D83E0D4D6F45}"/>
              </a:ext>
            </a:extLst>
          </p:cNvPr>
          <p:cNvSpPr/>
          <p:nvPr/>
        </p:nvSpPr>
        <p:spPr>
          <a:xfrm>
            <a:off x="3743847" y="1596510"/>
            <a:ext cx="2123552" cy="10521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Approx 500k studies, all 50 US states and 223 countries</a:t>
            </a:r>
          </a:p>
        </p:txBody>
      </p:sp>
      <p:pic>
        <p:nvPicPr>
          <p:cNvPr id="15" name="Graphic 14" descr="Document outline">
            <a:extLst>
              <a:ext uri="{FF2B5EF4-FFF2-40B4-BE49-F238E27FC236}">
                <a16:creationId xmlns:a16="http://schemas.microsoft.com/office/drawing/2014/main" id="{D9813EFA-86CD-823E-3D84-28C37F21B6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195382" y="3395236"/>
            <a:ext cx="914400" cy="914400"/>
          </a:xfrm>
          <a:prstGeom prst="rect">
            <a:avLst/>
          </a:prstGeom>
        </p:spPr>
      </p:pic>
      <p:pic>
        <p:nvPicPr>
          <p:cNvPr id="16" name="Graphic 15" descr="Document outline">
            <a:extLst>
              <a:ext uri="{FF2B5EF4-FFF2-40B4-BE49-F238E27FC236}">
                <a16:creationId xmlns:a16="http://schemas.microsoft.com/office/drawing/2014/main" id="{55446897-A0ED-1E2C-0F08-6C2D4BE10E2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175805" y="3377810"/>
            <a:ext cx="914400" cy="914400"/>
          </a:xfrm>
          <a:prstGeom prst="rect">
            <a:avLst/>
          </a:prstGeom>
        </p:spPr>
      </p:pic>
      <p:sp>
        <p:nvSpPr>
          <p:cNvPr id="17" name="TextBox 16">
            <a:extLst>
              <a:ext uri="{FF2B5EF4-FFF2-40B4-BE49-F238E27FC236}">
                <a16:creationId xmlns:a16="http://schemas.microsoft.com/office/drawing/2014/main" id="{D834A011-45D1-4ABC-8A32-8A00898C8A8A}"/>
              </a:ext>
            </a:extLst>
          </p:cNvPr>
          <p:cNvSpPr txBox="1"/>
          <p:nvPr/>
        </p:nvSpPr>
        <p:spPr>
          <a:xfrm>
            <a:off x="9175805" y="4343715"/>
            <a:ext cx="1598515" cy="369332"/>
          </a:xfrm>
          <a:prstGeom prst="rect">
            <a:avLst/>
          </a:prstGeom>
          <a:noFill/>
        </p:spPr>
        <p:txBody>
          <a:bodyPr wrap="none" rtlCol="0">
            <a:spAutoFit/>
          </a:bodyPr>
          <a:lstStyle/>
          <a:p>
            <a:r>
              <a:rPr lang="en-US" dirty="0" err="1"/>
              <a:t>conditions.txt</a:t>
            </a:r>
            <a:endParaRPr lang="en-US" dirty="0"/>
          </a:p>
        </p:txBody>
      </p:sp>
      <p:sp>
        <p:nvSpPr>
          <p:cNvPr id="19" name="TextBox 18">
            <a:extLst>
              <a:ext uri="{FF2B5EF4-FFF2-40B4-BE49-F238E27FC236}">
                <a16:creationId xmlns:a16="http://schemas.microsoft.com/office/drawing/2014/main" id="{76356B19-6B3F-7B2F-7558-4A06C6A26305}"/>
              </a:ext>
            </a:extLst>
          </p:cNvPr>
          <p:cNvSpPr txBox="1"/>
          <p:nvPr/>
        </p:nvSpPr>
        <p:spPr>
          <a:xfrm>
            <a:off x="6777271" y="4343715"/>
            <a:ext cx="1887055" cy="369332"/>
          </a:xfrm>
          <a:prstGeom prst="rect">
            <a:avLst/>
          </a:prstGeom>
          <a:noFill/>
        </p:spPr>
        <p:txBody>
          <a:bodyPr wrap="square" rtlCol="0">
            <a:spAutoFit/>
          </a:bodyPr>
          <a:lstStyle/>
          <a:p>
            <a:r>
              <a:rPr lang="en-US" dirty="0" err="1"/>
              <a:t>interventions.txt</a:t>
            </a:r>
            <a:endParaRPr lang="en-US" dirty="0"/>
          </a:p>
        </p:txBody>
      </p:sp>
      <p:sp>
        <p:nvSpPr>
          <p:cNvPr id="22" name="Right Arrow 21">
            <a:extLst>
              <a:ext uri="{FF2B5EF4-FFF2-40B4-BE49-F238E27FC236}">
                <a16:creationId xmlns:a16="http://schemas.microsoft.com/office/drawing/2014/main" id="{883A785D-3ED7-645C-5D7B-5ED5E9EC15B7}"/>
              </a:ext>
            </a:extLst>
          </p:cNvPr>
          <p:cNvSpPr/>
          <p:nvPr/>
        </p:nvSpPr>
        <p:spPr>
          <a:xfrm>
            <a:off x="6061627" y="1857673"/>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4FFC6DBB-025C-FFDB-6CF7-190EC5E3073D}"/>
              </a:ext>
            </a:extLst>
          </p:cNvPr>
          <p:cNvSpPr/>
          <p:nvPr/>
        </p:nvSpPr>
        <p:spPr>
          <a:xfrm>
            <a:off x="2524124" y="182501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Down Arrow 23">
            <a:extLst>
              <a:ext uri="{FF2B5EF4-FFF2-40B4-BE49-F238E27FC236}">
                <a16:creationId xmlns:a16="http://schemas.microsoft.com/office/drawing/2014/main" id="{06CF1118-B838-CDEF-F620-D15A3D1288E8}"/>
              </a:ext>
            </a:extLst>
          </p:cNvPr>
          <p:cNvSpPr/>
          <p:nvPr/>
        </p:nvSpPr>
        <p:spPr>
          <a:xfrm>
            <a:off x="7482799" y="2738973"/>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Left-Right Arrow 24">
            <a:extLst>
              <a:ext uri="{FF2B5EF4-FFF2-40B4-BE49-F238E27FC236}">
                <a16:creationId xmlns:a16="http://schemas.microsoft.com/office/drawing/2014/main" id="{70096815-009D-BEF4-DCB6-E8F9D649D0AE}"/>
              </a:ext>
            </a:extLst>
          </p:cNvPr>
          <p:cNvSpPr/>
          <p:nvPr/>
        </p:nvSpPr>
        <p:spPr>
          <a:xfrm>
            <a:off x="8043214" y="3554320"/>
            <a:ext cx="1175657" cy="457200"/>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Down Arrow 25">
            <a:extLst>
              <a:ext uri="{FF2B5EF4-FFF2-40B4-BE49-F238E27FC236}">
                <a16:creationId xmlns:a16="http://schemas.microsoft.com/office/drawing/2014/main" id="{B71E8DA3-F389-9793-F689-9B21E8ECEEB2}"/>
              </a:ext>
            </a:extLst>
          </p:cNvPr>
          <p:cNvSpPr/>
          <p:nvPr/>
        </p:nvSpPr>
        <p:spPr>
          <a:xfrm>
            <a:off x="9261176" y="2699570"/>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7FCF9D19-5B91-8E26-D5FC-EC12367CB2B8}"/>
              </a:ext>
            </a:extLst>
          </p:cNvPr>
          <p:cNvSpPr txBox="1"/>
          <p:nvPr/>
        </p:nvSpPr>
        <p:spPr>
          <a:xfrm>
            <a:off x="8175210" y="3254538"/>
            <a:ext cx="1000595" cy="369332"/>
          </a:xfrm>
          <a:prstGeom prst="rect">
            <a:avLst/>
          </a:prstGeom>
          <a:noFill/>
        </p:spPr>
        <p:txBody>
          <a:bodyPr wrap="none" rtlCol="0">
            <a:spAutoFit/>
          </a:bodyPr>
          <a:lstStyle/>
          <a:p>
            <a:r>
              <a:rPr lang="en-US" dirty="0"/>
              <a:t>NCT-ID</a:t>
            </a:r>
          </a:p>
        </p:txBody>
      </p:sp>
      <p:sp>
        <p:nvSpPr>
          <p:cNvPr id="11" name="TextBox 10">
            <a:extLst>
              <a:ext uri="{FF2B5EF4-FFF2-40B4-BE49-F238E27FC236}">
                <a16:creationId xmlns:a16="http://schemas.microsoft.com/office/drawing/2014/main" id="{574E9C16-68E9-B059-7BAB-8D0153960D46}"/>
              </a:ext>
            </a:extLst>
          </p:cNvPr>
          <p:cNvSpPr txBox="1"/>
          <p:nvPr/>
        </p:nvSpPr>
        <p:spPr>
          <a:xfrm>
            <a:off x="547439" y="4863349"/>
            <a:ext cx="11176475" cy="1200329"/>
          </a:xfrm>
          <a:prstGeom prst="rect">
            <a:avLst/>
          </a:prstGeom>
          <a:noFill/>
        </p:spPr>
        <p:txBody>
          <a:bodyPr wrap="square" rtlCol="0">
            <a:spAutoFit/>
          </a:bodyPr>
          <a:lstStyle/>
          <a:p>
            <a:pPr algn="just"/>
            <a:r>
              <a:rPr lang="en-US" dirty="0"/>
              <a:t>Challenge: disease names, including tumor names in clinical trials registry  contain extraneous information, typographical errors, missing values, non-standard nomenclature and other inconsistencies which create barriers for data integration and downstream analysis of the CTR data.</a:t>
            </a:r>
          </a:p>
          <a:p>
            <a:endParaRPr lang="en-US" dirty="0"/>
          </a:p>
        </p:txBody>
      </p:sp>
    </p:spTree>
    <p:extLst>
      <p:ext uri="{BB962C8B-B14F-4D97-AF65-F5344CB8AC3E}">
        <p14:creationId xmlns:p14="http://schemas.microsoft.com/office/powerpoint/2010/main" val="12402832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A0BC4-226F-1C7E-C03F-DB4EDB8B0F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E62623-4BFD-F401-CF0F-6BA335860E7F}"/>
              </a:ext>
            </a:extLst>
          </p:cNvPr>
          <p:cNvSpPr>
            <a:spLocks noGrp="1"/>
          </p:cNvSpPr>
          <p:nvPr>
            <p:ph type="title"/>
          </p:nvPr>
        </p:nvSpPr>
        <p:spPr>
          <a:xfrm>
            <a:off x="87086" y="21771"/>
            <a:ext cx="10651402" cy="1143000"/>
          </a:xfrm>
        </p:spPr>
        <p:txBody>
          <a:bodyPr/>
          <a:lstStyle/>
          <a:p>
            <a:r>
              <a:rPr lang="en-US" dirty="0"/>
              <a:t>Tumor Name Standardization		</a:t>
            </a:r>
          </a:p>
        </p:txBody>
      </p:sp>
      <p:sp>
        <p:nvSpPr>
          <p:cNvPr id="3" name="Content Placeholder 2">
            <a:extLst>
              <a:ext uri="{FF2B5EF4-FFF2-40B4-BE49-F238E27FC236}">
                <a16:creationId xmlns:a16="http://schemas.microsoft.com/office/drawing/2014/main" id="{74DAA777-9AE5-7322-5281-E39DFE489E1E}"/>
              </a:ext>
            </a:extLst>
          </p:cNvPr>
          <p:cNvSpPr>
            <a:spLocks noGrp="1"/>
          </p:cNvSpPr>
          <p:nvPr>
            <p:ph idx="1"/>
          </p:nvPr>
        </p:nvSpPr>
        <p:spPr>
          <a:xfrm>
            <a:off x="179670" y="1164771"/>
            <a:ext cx="11261215" cy="4484914"/>
          </a:xfrm>
        </p:spPr>
        <p:txBody>
          <a:bodyPr>
            <a:normAutofit/>
          </a:bodyPr>
          <a:lstStyle/>
          <a:p>
            <a:pPr algn="just"/>
            <a:r>
              <a:rPr lang="en-US" sz="1800" dirty="0">
                <a:solidFill>
                  <a:schemeClr val="tx1"/>
                </a:solidFill>
                <a:latin typeface="+mn-lt"/>
                <a:cs typeface="+mn-cs"/>
              </a:rPr>
              <a:t> We aimed to standardize tumor names contained in CTR, with respect to the WHO tumor classification system and </a:t>
            </a:r>
            <a:r>
              <a:rPr lang="en-US" sz="1800" dirty="0" err="1">
                <a:solidFill>
                  <a:schemeClr val="tx1"/>
                </a:solidFill>
                <a:latin typeface="+mn-lt"/>
                <a:cs typeface="+mn-cs"/>
              </a:rPr>
              <a:t>NCIt</a:t>
            </a:r>
            <a:r>
              <a:rPr lang="en-US" sz="1800" dirty="0">
                <a:solidFill>
                  <a:schemeClr val="tx1"/>
                </a:solidFill>
                <a:latin typeface="+mn-lt"/>
                <a:cs typeface="+mn-cs"/>
              </a:rPr>
              <a:t> (National Cancer Institute Thesaurus)  database.</a:t>
            </a:r>
          </a:p>
          <a:p>
            <a:pPr algn="just"/>
            <a:endParaRPr lang="en-US" sz="1800" dirty="0">
              <a:solidFill>
                <a:schemeClr val="tx1"/>
              </a:solidFill>
              <a:latin typeface="+mn-lt"/>
              <a:cs typeface="+mn-cs"/>
            </a:endParaRPr>
          </a:p>
          <a:p>
            <a:pPr algn="just"/>
            <a:r>
              <a:rPr lang="en-US" sz="1800" dirty="0">
                <a:solidFill>
                  <a:schemeClr val="tx1"/>
                </a:solidFill>
                <a:latin typeface="+mn-lt"/>
                <a:cs typeface="+mn-cs"/>
              </a:rPr>
              <a:t>Unlike other condition names, for tumor names , we have the WHO tumor classification system which is accepted as the gold standard for tumor nomenclature among clinicians. So we evaluate standardization accuracies with respect to only the WHO tumor classification system. </a:t>
            </a:r>
          </a:p>
          <a:p>
            <a:pPr marL="0" indent="0" algn="just">
              <a:buNone/>
            </a:pPr>
            <a:endParaRPr lang="en-US" sz="1800" dirty="0">
              <a:solidFill>
                <a:schemeClr val="tx1"/>
              </a:solidFill>
              <a:latin typeface="+mn-lt"/>
              <a:cs typeface="+mn-cs"/>
            </a:endParaRPr>
          </a:p>
          <a:p>
            <a:pPr algn="just"/>
            <a:r>
              <a:rPr lang="en-US" sz="1800" dirty="0">
                <a:solidFill>
                  <a:schemeClr val="tx1"/>
                </a:solidFill>
                <a:latin typeface="+mn-lt"/>
                <a:cs typeface="+mn-cs"/>
              </a:rPr>
              <a:t>To this end, we developed the CANTOS (Clinical trials Automated Nomenclature and Tumor Ontology Standardization) pipeline to extract tumor names from CTR and standardize them with respect to the WHO tumor classification system and </a:t>
            </a:r>
            <a:r>
              <a:rPr lang="en-US" sz="1800" dirty="0" err="1">
                <a:solidFill>
                  <a:schemeClr val="tx1"/>
                </a:solidFill>
                <a:latin typeface="+mn-lt"/>
                <a:cs typeface="+mn-cs"/>
              </a:rPr>
              <a:t>NCIt</a:t>
            </a:r>
            <a:r>
              <a:rPr lang="en-US" sz="1800" dirty="0">
                <a:solidFill>
                  <a:schemeClr val="tx1"/>
                </a:solidFill>
                <a:latin typeface="+mn-lt"/>
                <a:cs typeface="+mn-cs"/>
              </a:rPr>
              <a:t> database</a:t>
            </a:r>
            <a:r>
              <a:rPr lang="en-US" sz="1800" dirty="0">
                <a:solidFill>
                  <a:srgbClr val="000000"/>
                </a:solidFill>
                <a:latin typeface="Times New Roman" panose="02020603050405020304" pitchFamily="18" charset="0"/>
              </a:rPr>
              <a:t>. </a:t>
            </a:r>
          </a:p>
          <a:p>
            <a:endParaRPr lang="en-US" sz="1800" dirty="0">
              <a:solidFill>
                <a:srgbClr val="000000"/>
              </a:solidFill>
              <a:latin typeface="Times New Roman" panose="02020603050405020304" pitchFamily="18" charset="0"/>
            </a:endParaRPr>
          </a:p>
          <a:p>
            <a:endParaRPr lang="en-US" sz="1800" dirty="0">
              <a:solidFill>
                <a:srgbClr val="000000"/>
              </a:solidFill>
              <a:latin typeface="Times New Roman" panose="02020603050405020304" pitchFamily="18" charset="0"/>
            </a:endParaRPr>
          </a:p>
          <a:p>
            <a:endParaRPr lang="en-US" dirty="0"/>
          </a:p>
        </p:txBody>
      </p:sp>
      <p:sp>
        <p:nvSpPr>
          <p:cNvPr id="4" name="Slide Number Placeholder 3">
            <a:extLst>
              <a:ext uri="{FF2B5EF4-FFF2-40B4-BE49-F238E27FC236}">
                <a16:creationId xmlns:a16="http://schemas.microsoft.com/office/drawing/2014/main" id="{7570F7BE-2DA3-DA00-140C-40720C4A2B3B}"/>
              </a:ext>
            </a:extLst>
          </p:cNvPr>
          <p:cNvSpPr>
            <a:spLocks noGrp="1"/>
          </p:cNvSpPr>
          <p:nvPr>
            <p:ph type="sldNum" sz="quarter" idx="12"/>
          </p:nvPr>
        </p:nvSpPr>
        <p:spPr/>
        <p:txBody>
          <a:bodyPr/>
          <a:lstStyle/>
          <a:p>
            <a:fld id="{AD40181A-01B0-4CB8-8614-1473649F6741}" type="slidenum">
              <a:rPr lang="en-US" smtClean="0">
                <a:solidFill>
                  <a:schemeClr val="bg1"/>
                </a:solidFill>
              </a:rPr>
              <a:t>7</a:t>
            </a:fld>
            <a:endParaRPr lang="en-US" dirty="0">
              <a:solidFill>
                <a:schemeClr val="bg1"/>
              </a:solidFill>
            </a:endParaRPr>
          </a:p>
        </p:txBody>
      </p:sp>
    </p:spTree>
    <p:extLst>
      <p:ext uri="{BB962C8B-B14F-4D97-AF65-F5344CB8AC3E}">
        <p14:creationId xmlns:p14="http://schemas.microsoft.com/office/powerpoint/2010/main" val="1981462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AD40181A-01B0-4CB8-8614-1473649F6741}" type="slidenum">
              <a:rPr lang="en-US" smtClean="0">
                <a:solidFill>
                  <a:srgbClr val="FFFFFE"/>
                </a:solidFill>
              </a:rPr>
              <a:t>8</a:t>
            </a:fld>
            <a:endParaRPr lang="en-US" dirty="0">
              <a:solidFill>
                <a:srgbClr val="FFFFFE"/>
              </a:solidFill>
            </a:endParaRPr>
          </a:p>
        </p:txBody>
      </p:sp>
      <p:sp>
        <p:nvSpPr>
          <p:cNvPr id="3" name="Title 2"/>
          <p:cNvSpPr>
            <a:spLocks noGrp="1"/>
          </p:cNvSpPr>
          <p:nvPr>
            <p:ph type="title"/>
          </p:nvPr>
        </p:nvSpPr>
        <p:spPr>
          <a:xfrm>
            <a:off x="0" y="-294409"/>
            <a:ext cx="11660242" cy="1272422"/>
          </a:xfrm>
        </p:spPr>
        <p:txBody>
          <a:bodyPr/>
          <a:lstStyle/>
          <a:p>
            <a:r>
              <a:rPr lang="en-US" dirty="0"/>
              <a:t>CANTOS phase 1: Tumor identification</a:t>
            </a:r>
          </a:p>
        </p:txBody>
      </p:sp>
      <p:pic>
        <p:nvPicPr>
          <p:cNvPr id="4" name="Content Placeholder 8" descr="A blue and black logo&#10;&#10;Description automatically generated">
            <a:extLst>
              <a:ext uri="{FF2B5EF4-FFF2-40B4-BE49-F238E27FC236}">
                <a16:creationId xmlns:a16="http://schemas.microsoft.com/office/drawing/2014/main" id="{19C3A9C1-93F1-99D1-8570-48F0B1D01BD1}"/>
              </a:ext>
            </a:extLst>
          </p:cNvPr>
          <p:cNvPicPr>
            <a:picLocks noChangeAspect="1"/>
          </p:cNvPicPr>
          <p:nvPr/>
        </p:nvPicPr>
        <p:blipFill>
          <a:blip r:embed="rId2"/>
          <a:stretch>
            <a:fillRect/>
          </a:stretch>
        </p:blipFill>
        <p:spPr>
          <a:xfrm>
            <a:off x="307654" y="2337770"/>
            <a:ext cx="1782457" cy="1433858"/>
          </a:xfrm>
          <a:prstGeom prst="rect">
            <a:avLst/>
          </a:prstGeom>
        </p:spPr>
      </p:pic>
      <p:pic>
        <p:nvPicPr>
          <p:cNvPr id="5" name="Graphic 4" descr="Document outline">
            <a:extLst>
              <a:ext uri="{FF2B5EF4-FFF2-40B4-BE49-F238E27FC236}">
                <a16:creationId xmlns:a16="http://schemas.microsoft.com/office/drawing/2014/main" id="{35DFDB22-5FF4-65DD-75A8-BA8476C1E73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361564" y="2241763"/>
            <a:ext cx="1122081" cy="1122081"/>
          </a:xfrm>
          <a:prstGeom prst="rect">
            <a:avLst/>
          </a:prstGeom>
        </p:spPr>
      </p:pic>
      <p:sp>
        <p:nvSpPr>
          <p:cNvPr id="7" name="TextBox 6">
            <a:extLst>
              <a:ext uri="{FF2B5EF4-FFF2-40B4-BE49-F238E27FC236}">
                <a16:creationId xmlns:a16="http://schemas.microsoft.com/office/drawing/2014/main" id="{679CA8DB-EE78-BB29-19B5-1FAA56F5D1ED}"/>
              </a:ext>
            </a:extLst>
          </p:cNvPr>
          <p:cNvSpPr txBox="1"/>
          <p:nvPr/>
        </p:nvSpPr>
        <p:spPr>
          <a:xfrm>
            <a:off x="3238585" y="3316516"/>
            <a:ext cx="1598515" cy="369332"/>
          </a:xfrm>
          <a:prstGeom prst="rect">
            <a:avLst/>
          </a:prstGeom>
          <a:noFill/>
        </p:spPr>
        <p:txBody>
          <a:bodyPr wrap="none" rtlCol="0">
            <a:spAutoFit/>
          </a:bodyPr>
          <a:lstStyle/>
          <a:p>
            <a:r>
              <a:rPr lang="en-US" dirty="0" err="1">
                <a:solidFill>
                  <a:schemeClr val="bg2">
                    <a:lumMod val="50000"/>
                  </a:schemeClr>
                </a:solidFill>
              </a:rPr>
              <a:t>conditions.txt</a:t>
            </a:r>
            <a:endParaRPr lang="en-US" dirty="0">
              <a:solidFill>
                <a:schemeClr val="bg2">
                  <a:lumMod val="50000"/>
                </a:schemeClr>
              </a:solidFill>
            </a:endParaRPr>
          </a:p>
        </p:txBody>
      </p:sp>
      <p:sp>
        <p:nvSpPr>
          <p:cNvPr id="8" name="Right Arrow 7">
            <a:extLst>
              <a:ext uri="{FF2B5EF4-FFF2-40B4-BE49-F238E27FC236}">
                <a16:creationId xmlns:a16="http://schemas.microsoft.com/office/drawing/2014/main" id="{9F1004FD-3068-A67A-3EC2-49B333972427}"/>
              </a:ext>
            </a:extLst>
          </p:cNvPr>
          <p:cNvSpPr/>
          <p:nvPr/>
        </p:nvSpPr>
        <p:spPr>
          <a:xfrm>
            <a:off x="2213090" y="2642314"/>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8D1C32A-F598-2AFF-5354-C13FA1267869}"/>
              </a:ext>
            </a:extLst>
          </p:cNvPr>
          <p:cNvSpPr/>
          <p:nvPr/>
        </p:nvSpPr>
        <p:spPr>
          <a:xfrm>
            <a:off x="5605054" y="2455978"/>
            <a:ext cx="2284729" cy="9300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Fuzzy String Match</a:t>
            </a:r>
          </a:p>
        </p:txBody>
      </p:sp>
      <p:pic>
        <p:nvPicPr>
          <p:cNvPr id="13" name="Graphic 12" descr="Database outline">
            <a:extLst>
              <a:ext uri="{FF2B5EF4-FFF2-40B4-BE49-F238E27FC236}">
                <a16:creationId xmlns:a16="http://schemas.microsoft.com/office/drawing/2014/main" id="{CA8A991E-041C-F9B3-E255-517A56F3176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223666" y="3972217"/>
            <a:ext cx="1244416" cy="1244416"/>
          </a:xfrm>
          <a:prstGeom prst="rect">
            <a:avLst/>
          </a:prstGeom>
        </p:spPr>
      </p:pic>
      <p:pic>
        <p:nvPicPr>
          <p:cNvPr id="14" name="Graphic 13" descr="Database outline">
            <a:extLst>
              <a:ext uri="{FF2B5EF4-FFF2-40B4-BE49-F238E27FC236}">
                <a16:creationId xmlns:a16="http://schemas.microsoft.com/office/drawing/2014/main" id="{301F0597-96AD-7EFF-38C3-B4AFFAB602E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125211" y="862584"/>
            <a:ext cx="1244416" cy="1244416"/>
          </a:xfrm>
          <a:prstGeom prst="rect">
            <a:avLst/>
          </a:prstGeom>
        </p:spPr>
      </p:pic>
      <p:sp>
        <p:nvSpPr>
          <p:cNvPr id="16" name="TextBox 15">
            <a:extLst>
              <a:ext uri="{FF2B5EF4-FFF2-40B4-BE49-F238E27FC236}">
                <a16:creationId xmlns:a16="http://schemas.microsoft.com/office/drawing/2014/main" id="{0DB0385E-F451-CD90-1DAF-EBD6E13D3162}"/>
              </a:ext>
            </a:extLst>
          </p:cNvPr>
          <p:cNvSpPr txBox="1"/>
          <p:nvPr/>
        </p:nvSpPr>
        <p:spPr>
          <a:xfrm>
            <a:off x="5258608" y="5094863"/>
            <a:ext cx="4034478" cy="369332"/>
          </a:xfrm>
          <a:prstGeom prst="rect">
            <a:avLst/>
          </a:prstGeom>
          <a:noFill/>
        </p:spPr>
        <p:txBody>
          <a:bodyPr wrap="square" rtlCol="0">
            <a:spAutoFit/>
          </a:bodyPr>
          <a:lstStyle/>
          <a:p>
            <a:r>
              <a:rPr lang="en-US" dirty="0">
                <a:solidFill>
                  <a:schemeClr val="bg2">
                    <a:lumMod val="50000"/>
                  </a:schemeClr>
                </a:solidFill>
              </a:rPr>
              <a:t>WHO Tumor Classification System</a:t>
            </a:r>
          </a:p>
        </p:txBody>
      </p:sp>
      <p:sp>
        <p:nvSpPr>
          <p:cNvPr id="17" name="TextBox 16">
            <a:extLst>
              <a:ext uri="{FF2B5EF4-FFF2-40B4-BE49-F238E27FC236}">
                <a16:creationId xmlns:a16="http://schemas.microsoft.com/office/drawing/2014/main" id="{A8E0CCAA-3593-6500-6D5D-A0A1FB7B2BCD}"/>
              </a:ext>
            </a:extLst>
          </p:cNvPr>
          <p:cNvSpPr txBox="1"/>
          <p:nvPr/>
        </p:nvSpPr>
        <p:spPr>
          <a:xfrm>
            <a:off x="5830121" y="616009"/>
            <a:ext cx="2031506" cy="369332"/>
          </a:xfrm>
          <a:prstGeom prst="rect">
            <a:avLst/>
          </a:prstGeom>
          <a:noFill/>
        </p:spPr>
        <p:txBody>
          <a:bodyPr wrap="square" rtlCol="0">
            <a:spAutoFit/>
          </a:bodyPr>
          <a:lstStyle/>
          <a:p>
            <a:r>
              <a:rPr lang="en-US" dirty="0">
                <a:solidFill>
                  <a:schemeClr val="bg2">
                    <a:lumMod val="50000"/>
                  </a:schemeClr>
                </a:solidFill>
              </a:rPr>
              <a:t>Tumor key words</a:t>
            </a:r>
          </a:p>
        </p:txBody>
      </p:sp>
      <p:sp>
        <p:nvSpPr>
          <p:cNvPr id="18" name="Right Arrow 17">
            <a:extLst>
              <a:ext uri="{FF2B5EF4-FFF2-40B4-BE49-F238E27FC236}">
                <a16:creationId xmlns:a16="http://schemas.microsoft.com/office/drawing/2014/main" id="{2B39A889-FCA5-B400-E8D3-B49F754BEE2E}"/>
              </a:ext>
            </a:extLst>
          </p:cNvPr>
          <p:cNvSpPr/>
          <p:nvPr/>
        </p:nvSpPr>
        <p:spPr>
          <a:xfrm>
            <a:off x="4385513" y="2616592"/>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Down Arrow 18">
            <a:extLst>
              <a:ext uri="{FF2B5EF4-FFF2-40B4-BE49-F238E27FC236}">
                <a16:creationId xmlns:a16="http://schemas.microsoft.com/office/drawing/2014/main" id="{9B216ECB-C5A2-8803-328E-44CE7D138A72}"/>
              </a:ext>
            </a:extLst>
          </p:cNvPr>
          <p:cNvSpPr/>
          <p:nvPr/>
        </p:nvSpPr>
        <p:spPr>
          <a:xfrm>
            <a:off x="6595019" y="2023084"/>
            <a:ext cx="304800" cy="36933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Up Arrow 19">
            <a:extLst>
              <a:ext uri="{FF2B5EF4-FFF2-40B4-BE49-F238E27FC236}">
                <a16:creationId xmlns:a16="http://schemas.microsoft.com/office/drawing/2014/main" id="{73310A80-86DB-204B-8D96-19402D444123}"/>
              </a:ext>
            </a:extLst>
          </p:cNvPr>
          <p:cNvSpPr/>
          <p:nvPr/>
        </p:nvSpPr>
        <p:spPr>
          <a:xfrm>
            <a:off x="6589500" y="3443485"/>
            <a:ext cx="512747" cy="562340"/>
          </a:xfrm>
          <a:prstGeom prs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D44FC835-E36F-AA70-EB8A-A508E553CA79}"/>
              </a:ext>
            </a:extLst>
          </p:cNvPr>
          <p:cNvSpPr/>
          <p:nvPr/>
        </p:nvSpPr>
        <p:spPr>
          <a:xfrm>
            <a:off x="9158480" y="2383892"/>
            <a:ext cx="2284729" cy="9300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Flag tumor and manually validate</a:t>
            </a:r>
          </a:p>
        </p:txBody>
      </p:sp>
      <p:sp>
        <p:nvSpPr>
          <p:cNvPr id="22" name="Right Arrow 21">
            <a:extLst>
              <a:ext uri="{FF2B5EF4-FFF2-40B4-BE49-F238E27FC236}">
                <a16:creationId xmlns:a16="http://schemas.microsoft.com/office/drawing/2014/main" id="{3F4E4C5A-9D0E-A829-80F2-9E0BA92A71AB}"/>
              </a:ext>
            </a:extLst>
          </p:cNvPr>
          <p:cNvSpPr/>
          <p:nvPr/>
        </p:nvSpPr>
        <p:spPr>
          <a:xfrm>
            <a:off x="7996271" y="2616591"/>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 name="Graphic 22" descr="Document outline">
            <a:extLst>
              <a:ext uri="{FF2B5EF4-FFF2-40B4-BE49-F238E27FC236}">
                <a16:creationId xmlns:a16="http://schemas.microsoft.com/office/drawing/2014/main" id="{1D642C46-64FD-E1CF-991E-3E2C3B5A90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203646" y="3771628"/>
            <a:ext cx="1122081" cy="1122081"/>
          </a:xfrm>
          <a:prstGeom prst="rect">
            <a:avLst/>
          </a:prstGeom>
        </p:spPr>
      </p:pic>
      <p:sp>
        <p:nvSpPr>
          <p:cNvPr id="24" name="TextBox 23">
            <a:extLst>
              <a:ext uri="{FF2B5EF4-FFF2-40B4-BE49-F238E27FC236}">
                <a16:creationId xmlns:a16="http://schemas.microsoft.com/office/drawing/2014/main" id="{A7D4910C-3261-8D5E-DF44-BD78E4DFD445}"/>
              </a:ext>
            </a:extLst>
          </p:cNvPr>
          <p:cNvSpPr txBox="1"/>
          <p:nvPr/>
        </p:nvSpPr>
        <p:spPr>
          <a:xfrm>
            <a:off x="9825967" y="4900084"/>
            <a:ext cx="1877437" cy="646331"/>
          </a:xfrm>
          <a:prstGeom prst="rect">
            <a:avLst/>
          </a:prstGeom>
          <a:noFill/>
        </p:spPr>
        <p:txBody>
          <a:bodyPr wrap="none" rtlCol="0">
            <a:spAutoFit/>
          </a:bodyPr>
          <a:lstStyle/>
          <a:p>
            <a:r>
              <a:rPr lang="en-US" dirty="0">
                <a:solidFill>
                  <a:schemeClr val="bg2">
                    <a:lumMod val="50000"/>
                  </a:schemeClr>
                </a:solidFill>
              </a:rPr>
              <a:t>Unstandardized </a:t>
            </a:r>
            <a:br>
              <a:rPr lang="en-US" dirty="0">
                <a:solidFill>
                  <a:schemeClr val="bg2">
                    <a:lumMod val="50000"/>
                  </a:schemeClr>
                </a:solidFill>
              </a:rPr>
            </a:br>
            <a:r>
              <a:rPr lang="en-US" dirty="0">
                <a:solidFill>
                  <a:schemeClr val="bg2">
                    <a:lumMod val="50000"/>
                  </a:schemeClr>
                </a:solidFill>
              </a:rPr>
              <a:t>Tumor </a:t>
            </a:r>
            <a:r>
              <a:rPr lang="en-US" dirty="0" err="1">
                <a:solidFill>
                  <a:schemeClr val="bg2">
                    <a:lumMod val="50000"/>
                  </a:schemeClr>
                </a:solidFill>
              </a:rPr>
              <a:t>List.csv</a:t>
            </a:r>
            <a:endParaRPr lang="en-US" dirty="0">
              <a:solidFill>
                <a:schemeClr val="bg2">
                  <a:lumMod val="50000"/>
                </a:schemeClr>
              </a:solidFill>
            </a:endParaRPr>
          </a:p>
        </p:txBody>
      </p:sp>
      <p:sp>
        <p:nvSpPr>
          <p:cNvPr id="25" name="Down Arrow 24">
            <a:extLst>
              <a:ext uri="{FF2B5EF4-FFF2-40B4-BE49-F238E27FC236}">
                <a16:creationId xmlns:a16="http://schemas.microsoft.com/office/drawing/2014/main" id="{7908E861-195C-F6AA-4218-CCC0E64A857F}"/>
              </a:ext>
            </a:extLst>
          </p:cNvPr>
          <p:cNvSpPr/>
          <p:nvPr/>
        </p:nvSpPr>
        <p:spPr>
          <a:xfrm>
            <a:off x="10486690" y="3442087"/>
            <a:ext cx="304800" cy="36933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214736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E722E-3FCD-FD45-A0E6-12A95F208F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5D30D7-FC81-7A2E-2D28-63AA04393E7F}"/>
              </a:ext>
            </a:extLst>
          </p:cNvPr>
          <p:cNvSpPr>
            <a:spLocks noGrp="1"/>
          </p:cNvSpPr>
          <p:nvPr>
            <p:ph type="title"/>
          </p:nvPr>
        </p:nvSpPr>
        <p:spPr>
          <a:xfrm>
            <a:off x="87085" y="21771"/>
            <a:ext cx="12279086" cy="925286"/>
          </a:xfrm>
        </p:spPr>
        <p:txBody>
          <a:bodyPr/>
          <a:lstStyle/>
          <a:p>
            <a:r>
              <a:rPr lang="en-US" dirty="0"/>
              <a:t>CANTOS PHASE 2: Tumor Name Standardization		</a:t>
            </a:r>
          </a:p>
        </p:txBody>
      </p:sp>
      <p:sp>
        <p:nvSpPr>
          <p:cNvPr id="3" name="Content Placeholder 2">
            <a:extLst>
              <a:ext uri="{FF2B5EF4-FFF2-40B4-BE49-F238E27FC236}">
                <a16:creationId xmlns:a16="http://schemas.microsoft.com/office/drawing/2014/main" id="{03E5FCE7-F75E-2327-9C5F-55E00B34D11D}"/>
              </a:ext>
            </a:extLst>
          </p:cNvPr>
          <p:cNvSpPr>
            <a:spLocks noGrp="1"/>
          </p:cNvSpPr>
          <p:nvPr>
            <p:ph idx="1"/>
          </p:nvPr>
        </p:nvSpPr>
        <p:spPr>
          <a:xfrm>
            <a:off x="179670" y="1164771"/>
            <a:ext cx="11261215" cy="4484914"/>
          </a:xfrm>
        </p:spPr>
        <p:txBody>
          <a:bodyPr>
            <a:normAutofit/>
          </a:bodyPr>
          <a:lstStyle/>
          <a:p>
            <a:pPr algn="just"/>
            <a:r>
              <a:rPr lang="en-US" sz="1800" dirty="0">
                <a:solidFill>
                  <a:schemeClr val="tx1"/>
                </a:solidFill>
                <a:latin typeface="+mn-lt"/>
                <a:cs typeface="+mn-cs"/>
              </a:rPr>
              <a:t>Text matching (edit distances): edit distances are a way of measuring how different two strings (sequences of characters) are. The edit distance is the minimum number of operations needed to transform one string into another. E.g. </a:t>
            </a:r>
            <a:r>
              <a:rPr lang="en-US" sz="1800" dirty="0" err="1">
                <a:solidFill>
                  <a:schemeClr val="tx1"/>
                </a:solidFill>
                <a:latin typeface="+mn-lt"/>
                <a:cs typeface="+mn-cs"/>
              </a:rPr>
              <a:t>Levenshtein</a:t>
            </a:r>
            <a:r>
              <a:rPr lang="en-US" sz="1800" dirty="0">
                <a:solidFill>
                  <a:schemeClr val="tx1"/>
                </a:solidFill>
                <a:latin typeface="+mn-lt"/>
                <a:cs typeface="+mn-cs"/>
              </a:rPr>
              <a:t> , cosine, </a:t>
            </a:r>
            <a:r>
              <a:rPr lang="en-US" sz="1800" dirty="0" err="1">
                <a:solidFill>
                  <a:schemeClr val="tx1"/>
                </a:solidFill>
                <a:latin typeface="+mn-lt"/>
                <a:cs typeface="+mn-cs"/>
              </a:rPr>
              <a:t>Jarro</a:t>
            </a:r>
            <a:r>
              <a:rPr lang="en-US" sz="1800" dirty="0">
                <a:solidFill>
                  <a:schemeClr val="tx1"/>
                </a:solidFill>
                <a:latin typeface="+mn-lt"/>
                <a:cs typeface="+mn-cs"/>
              </a:rPr>
              <a:t>-Winkler etc. </a:t>
            </a:r>
          </a:p>
          <a:p>
            <a:pPr lvl="1" algn="just"/>
            <a:endParaRPr lang="en-US" sz="1400" dirty="0">
              <a:solidFill>
                <a:schemeClr val="tx1"/>
              </a:solidFill>
              <a:latin typeface="+mn-lt"/>
            </a:endParaRPr>
          </a:p>
          <a:p>
            <a:pPr lvl="1" algn="just"/>
            <a:r>
              <a:rPr lang="en-US" sz="1400" dirty="0">
                <a:solidFill>
                  <a:schemeClr val="tx1"/>
                </a:solidFill>
                <a:latin typeface="+mn-lt"/>
              </a:rPr>
              <a:t>Example : Lung Cancer  and Liver Cancer :  </a:t>
            </a:r>
            <a:r>
              <a:rPr lang="en-US" sz="1400" dirty="0" err="1">
                <a:solidFill>
                  <a:schemeClr val="tx1"/>
                </a:solidFill>
                <a:latin typeface="+mn-lt"/>
              </a:rPr>
              <a:t>Levenshtein</a:t>
            </a:r>
            <a:r>
              <a:rPr lang="en-US" sz="1400" dirty="0">
                <a:solidFill>
                  <a:schemeClr val="tx1"/>
                </a:solidFill>
                <a:latin typeface="+mn-lt"/>
              </a:rPr>
              <a:t> Distance =4</a:t>
            </a:r>
          </a:p>
          <a:p>
            <a:pPr lvl="1" algn="just"/>
            <a:r>
              <a:rPr lang="en-US" sz="1400" dirty="0">
                <a:solidFill>
                  <a:schemeClr val="tx1"/>
                </a:solidFill>
                <a:latin typeface="+mn-lt"/>
                <a:cs typeface="+mn-cs"/>
              </a:rPr>
              <a:t>Example:  Lung Cancer and Non Smal</a:t>
            </a:r>
            <a:r>
              <a:rPr lang="en-US" sz="1400" dirty="0">
                <a:solidFill>
                  <a:schemeClr val="tx1"/>
                </a:solidFill>
                <a:latin typeface="+mn-lt"/>
              </a:rPr>
              <a:t>l Cell Lung Cancer:  </a:t>
            </a:r>
            <a:r>
              <a:rPr lang="en-US" sz="1400" dirty="0" err="1">
                <a:solidFill>
                  <a:schemeClr val="tx1"/>
                </a:solidFill>
                <a:latin typeface="+mn-lt"/>
              </a:rPr>
              <a:t>Levenshtein</a:t>
            </a:r>
            <a:r>
              <a:rPr lang="en-US" sz="1400" dirty="0">
                <a:solidFill>
                  <a:schemeClr val="tx1"/>
                </a:solidFill>
                <a:latin typeface="+mn-lt"/>
              </a:rPr>
              <a:t> Distance =14</a:t>
            </a:r>
            <a:endParaRPr lang="en-US" sz="1400" dirty="0">
              <a:solidFill>
                <a:schemeClr val="tx1"/>
              </a:solidFill>
              <a:latin typeface="+mn-lt"/>
              <a:cs typeface="+mn-cs"/>
            </a:endParaRPr>
          </a:p>
          <a:p>
            <a:pPr algn="just"/>
            <a:endParaRPr lang="en-US" sz="1800" dirty="0">
              <a:solidFill>
                <a:schemeClr val="tx1"/>
              </a:solidFill>
              <a:latin typeface="+mn-lt"/>
              <a:cs typeface="+mn-cs"/>
            </a:endParaRPr>
          </a:p>
          <a:p>
            <a:endParaRPr lang="en-US" sz="1800" dirty="0">
              <a:solidFill>
                <a:srgbClr val="000000"/>
              </a:solidFill>
              <a:latin typeface="Times New Roman" panose="02020603050405020304" pitchFamily="18" charset="0"/>
            </a:endParaRPr>
          </a:p>
          <a:p>
            <a:endParaRPr lang="en-US" sz="1800" dirty="0">
              <a:solidFill>
                <a:srgbClr val="000000"/>
              </a:solidFill>
              <a:latin typeface="Times New Roman" panose="02020603050405020304" pitchFamily="18" charset="0"/>
            </a:endParaRPr>
          </a:p>
          <a:p>
            <a:endParaRPr lang="en-US" dirty="0"/>
          </a:p>
        </p:txBody>
      </p:sp>
      <p:sp>
        <p:nvSpPr>
          <p:cNvPr id="4" name="Slide Number Placeholder 3">
            <a:extLst>
              <a:ext uri="{FF2B5EF4-FFF2-40B4-BE49-F238E27FC236}">
                <a16:creationId xmlns:a16="http://schemas.microsoft.com/office/drawing/2014/main" id="{79537068-5C1D-29E8-6A44-3E3880B225DF}"/>
              </a:ext>
            </a:extLst>
          </p:cNvPr>
          <p:cNvSpPr>
            <a:spLocks noGrp="1"/>
          </p:cNvSpPr>
          <p:nvPr>
            <p:ph type="sldNum" sz="quarter" idx="12"/>
          </p:nvPr>
        </p:nvSpPr>
        <p:spPr/>
        <p:txBody>
          <a:bodyPr/>
          <a:lstStyle/>
          <a:p>
            <a:fld id="{AD40181A-01B0-4CB8-8614-1473649F6741}" type="slidenum">
              <a:rPr lang="en-US" smtClean="0">
                <a:solidFill>
                  <a:schemeClr val="bg1"/>
                </a:solidFill>
              </a:rPr>
              <a:t>9</a:t>
            </a:fld>
            <a:endParaRPr lang="en-US" dirty="0">
              <a:solidFill>
                <a:schemeClr val="bg1"/>
              </a:solidFill>
            </a:endParaRPr>
          </a:p>
        </p:txBody>
      </p:sp>
    </p:spTree>
    <p:extLst>
      <p:ext uri="{BB962C8B-B14F-4D97-AF65-F5344CB8AC3E}">
        <p14:creationId xmlns:p14="http://schemas.microsoft.com/office/powerpoint/2010/main" val="26488079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860D5-0ADE-5792-F38B-E62C062F6D1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ACD26A8-2FC8-DD30-97D2-0E40EAF5ADBF}"/>
              </a:ext>
            </a:extLst>
          </p:cNvPr>
          <p:cNvSpPr>
            <a:spLocks noGrp="1"/>
          </p:cNvSpPr>
          <p:nvPr>
            <p:ph type="sldNum" sz="quarter" idx="12"/>
          </p:nvPr>
        </p:nvSpPr>
        <p:spPr/>
        <p:txBody>
          <a:bodyPr/>
          <a:lstStyle/>
          <a:p>
            <a:fld id="{AD40181A-01B0-4CB8-8614-1473649F6741}" type="slidenum">
              <a:rPr lang="en-US" smtClean="0">
                <a:solidFill>
                  <a:srgbClr val="FFFFFE"/>
                </a:solidFill>
              </a:rPr>
              <a:t>10</a:t>
            </a:fld>
            <a:endParaRPr lang="en-US" dirty="0">
              <a:solidFill>
                <a:srgbClr val="FFFFFE"/>
              </a:solidFill>
            </a:endParaRPr>
          </a:p>
        </p:txBody>
      </p:sp>
      <p:sp>
        <p:nvSpPr>
          <p:cNvPr id="3" name="Title 2">
            <a:extLst>
              <a:ext uri="{FF2B5EF4-FFF2-40B4-BE49-F238E27FC236}">
                <a16:creationId xmlns:a16="http://schemas.microsoft.com/office/drawing/2014/main" id="{B1C6C862-386D-12B2-A6B7-8D9654E3FF35}"/>
              </a:ext>
            </a:extLst>
          </p:cNvPr>
          <p:cNvSpPr>
            <a:spLocks noGrp="1"/>
          </p:cNvSpPr>
          <p:nvPr>
            <p:ph type="title"/>
          </p:nvPr>
        </p:nvSpPr>
        <p:spPr>
          <a:xfrm>
            <a:off x="-1" y="-294409"/>
            <a:ext cx="12398829" cy="1262474"/>
          </a:xfrm>
        </p:spPr>
        <p:txBody>
          <a:bodyPr/>
          <a:lstStyle/>
          <a:p>
            <a:r>
              <a:rPr lang="en-US" dirty="0"/>
              <a:t>CANTOS Phase 2: Tumor Name Standardization</a:t>
            </a:r>
          </a:p>
        </p:txBody>
      </p:sp>
      <p:pic>
        <p:nvPicPr>
          <p:cNvPr id="5" name="Graphic 4" descr="Document outline">
            <a:extLst>
              <a:ext uri="{FF2B5EF4-FFF2-40B4-BE49-F238E27FC236}">
                <a16:creationId xmlns:a16="http://schemas.microsoft.com/office/drawing/2014/main" id="{42B33DF4-60C2-1A56-0331-095B57C4190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5015" y="716462"/>
            <a:ext cx="1122081" cy="1122081"/>
          </a:xfrm>
          <a:prstGeom prst="rect">
            <a:avLst/>
          </a:prstGeom>
        </p:spPr>
      </p:pic>
      <p:sp>
        <p:nvSpPr>
          <p:cNvPr id="6" name="TextBox 5">
            <a:extLst>
              <a:ext uri="{FF2B5EF4-FFF2-40B4-BE49-F238E27FC236}">
                <a16:creationId xmlns:a16="http://schemas.microsoft.com/office/drawing/2014/main" id="{E776795F-7ACE-3F42-6A31-D87C253DD4B3}"/>
              </a:ext>
            </a:extLst>
          </p:cNvPr>
          <p:cNvSpPr txBox="1"/>
          <p:nvPr/>
        </p:nvSpPr>
        <p:spPr>
          <a:xfrm>
            <a:off x="26800" y="1834241"/>
            <a:ext cx="1877437" cy="646331"/>
          </a:xfrm>
          <a:prstGeom prst="rect">
            <a:avLst/>
          </a:prstGeom>
          <a:noFill/>
        </p:spPr>
        <p:txBody>
          <a:bodyPr wrap="none" rtlCol="0">
            <a:spAutoFit/>
          </a:bodyPr>
          <a:lstStyle/>
          <a:p>
            <a:r>
              <a:rPr lang="en-US" dirty="0">
                <a:solidFill>
                  <a:schemeClr val="bg2">
                    <a:lumMod val="50000"/>
                  </a:schemeClr>
                </a:solidFill>
              </a:rPr>
              <a:t>Unstandardized </a:t>
            </a:r>
            <a:br>
              <a:rPr lang="en-US" dirty="0">
                <a:solidFill>
                  <a:schemeClr val="bg2">
                    <a:lumMod val="50000"/>
                  </a:schemeClr>
                </a:solidFill>
              </a:rPr>
            </a:br>
            <a:r>
              <a:rPr lang="en-US" dirty="0">
                <a:solidFill>
                  <a:schemeClr val="bg2">
                    <a:lumMod val="50000"/>
                  </a:schemeClr>
                </a:solidFill>
              </a:rPr>
              <a:t>Tumor </a:t>
            </a:r>
            <a:r>
              <a:rPr lang="en-US" dirty="0" err="1">
                <a:solidFill>
                  <a:schemeClr val="bg2">
                    <a:lumMod val="50000"/>
                  </a:schemeClr>
                </a:solidFill>
              </a:rPr>
              <a:t>List.csv</a:t>
            </a:r>
            <a:endParaRPr lang="en-US" dirty="0">
              <a:solidFill>
                <a:schemeClr val="bg2">
                  <a:lumMod val="50000"/>
                </a:schemeClr>
              </a:solidFill>
            </a:endParaRPr>
          </a:p>
        </p:txBody>
      </p:sp>
      <p:pic>
        <p:nvPicPr>
          <p:cNvPr id="9" name="Graphic 8" descr="Database outline">
            <a:extLst>
              <a:ext uri="{FF2B5EF4-FFF2-40B4-BE49-F238E27FC236}">
                <a16:creationId xmlns:a16="http://schemas.microsoft.com/office/drawing/2014/main" id="{9D1933F5-1AFB-BFD9-ED47-ABC750D7470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1306" y="2471051"/>
            <a:ext cx="1244416" cy="1244416"/>
          </a:xfrm>
          <a:prstGeom prst="rect">
            <a:avLst/>
          </a:prstGeom>
        </p:spPr>
      </p:pic>
      <p:sp>
        <p:nvSpPr>
          <p:cNvPr id="10" name="TextBox 9">
            <a:extLst>
              <a:ext uri="{FF2B5EF4-FFF2-40B4-BE49-F238E27FC236}">
                <a16:creationId xmlns:a16="http://schemas.microsoft.com/office/drawing/2014/main" id="{F3AF1533-C3BE-BE71-98C1-E47E9B9F2B8C}"/>
              </a:ext>
            </a:extLst>
          </p:cNvPr>
          <p:cNvSpPr txBox="1"/>
          <p:nvPr/>
        </p:nvSpPr>
        <p:spPr>
          <a:xfrm>
            <a:off x="14874" y="3644757"/>
            <a:ext cx="1765922" cy="923330"/>
          </a:xfrm>
          <a:prstGeom prst="rect">
            <a:avLst/>
          </a:prstGeom>
          <a:noFill/>
        </p:spPr>
        <p:txBody>
          <a:bodyPr wrap="square" rtlCol="0">
            <a:spAutoFit/>
          </a:bodyPr>
          <a:lstStyle/>
          <a:p>
            <a:pPr algn="ctr"/>
            <a:r>
              <a:rPr lang="en-US" dirty="0">
                <a:solidFill>
                  <a:schemeClr val="bg2">
                    <a:lumMod val="50000"/>
                  </a:schemeClr>
                </a:solidFill>
              </a:rPr>
              <a:t>WHO Tumor Classification System</a:t>
            </a:r>
          </a:p>
        </p:txBody>
      </p:sp>
      <p:sp>
        <p:nvSpPr>
          <p:cNvPr id="12" name="Rectangle 11">
            <a:extLst>
              <a:ext uri="{FF2B5EF4-FFF2-40B4-BE49-F238E27FC236}">
                <a16:creationId xmlns:a16="http://schemas.microsoft.com/office/drawing/2014/main" id="{2DACE30A-D8C5-7184-1BB4-91D4E0E5CA43}"/>
              </a:ext>
            </a:extLst>
          </p:cNvPr>
          <p:cNvSpPr/>
          <p:nvPr/>
        </p:nvSpPr>
        <p:spPr>
          <a:xfrm>
            <a:off x="2629512" y="1054229"/>
            <a:ext cx="2907576" cy="8374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Compute edit distance: Cosine, </a:t>
            </a:r>
            <a:r>
              <a:rPr lang="en-US" dirty="0" err="1"/>
              <a:t>Jarro</a:t>
            </a:r>
            <a:r>
              <a:rPr lang="en-US" dirty="0"/>
              <a:t> Winkler, </a:t>
            </a:r>
            <a:r>
              <a:rPr lang="en-US" dirty="0" err="1"/>
              <a:t>Levenshtein</a:t>
            </a:r>
            <a:endParaRPr lang="en-US" dirty="0"/>
          </a:p>
        </p:txBody>
      </p:sp>
      <p:sp>
        <p:nvSpPr>
          <p:cNvPr id="24" name="Right Arrow 23">
            <a:extLst>
              <a:ext uri="{FF2B5EF4-FFF2-40B4-BE49-F238E27FC236}">
                <a16:creationId xmlns:a16="http://schemas.microsoft.com/office/drawing/2014/main" id="{DB2CF8BF-C061-21CA-3A3F-608F28B494D7}"/>
              </a:ext>
            </a:extLst>
          </p:cNvPr>
          <p:cNvSpPr/>
          <p:nvPr/>
        </p:nvSpPr>
        <p:spPr>
          <a:xfrm>
            <a:off x="5747659" y="1136938"/>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B5DF64D4-81B9-73C2-DD97-9F86B72DC86F}"/>
              </a:ext>
            </a:extLst>
          </p:cNvPr>
          <p:cNvSpPr/>
          <p:nvPr/>
        </p:nvSpPr>
        <p:spPr>
          <a:xfrm>
            <a:off x="7030939" y="1001030"/>
            <a:ext cx="3777046" cy="952919"/>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Assign the closest standardized tumor name to the unstandardized tumor name from CTR</a:t>
            </a:r>
          </a:p>
        </p:txBody>
      </p:sp>
      <p:sp>
        <p:nvSpPr>
          <p:cNvPr id="29" name="Right Arrow 28">
            <a:extLst>
              <a:ext uri="{FF2B5EF4-FFF2-40B4-BE49-F238E27FC236}">
                <a16:creationId xmlns:a16="http://schemas.microsoft.com/office/drawing/2014/main" id="{84CCA57B-3C8C-41BE-8EA3-47D5E0FB7917}"/>
              </a:ext>
            </a:extLst>
          </p:cNvPr>
          <p:cNvSpPr/>
          <p:nvPr/>
        </p:nvSpPr>
        <p:spPr>
          <a:xfrm>
            <a:off x="1391489" y="1102900"/>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ight Arrow 29">
            <a:extLst>
              <a:ext uri="{FF2B5EF4-FFF2-40B4-BE49-F238E27FC236}">
                <a16:creationId xmlns:a16="http://schemas.microsoft.com/office/drawing/2014/main" id="{81EB917E-25B1-AE1F-4FAD-C37EBF6AB563}"/>
              </a:ext>
            </a:extLst>
          </p:cNvPr>
          <p:cNvSpPr/>
          <p:nvPr/>
        </p:nvSpPr>
        <p:spPr>
          <a:xfrm rot="19419849">
            <a:off x="1657498" y="223010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ight Brace 37">
            <a:extLst>
              <a:ext uri="{FF2B5EF4-FFF2-40B4-BE49-F238E27FC236}">
                <a16:creationId xmlns:a16="http://schemas.microsoft.com/office/drawing/2014/main" id="{5B15DFEF-EFF7-8D4C-54A0-DC38BE50E2DC}"/>
              </a:ext>
            </a:extLst>
          </p:cNvPr>
          <p:cNvSpPr/>
          <p:nvPr/>
        </p:nvSpPr>
        <p:spPr>
          <a:xfrm>
            <a:off x="10663790" y="716462"/>
            <a:ext cx="1140035" cy="165322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9" name="TextBox 38">
            <a:extLst>
              <a:ext uri="{FF2B5EF4-FFF2-40B4-BE49-F238E27FC236}">
                <a16:creationId xmlns:a16="http://schemas.microsoft.com/office/drawing/2014/main" id="{53EDA427-5FAF-58FC-D28C-F17CF15A4D06}"/>
              </a:ext>
            </a:extLst>
          </p:cNvPr>
          <p:cNvSpPr txBox="1"/>
          <p:nvPr/>
        </p:nvSpPr>
        <p:spPr>
          <a:xfrm>
            <a:off x="8612577" y="2016040"/>
            <a:ext cx="2621230" cy="369332"/>
          </a:xfrm>
          <a:prstGeom prst="rect">
            <a:avLst/>
          </a:prstGeom>
          <a:noFill/>
        </p:spPr>
        <p:txBody>
          <a:bodyPr wrap="none" rtlCol="0">
            <a:spAutoFit/>
          </a:bodyPr>
          <a:lstStyle/>
          <a:p>
            <a:r>
              <a:rPr lang="en-US" dirty="0"/>
              <a:t>Closest match approach</a:t>
            </a:r>
          </a:p>
        </p:txBody>
      </p:sp>
    </p:spTree>
    <p:extLst>
      <p:ext uri="{BB962C8B-B14F-4D97-AF65-F5344CB8AC3E}">
        <p14:creationId xmlns:p14="http://schemas.microsoft.com/office/powerpoint/2010/main" val="20508921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44ED1-CC20-05D0-6BC7-56326469E2D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06B9107-0F19-98A4-E646-E896FF646D8A}"/>
              </a:ext>
            </a:extLst>
          </p:cNvPr>
          <p:cNvSpPr>
            <a:spLocks noGrp="1"/>
          </p:cNvSpPr>
          <p:nvPr>
            <p:ph type="sldNum" sz="quarter" idx="12"/>
          </p:nvPr>
        </p:nvSpPr>
        <p:spPr/>
        <p:txBody>
          <a:bodyPr/>
          <a:lstStyle/>
          <a:p>
            <a:fld id="{AD40181A-01B0-4CB8-8614-1473649F6741}" type="slidenum">
              <a:rPr lang="en-US" smtClean="0">
                <a:solidFill>
                  <a:srgbClr val="FFFFFE"/>
                </a:solidFill>
              </a:rPr>
              <a:t>11</a:t>
            </a:fld>
            <a:endParaRPr lang="en-US" dirty="0">
              <a:solidFill>
                <a:srgbClr val="FFFFFE"/>
              </a:solidFill>
            </a:endParaRPr>
          </a:p>
        </p:txBody>
      </p:sp>
      <p:sp>
        <p:nvSpPr>
          <p:cNvPr id="3" name="Title 2">
            <a:extLst>
              <a:ext uri="{FF2B5EF4-FFF2-40B4-BE49-F238E27FC236}">
                <a16:creationId xmlns:a16="http://schemas.microsoft.com/office/drawing/2014/main" id="{EE90D74E-F19F-C162-1C71-6A609F4707FB}"/>
              </a:ext>
            </a:extLst>
          </p:cNvPr>
          <p:cNvSpPr>
            <a:spLocks noGrp="1"/>
          </p:cNvSpPr>
          <p:nvPr>
            <p:ph type="title"/>
          </p:nvPr>
        </p:nvSpPr>
        <p:spPr>
          <a:xfrm>
            <a:off x="0" y="-294409"/>
            <a:ext cx="12192000" cy="1316304"/>
          </a:xfrm>
        </p:spPr>
        <p:txBody>
          <a:bodyPr/>
          <a:lstStyle/>
          <a:p>
            <a:r>
              <a:rPr lang="en-US" dirty="0"/>
              <a:t>CANTOS Phase 2: Tumor Name Standardization</a:t>
            </a:r>
          </a:p>
        </p:txBody>
      </p:sp>
      <p:pic>
        <p:nvPicPr>
          <p:cNvPr id="5" name="Graphic 4" descr="Document outline">
            <a:extLst>
              <a:ext uri="{FF2B5EF4-FFF2-40B4-BE49-F238E27FC236}">
                <a16:creationId xmlns:a16="http://schemas.microsoft.com/office/drawing/2014/main" id="{0D927044-A174-2479-82B2-24AA656D7C3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5015" y="716462"/>
            <a:ext cx="1122081" cy="1122081"/>
          </a:xfrm>
          <a:prstGeom prst="rect">
            <a:avLst/>
          </a:prstGeom>
        </p:spPr>
      </p:pic>
      <p:sp>
        <p:nvSpPr>
          <p:cNvPr id="6" name="TextBox 5">
            <a:extLst>
              <a:ext uri="{FF2B5EF4-FFF2-40B4-BE49-F238E27FC236}">
                <a16:creationId xmlns:a16="http://schemas.microsoft.com/office/drawing/2014/main" id="{EA1866D3-1891-9631-47E4-E1B933627280}"/>
              </a:ext>
            </a:extLst>
          </p:cNvPr>
          <p:cNvSpPr txBox="1"/>
          <p:nvPr/>
        </p:nvSpPr>
        <p:spPr>
          <a:xfrm>
            <a:off x="26800" y="1834241"/>
            <a:ext cx="1877437" cy="646331"/>
          </a:xfrm>
          <a:prstGeom prst="rect">
            <a:avLst/>
          </a:prstGeom>
          <a:noFill/>
        </p:spPr>
        <p:txBody>
          <a:bodyPr wrap="none" rtlCol="0">
            <a:spAutoFit/>
          </a:bodyPr>
          <a:lstStyle/>
          <a:p>
            <a:r>
              <a:rPr lang="en-US" dirty="0">
                <a:solidFill>
                  <a:schemeClr val="bg2">
                    <a:lumMod val="50000"/>
                  </a:schemeClr>
                </a:solidFill>
              </a:rPr>
              <a:t>Unstandardized </a:t>
            </a:r>
            <a:br>
              <a:rPr lang="en-US" dirty="0">
                <a:solidFill>
                  <a:schemeClr val="bg2">
                    <a:lumMod val="50000"/>
                  </a:schemeClr>
                </a:solidFill>
              </a:rPr>
            </a:br>
            <a:r>
              <a:rPr lang="en-US" dirty="0">
                <a:solidFill>
                  <a:schemeClr val="bg2">
                    <a:lumMod val="50000"/>
                  </a:schemeClr>
                </a:solidFill>
              </a:rPr>
              <a:t>Tumor </a:t>
            </a:r>
            <a:r>
              <a:rPr lang="en-US" dirty="0" err="1">
                <a:solidFill>
                  <a:schemeClr val="bg2">
                    <a:lumMod val="50000"/>
                  </a:schemeClr>
                </a:solidFill>
              </a:rPr>
              <a:t>List.csv</a:t>
            </a:r>
            <a:endParaRPr lang="en-US" dirty="0">
              <a:solidFill>
                <a:schemeClr val="bg2">
                  <a:lumMod val="50000"/>
                </a:schemeClr>
              </a:solidFill>
            </a:endParaRPr>
          </a:p>
        </p:txBody>
      </p:sp>
      <p:pic>
        <p:nvPicPr>
          <p:cNvPr id="9" name="Graphic 8" descr="Database outline">
            <a:extLst>
              <a:ext uri="{FF2B5EF4-FFF2-40B4-BE49-F238E27FC236}">
                <a16:creationId xmlns:a16="http://schemas.microsoft.com/office/drawing/2014/main" id="{08D9A37F-8F90-D6BE-3E02-F15A527112B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1306" y="2471051"/>
            <a:ext cx="1244416" cy="1244416"/>
          </a:xfrm>
          <a:prstGeom prst="rect">
            <a:avLst/>
          </a:prstGeom>
        </p:spPr>
      </p:pic>
      <p:sp>
        <p:nvSpPr>
          <p:cNvPr id="10" name="TextBox 9">
            <a:extLst>
              <a:ext uri="{FF2B5EF4-FFF2-40B4-BE49-F238E27FC236}">
                <a16:creationId xmlns:a16="http://schemas.microsoft.com/office/drawing/2014/main" id="{2D6DDF39-BA25-89EB-E669-D0571B03E686}"/>
              </a:ext>
            </a:extLst>
          </p:cNvPr>
          <p:cNvSpPr txBox="1"/>
          <p:nvPr/>
        </p:nvSpPr>
        <p:spPr>
          <a:xfrm>
            <a:off x="14874" y="3644757"/>
            <a:ext cx="1765922" cy="923330"/>
          </a:xfrm>
          <a:prstGeom prst="rect">
            <a:avLst/>
          </a:prstGeom>
          <a:noFill/>
        </p:spPr>
        <p:txBody>
          <a:bodyPr wrap="square" rtlCol="0">
            <a:spAutoFit/>
          </a:bodyPr>
          <a:lstStyle/>
          <a:p>
            <a:pPr algn="ctr"/>
            <a:r>
              <a:rPr lang="en-US" dirty="0">
                <a:solidFill>
                  <a:schemeClr val="bg2">
                    <a:lumMod val="50000"/>
                  </a:schemeClr>
                </a:solidFill>
              </a:rPr>
              <a:t>WHO Tumor Classification System</a:t>
            </a:r>
          </a:p>
        </p:txBody>
      </p:sp>
      <p:sp>
        <p:nvSpPr>
          <p:cNvPr id="12" name="Rectangle 11">
            <a:extLst>
              <a:ext uri="{FF2B5EF4-FFF2-40B4-BE49-F238E27FC236}">
                <a16:creationId xmlns:a16="http://schemas.microsoft.com/office/drawing/2014/main" id="{E83079F9-18CC-2DE7-4934-F07C486C4F5D}"/>
              </a:ext>
            </a:extLst>
          </p:cNvPr>
          <p:cNvSpPr/>
          <p:nvPr/>
        </p:nvSpPr>
        <p:spPr>
          <a:xfrm>
            <a:off x="2629512" y="1054229"/>
            <a:ext cx="2907576" cy="8374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Compute edit distance matrices: Cosine, </a:t>
            </a:r>
            <a:r>
              <a:rPr lang="en-US" dirty="0" err="1"/>
              <a:t>Jarro</a:t>
            </a:r>
            <a:r>
              <a:rPr lang="en-US" dirty="0"/>
              <a:t> Winkler, </a:t>
            </a:r>
            <a:r>
              <a:rPr lang="en-US" dirty="0" err="1"/>
              <a:t>Levenshtein</a:t>
            </a:r>
            <a:endParaRPr lang="en-US" dirty="0"/>
          </a:p>
        </p:txBody>
      </p:sp>
      <p:sp>
        <p:nvSpPr>
          <p:cNvPr id="24" name="Right Arrow 23">
            <a:extLst>
              <a:ext uri="{FF2B5EF4-FFF2-40B4-BE49-F238E27FC236}">
                <a16:creationId xmlns:a16="http://schemas.microsoft.com/office/drawing/2014/main" id="{DEC3A602-79D5-D2EF-F1FF-AA77FF310725}"/>
              </a:ext>
            </a:extLst>
          </p:cNvPr>
          <p:cNvSpPr/>
          <p:nvPr/>
        </p:nvSpPr>
        <p:spPr>
          <a:xfrm>
            <a:off x="5747659" y="1136938"/>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576B41CF-C4EB-66B7-4C73-89122363C57B}"/>
              </a:ext>
            </a:extLst>
          </p:cNvPr>
          <p:cNvSpPr/>
          <p:nvPr/>
        </p:nvSpPr>
        <p:spPr>
          <a:xfrm>
            <a:off x="7030939" y="1001030"/>
            <a:ext cx="3777046" cy="952919"/>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Assign the closest standardized tumor name to the unstandardized tumor name from CTR</a:t>
            </a:r>
          </a:p>
        </p:txBody>
      </p:sp>
      <p:sp>
        <p:nvSpPr>
          <p:cNvPr id="26" name="Rectangle 25">
            <a:extLst>
              <a:ext uri="{FF2B5EF4-FFF2-40B4-BE49-F238E27FC236}">
                <a16:creationId xmlns:a16="http://schemas.microsoft.com/office/drawing/2014/main" id="{7AE309AD-F675-F3D6-75E6-1BED41292FA7}"/>
              </a:ext>
            </a:extLst>
          </p:cNvPr>
          <p:cNvSpPr/>
          <p:nvPr/>
        </p:nvSpPr>
        <p:spPr>
          <a:xfrm>
            <a:off x="2683316" y="2700388"/>
            <a:ext cx="3071488" cy="7179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Use edit distance to cluster: Affinity Propagation</a:t>
            </a:r>
          </a:p>
        </p:txBody>
      </p:sp>
      <p:sp>
        <p:nvSpPr>
          <p:cNvPr id="27" name="Right Arrow 26">
            <a:extLst>
              <a:ext uri="{FF2B5EF4-FFF2-40B4-BE49-F238E27FC236}">
                <a16:creationId xmlns:a16="http://schemas.microsoft.com/office/drawing/2014/main" id="{AE710EF4-4533-E403-8B35-8E5CE41FF361}"/>
              </a:ext>
            </a:extLst>
          </p:cNvPr>
          <p:cNvSpPr/>
          <p:nvPr/>
        </p:nvSpPr>
        <p:spPr>
          <a:xfrm rot="5400000">
            <a:off x="3820459" y="2017283"/>
            <a:ext cx="717906" cy="5549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691C0645-72CC-2657-A1C0-F52E72460D40}"/>
              </a:ext>
            </a:extLst>
          </p:cNvPr>
          <p:cNvSpPr/>
          <p:nvPr/>
        </p:nvSpPr>
        <p:spPr>
          <a:xfrm>
            <a:off x="2296830" y="4297254"/>
            <a:ext cx="3765164" cy="8600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 each cluster find the standardized tumor name closest to each cluster member. </a:t>
            </a:r>
          </a:p>
        </p:txBody>
      </p:sp>
      <p:sp>
        <p:nvSpPr>
          <p:cNvPr id="29" name="Right Arrow 28">
            <a:extLst>
              <a:ext uri="{FF2B5EF4-FFF2-40B4-BE49-F238E27FC236}">
                <a16:creationId xmlns:a16="http://schemas.microsoft.com/office/drawing/2014/main" id="{3FD0F542-0B77-26F1-7CE8-9516EB30B754}"/>
              </a:ext>
            </a:extLst>
          </p:cNvPr>
          <p:cNvSpPr/>
          <p:nvPr/>
        </p:nvSpPr>
        <p:spPr>
          <a:xfrm>
            <a:off x="1391489" y="1102900"/>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ight Arrow 29">
            <a:extLst>
              <a:ext uri="{FF2B5EF4-FFF2-40B4-BE49-F238E27FC236}">
                <a16:creationId xmlns:a16="http://schemas.microsoft.com/office/drawing/2014/main" id="{EADDD32C-3077-2C2D-D980-404210817F74}"/>
              </a:ext>
            </a:extLst>
          </p:cNvPr>
          <p:cNvSpPr/>
          <p:nvPr/>
        </p:nvSpPr>
        <p:spPr>
          <a:xfrm rot="19419849">
            <a:off x="1657498" y="223010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ight Arrow 30">
            <a:extLst>
              <a:ext uri="{FF2B5EF4-FFF2-40B4-BE49-F238E27FC236}">
                <a16:creationId xmlns:a16="http://schemas.microsoft.com/office/drawing/2014/main" id="{72015DEA-0C6D-AD5B-FE85-B8BC8A39B033}"/>
              </a:ext>
            </a:extLst>
          </p:cNvPr>
          <p:cNvSpPr/>
          <p:nvPr/>
        </p:nvSpPr>
        <p:spPr>
          <a:xfrm rot="5400000">
            <a:off x="3831138" y="3593062"/>
            <a:ext cx="717906" cy="5549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48F35627-7B35-81FC-9A8A-8EFE150EA062}"/>
              </a:ext>
            </a:extLst>
          </p:cNvPr>
          <p:cNvSpPr/>
          <p:nvPr/>
        </p:nvSpPr>
        <p:spPr>
          <a:xfrm>
            <a:off x="7002398" y="3418295"/>
            <a:ext cx="3951340" cy="1073935"/>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If a standardized name represents majority of the cluster member assign it as the standardized name for all cluster members.</a:t>
            </a:r>
          </a:p>
        </p:txBody>
      </p:sp>
      <p:sp>
        <p:nvSpPr>
          <p:cNvPr id="34" name="Rectangle 33">
            <a:extLst>
              <a:ext uri="{FF2B5EF4-FFF2-40B4-BE49-F238E27FC236}">
                <a16:creationId xmlns:a16="http://schemas.microsoft.com/office/drawing/2014/main" id="{F47600FE-E23D-E916-7575-E73E22F29AB3}"/>
              </a:ext>
            </a:extLst>
          </p:cNvPr>
          <p:cNvSpPr/>
          <p:nvPr/>
        </p:nvSpPr>
        <p:spPr>
          <a:xfrm>
            <a:off x="7030939" y="4701874"/>
            <a:ext cx="3951339" cy="860083"/>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Otherwise, assign cluster members to nearest standardized term</a:t>
            </a:r>
          </a:p>
        </p:txBody>
      </p:sp>
      <p:sp>
        <p:nvSpPr>
          <p:cNvPr id="36" name="Right Arrow 35">
            <a:extLst>
              <a:ext uri="{FF2B5EF4-FFF2-40B4-BE49-F238E27FC236}">
                <a16:creationId xmlns:a16="http://schemas.microsoft.com/office/drawing/2014/main" id="{9AC9C69E-8BD0-83A7-8EE6-C9BFDFB9DBC7}"/>
              </a:ext>
            </a:extLst>
          </p:cNvPr>
          <p:cNvSpPr/>
          <p:nvPr/>
        </p:nvSpPr>
        <p:spPr>
          <a:xfrm>
            <a:off x="6132670" y="4398806"/>
            <a:ext cx="717906" cy="5549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ight Brace 3">
            <a:extLst>
              <a:ext uri="{FF2B5EF4-FFF2-40B4-BE49-F238E27FC236}">
                <a16:creationId xmlns:a16="http://schemas.microsoft.com/office/drawing/2014/main" id="{600FA181-A992-DD0D-5CB4-088E693E75FB}"/>
              </a:ext>
            </a:extLst>
          </p:cNvPr>
          <p:cNvSpPr/>
          <p:nvPr/>
        </p:nvSpPr>
        <p:spPr>
          <a:xfrm>
            <a:off x="11046758" y="3686560"/>
            <a:ext cx="1140035" cy="223579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E239C3DB-2C35-219F-451D-86A29531D9E5}"/>
              </a:ext>
            </a:extLst>
          </p:cNvPr>
          <p:cNvSpPr txBox="1"/>
          <p:nvPr/>
        </p:nvSpPr>
        <p:spPr>
          <a:xfrm>
            <a:off x="8612577" y="2016040"/>
            <a:ext cx="2621230" cy="369332"/>
          </a:xfrm>
          <a:prstGeom prst="rect">
            <a:avLst/>
          </a:prstGeom>
          <a:noFill/>
        </p:spPr>
        <p:txBody>
          <a:bodyPr wrap="none" rtlCol="0">
            <a:spAutoFit/>
          </a:bodyPr>
          <a:lstStyle/>
          <a:p>
            <a:r>
              <a:rPr lang="en-US" dirty="0"/>
              <a:t>Closest match approach</a:t>
            </a:r>
          </a:p>
        </p:txBody>
      </p:sp>
      <p:sp>
        <p:nvSpPr>
          <p:cNvPr id="8" name="Right Brace 7">
            <a:extLst>
              <a:ext uri="{FF2B5EF4-FFF2-40B4-BE49-F238E27FC236}">
                <a16:creationId xmlns:a16="http://schemas.microsoft.com/office/drawing/2014/main" id="{5AAD7296-6D9B-0524-2F1F-4564768692A3}"/>
              </a:ext>
            </a:extLst>
          </p:cNvPr>
          <p:cNvSpPr/>
          <p:nvPr/>
        </p:nvSpPr>
        <p:spPr>
          <a:xfrm>
            <a:off x="10816190" y="868862"/>
            <a:ext cx="1140035" cy="165322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C6A03E6C-FEDA-1054-D40F-FABECE919F01}"/>
              </a:ext>
            </a:extLst>
          </p:cNvPr>
          <p:cNvSpPr txBox="1"/>
          <p:nvPr/>
        </p:nvSpPr>
        <p:spPr>
          <a:xfrm>
            <a:off x="8809861" y="5585353"/>
            <a:ext cx="2576346" cy="369332"/>
          </a:xfrm>
          <a:prstGeom prst="rect">
            <a:avLst/>
          </a:prstGeom>
          <a:noFill/>
        </p:spPr>
        <p:txBody>
          <a:bodyPr wrap="none" rtlCol="0">
            <a:spAutoFit/>
          </a:bodyPr>
          <a:lstStyle/>
          <a:p>
            <a:r>
              <a:rPr lang="en-US" dirty="0"/>
              <a:t>Cluster based approach</a:t>
            </a:r>
          </a:p>
        </p:txBody>
      </p:sp>
    </p:spTree>
    <p:extLst>
      <p:ext uri="{BB962C8B-B14F-4D97-AF65-F5344CB8AC3E}">
        <p14:creationId xmlns:p14="http://schemas.microsoft.com/office/powerpoint/2010/main" val="38179559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C1EB9-9B68-70A2-3AE0-52EF6172BB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261B09-5FE2-1F2B-B4DA-07731E7651A6}"/>
              </a:ext>
            </a:extLst>
          </p:cNvPr>
          <p:cNvSpPr>
            <a:spLocks noGrp="1"/>
          </p:cNvSpPr>
          <p:nvPr>
            <p:ph type="title"/>
          </p:nvPr>
        </p:nvSpPr>
        <p:spPr>
          <a:xfrm>
            <a:off x="87086" y="21771"/>
            <a:ext cx="12104914" cy="892629"/>
          </a:xfrm>
        </p:spPr>
        <p:txBody>
          <a:bodyPr/>
          <a:lstStyle/>
          <a:p>
            <a:r>
              <a:rPr lang="en-US" dirty="0"/>
              <a:t>CANTOS Phase 2: Tumor Name Standardization</a:t>
            </a:r>
          </a:p>
        </p:txBody>
      </p:sp>
      <p:sp>
        <p:nvSpPr>
          <p:cNvPr id="3" name="Content Placeholder 2">
            <a:extLst>
              <a:ext uri="{FF2B5EF4-FFF2-40B4-BE49-F238E27FC236}">
                <a16:creationId xmlns:a16="http://schemas.microsoft.com/office/drawing/2014/main" id="{746048D8-729C-FD55-857D-1B1119FA6E74}"/>
              </a:ext>
            </a:extLst>
          </p:cNvPr>
          <p:cNvSpPr>
            <a:spLocks noGrp="1"/>
          </p:cNvSpPr>
          <p:nvPr>
            <p:ph idx="1"/>
          </p:nvPr>
        </p:nvSpPr>
        <p:spPr>
          <a:xfrm>
            <a:off x="179670" y="1164771"/>
            <a:ext cx="11261215" cy="4484914"/>
          </a:xfrm>
        </p:spPr>
        <p:txBody>
          <a:bodyPr>
            <a:normAutofit/>
          </a:bodyPr>
          <a:lstStyle/>
          <a:p>
            <a:pPr algn="just"/>
            <a:r>
              <a:rPr lang="en-US" sz="1800" dirty="0">
                <a:solidFill>
                  <a:schemeClr val="tx1"/>
                </a:solidFill>
                <a:latin typeface="+mn-lt"/>
                <a:cs typeface="+mn-cs"/>
              </a:rPr>
              <a:t>Edit distances: are a way of measuring how different two strings (sequences of characters) are. The edit distance is the minimum number of operations needed to transform one string into another. E.g. </a:t>
            </a:r>
            <a:r>
              <a:rPr lang="en-US" sz="1800" dirty="0" err="1">
                <a:solidFill>
                  <a:schemeClr val="tx1"/>
                </a:solidFill>
                <a:latin typeface="+mn-lt"/>
                <a:cs typeface="+mn-cs"/>
              </a:rPr>
              <a:t>Levenshtein</a:t>
            </a:r>
            <a:r>
              <a:rPr lang="en-US" sz="1800" dirty="0">
                <a:solidFill>
                  <a:schemeClr val="tx1"/>
                </a:solidFill>
                <a:latin typeface="+mn-lt"/>
                <a:cs typeface="+mn-cs"/>
              </a:rPr>
              <a:t> , cosine, </a:t>
            </a:r>
            <a:r>
              <a:rPr lang="en-US" sz="1800" dirty="0" err="1">
                <a:solidFill>
                  <a:schemeClr val="tx1"/>
                </a:solidFill>
                <a:latin typeface="+mn-lt"/>
                <a:cs typeface="+mn-cs"/>
              </a:rPr>
              <a:t>jarro-winkler</a:t>
            </a:r>
            <a:r>
              <a:rPr lang="en-US" sz="1800" dirty="0">
                <a:solidFill>
                  <a:schemeClr val="tx1"/>
                </a:solidFill>
                <a:latin typeface="+mn-lt"/>
                <a:cs typeface="+mn-cs"/>
              </a:rPr>
              <a:t> etc. </a:t>
            </a:r>
          </a:p>
          <a:p>
            <a:pPr lvl="1" algn="just"/>
            <a:r>
              <a:rPr lang="en-US" sz="1400" dirty="0">
                <a:solidFill>
                  <a:schemeClr val="tx1"/>
                </a:solidFill>
                <a:latin typeface="+mn-lt"/>
              </a:rPr>
              <a:t>Example : Lung Cancer  and Liver Cancer :  </a:t>
            </a:r>
            <a:r>
              <a:rPr lang="en-US" sz="1400" dirty="0" err="1">
                <a:solidFill>
                  <a:schemeClr val="tx1"/>
                </a:solidFill>
                <a:latin typeface="+mn-lt"/>
              </a:rPr>
              <a:t>Levenshtein</a:t>
            </a:r>
            <a:r>
              <a:rPr lang="en-US" sz="1400" dirty="0">
                <a:solidFill>
                  <a:schemeClr val="tx1"/>
                </a:solidFill>
                <a:latin typeface="+mn-lt"/>
              </a:rPr>
              <a:t> Distance =4</a:t>
            </a:r>
          </a:p>
          <a:p>
            <a:pPr lvl="1" algn="just"/>
            <a:r>
              <a:rPr lang="en-US" sz="1400" dirty="0">
                <a:solidFill>
                  <a:schemeClr val="tx1"/>
                </a:solidFill>
                <a:latin typeface="+mn-lt"/>
                <a:cs typeface="+mn-cs"/>
              </a:rPr>
              <a:t>Example:  Lung Cancer and Non Smal</a:t>
            </a:r>
            <a:r>
              <a:rPr lang="en-US" sz="1400" dirty="0">
                <a:solidFill>
                  <a:schemeClr val="tx1"/>
                </a:solidFill>
                <a:latin typeface="+mn-lt"/>
              </a:rPr>
              <a:t>l Cell Lung Cancer:  </a:t>
            </a:r>
            <a:r>
              <a:rPr lang="en-US" sz="1400" dirty="0" err="1">
                <a:solidFill>
                  <a:schemeClr val="tx1"/>
                </a:solidFill>
                <a:latin typeface="+mn-lt"/>
              </a:rPr>
              <a:t>Levenshtein</a:t>
            </a:r>
            <a:r>
              <a:rPr lang="en-US" sz="1400" dirty="0">
                <a:solidFill>
                  <a:schemeClr val="tx1"/>
                </a:solidFill>
                <a:latin typeface="+mn-lt"/>
              </a:rPr>
              <a:t> Distance =14</a:t>
            </a:r>
            <a:endParaRPr lang="en-US" sz="1400" dirty="0">
              <a:solidFill>
                <a:schemeClr val="tx1"/>
              </a:solidFill>
              <a:latin typeface="+mn-lt"/>
              <a:cs typeface="+mn-cs"/>
            </a:endParaRPr>
          </a:p>
          <a:p>
            <a:pPr algn="just"/>
            <a:endParaRPr lang="en-US" sz="1800" dirty="0">
              <a:solidFill>
                <a:schemeClr val="tx1"/>
              </a:solidFill>
              <a:latin typeface="+mn-lt"/>
              <a:cs typeface="+mn-cs"/>
            </a:endParaRPr>
          </a:p>
          <a:p>
            <a:r>
              <a:rPr lang="en-US" sz="1800" dirty="0">
                <a:solidFill>
                  <a:schemeClr val="tx1"/>
                </a:solidFill>
                <a:latin typeface="+mn-lt"/>
                <a:cs typeface="+mn-cs"/>
              </a:rPr>
              <a:t>Text Embeddings: Text embeddings are numerical vector representations of text — words, phrases, or entire documents — that capture their meaning and semantic relationships in a high-dimensional space.</a:t>
            </a:r>
          </a:p>
          <a:p>
            <a:pPr lvl="1"/>
            <a:r>
              <a:rPr lang="en-US" sz="1400" dirty="0">
                <a:solidFill>
                  <a:schemeClr val="tx1"/>
                </a:solidFill>
                <a:latin typeface="+mn-lt"/>
                <a:cs typeface="+mn-cs"/>
              </a:rPr>
              <a:t>Similar meanings → vectors that are close together</a:t>
            </a:r>
            <a:br>
              <a:rPr lang="en-US" sz="1400" dirty="0">
                <a:solidFill>
                  <a:schemeClr val="tx1"/>
                </a:solidFill>
                <a:latin typeface="+mn-lt"/>
                <a:cs typeface="+mn-cs"/>
              </a:rPr>
            </a:br>
            <a:r>
              <a:rPr lang="en-US" sz="1400" dirty="0">
                <a:solidFill>
                  <a:schemeClr val="tx1"/>
                </a:solidFill>
                <a:latin typeface="+mn-lt"/>
                <a:cs typeface="+mn-cs"/>
              </a:rPr>
              <a:t>Different meanings → vectors that are far apart</a:t>
            </a:r>
          </a:p>
          <a:p>
            <a:pPr lvl="1"/>
            <a:endParaRPr lang="en-US" sz="1800" dirty="0">
              <a:solidFill>
                <a:schemeClr val="tx1"/>
              </a:solidFill>
              <a:latin typeface="+mn-lt"/>
            </a:endParaRPr>
          </a:p>
          <a:p>
            <a:r>
              <a:rPr lang="en-US" sz="1800" dirty="0">
                <a:solidFill>
                  <a:schemeClr val="tx1"/>
                </a:solidFill>
                <a:latin typeface="+mn-lt"/>
                <a:cs typeface="+mn-cs"/>
              </a:rPr>
              <a:t>Text Embeddings: generated by models based on NLP (Word2Vec, </a:t>
            </a:r>
            <a:r>
              <a:rPr lang="en-US" sz="1800" dirty="0" err="1">
                <a:solidFill>
                  <a:schemeClr val="tx1"/>
                </a:solidFill>
                <a:latin typeface="+mn-lt"/>
                <a:cs typeface="+mn-cs"/>
              </a:rPr>
              <a:t>GloVe</a:t>
            </a:r>
            <a:r>
              <a:rPr lang="en-US" sz="1800" dirty="0">
                <a:solidFill>
                  <a:schemeClr val="tx1"/>
                </a:solidFill>
                <a:latin typeface="+mn-lt"/>
                <a:cs typeface="+mn-cs"/>
              </a:rPr>
              <a:t>), transformers (</a:t>
            </a:r>
            <a:r>
              <a:rPr lang="en-US" sz="1800" dirty="0" err="1">
                <a:solidFill>
                  <a:schemeClr val="tx1"/>
                </a:solidFill>
                <a:latin typeface="+mn-lt"/>
                <a:cs typeface="+mn-cs"/>
              </a:rPr>
              <a:t>BioBERT</a:t>
            </a:r>
            <a:r>
              <a:rPr lang="en-US" sz="1800" dirty="0">
                <a:solidFill>
                  <a:schemeClr val="tx1"/>
                </a:solidFill>
                <a:latin typeface="+mn-lt"/>
                <a:cs typeface="+mn-cs"/>
              </a:rPr>
              <a:t>, </a:t>
            </a:r>
            <a:r>
              <a:rPr lang="en-US" sz="1800" dirty="0" err="1">
                <a:solidFill>
                  <a:schemeClr val="tx1"/>
                </a:solidFill>
                <a:latin typeface="+mn-lt"/>
                <a:cs typeface="+mn-cs"/>
              </a:rPr>
              <a:t>BioGPT</a:t>
            </a:r>
            <a:r>
              <a:rPr lang="en-US" sz="1800" dirty="0">
                <a:solidFill>
                  <a:schemeClr val="tx1"/>
                </a:solidFill>
                <a:latin typeface="+mn-lt"/>
                <a:cs typeface="+mn-cs"/>
              </a:rPr>
              <a:t>) and LLMs (Llama, Open AI, Cohere, </a:t>
            </a:r>
            <a:r>
              <a:rPr lang="en-US" sz="1800" dirty="0" err="1">
                <a:solidFill>
                  <a:schemeClr val="tx1"/>
                </a:solidFill>
                <a:latin typeface="+mn-lt"/>
                <a:cs typeface="+mn-cs"/>
              </a:rPr>
              <a:t>miniLM</a:t>
            </a:r>
            <a:r>
              <a:rPr lang="en-US" sz="1800" dirty="0">
                <a:solidFill>
                  <a:schemeClr val="tx1"/>
                </a:solidFill>
                <a:latin typeface="+mn-lt"/>
                <a:cs typeface="+mn-cs"/>
              </a:rPr>
              <a:t>).</a:t>
            </a:r>
          </a:p>
          <a:p>
            <a:endParaRPr lang="en-US" sz="1800" dirty="0">
              <a:solidFill>
                <a:schemeClr val="tx1"/>
              </a:solidFill>
              <a:latin typeface="+mn-lt"/>
              <a:cs typeface="+mn-cs"/>
            </a:endParaRPr>
          </a:p>
        </p:txBody>
      </p:sp>
      <p:sp>
        <p:nvSpPr>
          <p:cNvPr id="4" name="Slide Number Placeholder 3">
            <a:extLst>
              <a:ext uri="{FF2B5EF4-FFF2-40B4-BE49-F238E27FC236}">
                <a16:creationId xmlns:a16="http://schemas.microsoft.com/office/drawing/2014/main" id="{329BE4E6-4BC0-54DC-4146-6C32F8532DB7}"/>
              </a:ext>
            </a:extLst>
          </p:cNvPr>
          <p:cNvSpPr>
            <a:spLocks noGrp="1"/>
          </p:cNvSpPr>
          <p:nvPr>
            <p:ph type="sldNum" sz="quarter" idx="12"/>
          </p:nvPr>
        </p:nvSpPr>
        <p:spPr/>
        <p:txBody>
          <a:bodyPr/>
          <a:lstStyle/>
          <a:p>
            <a:fld id="{AD40181A-01B0-4CB8-8614-1473649F6741}" type="slidenum">
              <a:rPr lang="en-US" smtClean="0">
                <a:solidFill>
                  <a:schemeClr val="bg1"/>
                </a:solidFill>
              </a:rPr>
              <a:t>12</a:t>
            </a:fld>
            <a:endParaRPr lang="en-US" dirty="0">
              <a:solidFill>
                <a:schemeClr val="bg1"/>
              </a:solidFill>
            </a:endParaRPr>
          </a:p>
        </p:txBody>
      </p:sp>
    </p:spTree>
    <p:extLst>
      <p:ext uri="{BB962C8B-B14F-4D97-AF65-F5344CB8AC3E}">
        <p14:creationId xmlns:p14="http://schemas.microsoft.com/office/powerpoint/2010/main" val="35349418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6F464-9BC2-59B5-6597-4C3F2CDFD51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6DBE8F5-57CD-3A29-C0B3-CB97D1180950}"/>
              </a:ext>
            </a:extLst>
          </p:cNvPr>
          <p:cNvSpPr>
            <a:spLocks noGrp="1"/>
          </p:cNvSpPr>
          <p:nvPr>
            <p:ph type="sldNum" sz="quarter" idx="12"/>
          </p:nvPr>
        </p:nvSpPr>
        <p:spPr/>
        <p:txBody>
          <a:bodyPr/>
          <a:lstStyle/>
          <a:p>
            <a:fld id="{AD40181A-01B0-4CB8-8614-1473649F6741}" type="slidenum">
              <a:rPr lang="en-US" smtClean="0">
                <a:solidFill>
                  <a:srgbClr val="FFFFFE"/>
                </a:solidFill>
              </a:rPr>
              <a:t>13</a:t>
            </a:fld>
            <a:endParaRPr lang="en-US" dirty="0">
              <a:solidFill>
                <a:srgbClr val="FFFFFE"/>
              </a:solidFill>
            </a:endParaRPr>
          </a:p>
        </p:txBody>
      </p:sp>
      <p:sp>
        <p:nvSpPr>
          <p:cNvPr id="3" name="Title 2">
            <a:extLst>
              <a:ext uri="{FF2B5EF4-FFF2-40B4-BE49-F238E27FC236}">
                <a16:creationId xmlns:a16="http://schemas.microsoft.com/office/drawing/2014/main" id="{23D9419A-DE97-CD7A-A21A-0DC56A367EDA}"/>
              </a:ext>
            </a:extLst>
          </p:cNvPr>
          <p:cNvSpPr>
            <a:spLocks noGrp="1"/>
          </p:cNvSpPr>
          <p:nvPr>
            <p:ph type="title"/>
          </p:nvPr>
        </p:nvSpPr>
        <p:spPr>
          <a:xfrm>
            <a:off x="0" y="-294410"/>
            <a:ext cx="12192000" cy="1414237"/>
          </a:xfrm>
        </p:spPr>
        <p:txBody>
          <a:bodyPr/>
          <a:lstStyle/>
          <a:p>
            <a:r>
              <a:rPr lang="en-US" dirty="0"/>
              <a:t>CANTOS phase 2: Tumor Name Standardization</a:t>
            </a:r>
          </a:p>
        </p:txBody>
      </p:sp>
      <p:pic>
        <p:nvPicPr>
          <p:cNvPr id="5" name="Graphic 4" descr="Document outline">
            <a:extLst>
              <a:ext uri="{FF2B5EF4-FFF2-40B4-BE49-F238E27FC236}">
                <a16:creationId xmlns:a16="http://schemas.microsoft.com/office/drawing/2014/main" id="{B1274813-20A4-1606-A389-6B2E381AC6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5015" y="716462"/>
            <a:ext cx="1122081" cy="1122081"/>
          </a:xfrm>
          <a:prstGeom prst="rect">
            <a:avLst/>
          </a:prstGeom>
        </p:spPr>
      </p:pic>
      <p:sp>
        <p:nvSpPr>
          <p:cNvPr id="6" name="TextBox 5">
            <a:extLst>
              <a:ext uri="{FF2B5EF4-FFF2-40B4-BE49-F238E27FC236}">
                <a16:creationId xmlns:a16="http://schemas.microsoft.com/office/drawing/2014/main" id="{EC885851-A36F-18EE-0542-BF2BF98804E4}"/>
              </a:ext>
            </a:extLst>
          </p:cNvPr>
          <p:cNvSpPr txBox="1"/>
          <p:nvPr/>
        </p:nvSpPr>
        <p:spPr>
          <a:xfrm>
            <a:off x="26800" y="1834241"/>
            <a:ext cx="1877437" cy="646331"/>
          </a:xfrm>
          <a:prstGeom prst="rect">
            <a:avLst/>
          </a:prstGeom>
          <a:noFill/>
        </p:spPr>
        <p:txBody>
          <a:bodyPr wrap="none" rtlCol="0">
            <a:spAutoFit/>
          </a:bodyPr>
          <a:lstStyle/>
          <a:p>
            <a:r>
              <a:rPr lang="en-US" dirty="0">
                <a:solidFill>
                  <a:schemeClr val="bg2">
                    <a:lumMod val="50000"/>
                  </a:schemeClr>
                </a:solidFill>
              </a:rPr>
              <a:t>Unstandardized </a:t>
            </a:r>
            <a:br>
              <a:rPr lang="en-US" dirty="0">
                <a:solidFill>
                  <a:schemeClr val="bg2">
                    <a:lumMod val="50000"/>
                  </a:schemeClr>
                </a:solidFill>
              </a:rPr>
            </a:br>
            <a:r>
              <a:rPr lang="en-US" dirty="0">
                <a:solidFill>
                  <a:schemeClr val="bg2">
                    <a:lumMod val="50000"/>
                  </a:schemeClr>
                </a:solidFill>
              </a:rPr>
              <a:t>Tumor </a:t>
            </a:r>
            <a:r>
              <a:rPr lang="en-US" dirty="0" err="1">
                <a:solidFill>
                  <a:schemeClr val="bg2">
                    <a:lumMod val="50000"/>
                  </a:schemeClr>
                </a:solidFill>
              </a:rPr>
              <a:t>List.csv</a:t>
            </a:r>
            <a:endParaRPr lang="en-US" dirty="0">
              <a:solidFill>
                <a:schemeClr val="bg2">
                  <a:lumMod val="50000"/>
                </a:schemeClr>
              </a:solidFill>
            </a:endParaRPr>
          </a:p>
        </p:txBody>
      </p:sp>
      <p:pic>
        <p:nvPicPr>
          <p:cNvPr id="9" name="Graphic 8" descr="Database outline">
            <a:extLst>
              <a:ext uri="{FF2B5EF4-FFF2-40B4-BE49-F238E27FC236}">
                <a16:creationId xmlns:a16="http://schemas.microsoft.com/office/drawing/2014/main" id="{9B7A1ED1-AF7D-2EAA-FDC9-7C40132B7AE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1306" y="2471051"/>
            <a:ext cx="1244416" cy="1244416"/>
          </a:xfrm>
          <a:prstGeom prst="rect">
            <a:avLst/>
          </a:prstGeom>
        </p:spPr>
      </p:pic>
      <p:sp>
        <p:nvSpPr>
          <p:cNvPr id="10" name="TextBox 9">
            <a:extLst>
              <a:ext uri="{FF2B5EF4-FFF2-40B4-BE49-F238E27FC236}">
                <a16:creationId xmlns:a16="http://schemas.microsoft.com/office/drawing/2014/main" id="{AFB1358E-8A86-AD6C-27A6-FA2CDE97CB51}"/>
              </a:ext>
            </a:extLst>
          </p:cNvPr>
          <p:cNvSpPr txBox="1"/>
          <p:nvPr/>
        </p:nvSpPr>
        <p:spPr>
          <a:xfrm>
            <a:off x="14874" y="3644757"/>
            <a:ext cx="1765922" cy="923330"/>
          </a:xfrm>
          <a:prstGeom prst="rect">
            <a:avLst/>
          </a:prstGeom>
          <a:noFill/>
        </p:spPr>
        <p:txBody>
          <a:bodyPr wrap="square" rtlCol="0">
            <a:spAutoFit/>
          </a:bodyPr>
          <a:lstStyle/>
          <a:p>
            <a:pPr algn="ctr"/>
            <a:r>
              <a:rPr lang="en-US" dirty="0">
                <a:solidFill>
                  <a:schemeClr val="bg2">
                    <a:lumMod val="50000"/>
                  </a:schemeClr>
                </a:solidFill>
              </a:rPr>
              <a:t>WHO Tumor Classification System</a:t>
            </a:r>
          </a:p>
        </p:txBody>
      </p:sp>
      <p:sp>
        <p:nvSpPr>
          <p:cNvPr id="12" name="Rectangle 11">
            <a:extLst>
              <a:ext uri="{FF2B5EF4-FFF2-40B4-BE49-F238E27FC236}">
                <a16:creationId xmlns:a16="http://schemas.microsoft.com/office/drawing/2014/main" id="{B0BC2DE0-B4D5-9473-5C7D-82C99B381AB9}"/>
              </a:ext>
            </a:extLst>
          </p:cNvPr>
          <p:cNvSpPr/>
          <p:nvPr/>
        </p:nvSpPr>
        <p:spPr>
          <a:xfrm>
            <a:off x="2629512" y="1054229"/>
            <a:ext cx="2907576" cy="8374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Compute embedding distance matrices</a:t>
            </a:r>
          </a:p>
        </p:txBody>
      </p:sp>
      <p:sp>
        <p:nvSpPr>
          <p:cNvPr id="24" name="Right Arrow 23">
            <a:extLst>
              <a:ext uri="{FF2B5EF4-FFF2-40B4-BE49-F238E27FC236}">
                <a16:creationId xmlns:a16="http://schemas.microsoft.com/office/drawing/2014/main" id="{AE277EA4-33A9-11F8-A04C-D51F165EEAD3}"/>
              </a:ext>
            </a:extLst>
          </p:cNvPr>
          <p:cNvSpPr/>
          <p:nvPr/>
        </p:nvSpPr>
        <p:spPr>
          <a:xfrm>
            <a:off x="5747659" y="1136938"/>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C39FA034-ED8A-47ED-5412-F1A63511EA3C}"/>
              </a:ext>
            </a:extLst>
          </p:cNvPr>
          <p:cNvSpPr/>
          <p:nvPr/>
        </p:nvSpPr>
        <p:spPr>
          <a:xfrm>
            <a:off x="7030939" y="1001030"/>
            <a:ext cx="3777046" cy="952919"/>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Assign the closest standardized tumor name to the unstandardized tumor name from CTR</a:t>
            </a:r>
          </a:p>
        </p:txBody>
      </p:sp>
      <p:sp>
        <p:nvSpPr>
          <p:cNvPr id="26" name="Rectangle 25">
            <a:extLst>
              <a:ext uri="{FF2B5EF4-FFF2-40B4-BE49-F238E27FC236}">
                <a16:creationId xmlns:a16="http://schemas.microsoft.com/office/drawing/2014/main" id="{610E811E-8F27-2DFB-ED8D-FD08D41E84C1}"/>
              </a:ext>
            </a:extLst>
          </p:cNvPr>
          <p:cNvSpPr/>
          <p:nvPr/>
        </p:nvSpPr>
        <p:spPr>
          <a:xfrm>
            <a:off x="2600879" y="2650336"/>
            <a:ext cx="3271171" cy="8559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Use embedding distance to cluster: Affinity Propagation or </a:t>
            </a:r>
            <a:r>
              <a:rPr lang="en-US" dirty="0" err="1"/>
              <a:t>KMeans</a:t>
            </a:r>
            <a:endParaRPr lang="en-US" dirty="0"/>
          </a:p>
        </p:txBody>
      </p:sp>
      <p:sp>
        <p:nvSpPr>
          <p:cNvPr id="27" name="Right Arrow 26">
            <a:extLst>
              <a:ext uri="{FF2B5EF4-FFF2-40B4-BE49-F238E27FC236}">
                <a16:creationId xmlns:a16="http://schemas.microsoft.com/office/drawing/2014/main" id="{09B512F6-E843-6C7C-F81B-0ED886805E12}"/>
              </a:ext>
            </a:extLst>
          </p:cNvPr>
          <p:cNvSpPr/>
          <p:nvPr/>
        </p:nvSpPr>
        <p:spPr>
          <a:xfrm rot="5400000">
            <a:off x="3820459" y="2017283"/>
            <a:ext cx="717906" cy="5549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ACFC6ABB-43B9-D40D-04B3-9932E4470447}"/>
              </a:ext>
            </a:extLst>
          </p:cNvPr>
          <p:cNvSpPr/>
          <p:nvPr/>
        </p:nvSpPr>
        <p:spPr>
          <a:xfrm>
            <a:off x="2296830" y="4297254"/>
            <a:ext cx="3765164" cy="8600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 each cluster find the standardized tumor name closest to each cluster member. </a:t>
            </a:r>
          </a:p>
        </p:txBody>
      </p:sp>
      <p:sp>
        <p:nvSpPr>
          <p:cNvPr id="29" name="Right Arrow 28">
            <a:extLst>
              <a:ext uri="{FF2B5EF4-FFF2-40B4-BE49-F238E27FC236}">
                <a16:creationId xmlns:a16="http://schemas.microsoft.com/office/drawing/2014/main" id="{FC63D67B-2B9C-9572-1165-5BA979E3917D}"/>
              </a:ext>
            </a:extLst>
          </p:cNvPr>
          <p:cNvSpPr/>
          <p:nvPr/>
        </p:nvSpPr>
        <p:spPr>
          <a:xfrm>
            <a:off x="1391489" y="1102900"/>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ight Arrow 29">
            <a:extLst>
              <a:ext uri="{FF2B5EF4-FFF2-40B4-BE49-F238E27FC236}">
                <a16:creationId xmlns:a16="http://schemas.microsoft.com/office/drawing/2014/main" id="{1047004B-253B-9CC6-8B24-2F866D686566}"/>
              </a:ext>
            </a:extLst>
          </p:cNvPr>
          <p:cNvSpPr/>
          <p:nvPr/>
        </p:nvSpPr>
        <p:spPr>
          <a:xfrm rot="19419849">
            <a:off x="1657498" y="223010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ight Arrow 30">
            <a:extLst>
              <a:ext uri="{FF2B5EF4-FFF2-40B4-BE49-F238E27FC236}">
                <a16:creationId xmlns:a16="http://schemas.microsoft.com/office/drawing/2014/main" id="{8D7E394A-7EE0-A9DA-D6B0-17E5EDD5EAB5}"/>
              </a:ext>
            </a:extLst>
          </p:cNvPr>
          <p:cNvSpPr/>
          <p:nvPr/>
        </p:nvSpPr>
        <p:spPr>
          <a:xfrm rot="5400000">
            <a:off x="3820459" y="3637800"/>
            <a:ext cx="717906" cy="5549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C375490E-3D0B-FF10-98AB-5B9BC5C26EED}"/>
              </a:ext>
            </a:extLst>
          </p:cNvPr>
          <p:cNvSpPr/>
          <p:nvPr/>
        </p:nvSpPr>
        <p:spPr>
          <a:xfrm>
            <a:off x="7002398" y="3418295"/>
            <a:ext cx="3951340" cy="1073935"/>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If a standardized name represents majority of the cluster member assign it as the standardized name for all cluster members.</a:t>
            </a:r>
          </a:p>
        </p:txBody>
      </p:sp>
      <p:sp>
        <p:nvSpPr>
          <p:cNvPr id="34" name="Rectangle 33">
            <a:extLst>
              <a:ext uri="{FF2B5EF4-FFF2-40B4-BE49-F238E27FC236}">
                <a16:creationId xmlns:a16="http://schemas.microsoft.com/office/drawing/2014/main" id="{99BD2896-22CA-7080-D08F-00B23282629E}"/>
              </a:ext>
            </a:extLst>
          </p:cNvPr>
          <p:cNvSpPr/>
          <p:nvPr/>
        </p:nvSpPr>
        <p:spPr>
          <a:xfrm>
            <a:off x="7030939" y="4701874"/>
            <a:ext cx="3951339" cy="860083"/>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Otherwise, assign cluster members to nearest standardized term</a:t>
            </a:r>
          </a:p>
        </p:txBody>
      </p:sp>
      <p:sp>
        <p:nvSpPr>
          <p:cNvPr id="36" name="Right Arrow 35">
            <a:extLst>
              <a:ext uri="{FF2B5EF4-FFF2-40B4-BE49-F238E27FC236}">
                <a16:creationId xmlns:a16="http://schemas.microsoft.com/office/drawing/2014/main" id="{4DF430CE-88CC-33B4-4EB9-B61CDC7A4A17}"/>
              </a:ext>
            </a:extLst>
          </p:cNvPr>
          <p:cNvSpPr/>
          <p:nvPr/>
        </p:nvSpPr>
        <p:spPr>
          <a:xfrm>
            <a:off x="6132670" y="4398806"/>
            <a:ext cx="717906" cy="5549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AB1CD9AB-D049-9B89-0184-1623082C5969}"/>
              </a:ext>
            </a:extLst>
          </p:cNvPr>
          <p:cNvSpPr txBox="1"/>
          <p:nvPr/>
        </p:nvSpPr>
        <p:spPr>
          <a:xfrm>
            <a:off x="8612577" y="2016040"/>
            <a:ext cx="2621230" cy="369332"/>
          </a:xfrm>
          <a:prstGeom prst="rect">
            <a:avLst/>
          </a:prstGeom>
          <a:noFill/>
        </p:spPr>
        <p:txBody>
          <a:bodyPr wrap="none" rtlCol="0">
            <a:spAutoFit/>
          </a:bodyPr>
          <a:lstStyle/>
          <a:p>
            <a:r>
              <a:rPr lang="en-US" dirty="0"/>
              <a:t>Closest match approach</a:t>
            </a:r>
          </a:p>
        </p:txBody>
      </p:sp>
      <p:sp>
        <p:nvSpPr>
          <p:cNvPr id="8" name="TextBox 7">
            <a:extLst>
              <a:ext uri="{FF2B5EF4-FFF2-40B4-BE49-F238E27FC236}">
                <a16:creationId xmlns:a16="http://schemas.microsoft.com/office/drawing/2014/main" id="{74D069E5-567D-6E1D-DC31-2F485E64EDB2}"/>
              </a:ext>
            </a:extLst>
          </p:cNvPr>
          <p:cNvSpPr txBox="1"/>
          <p:nvPr/>
        </p:nvSpPr>
        <p:spPr>
          <a:xfrm>
            <a:off x="8367705" y="5586935"/>
            <a:ext cx="2576346" cy="369332"/>
          </a:xfrm>
          <a:prstGeom prst="rect">
            <a:avLst/>
          </a:prstGeom>
          <a:noFill/>
        </p:spPr>
        <p:txBody>
          <a:bodyPr wrap="none" rtlCol="0">
            <a:spAutoFit/>
          </a:bodyPr>
          <a:lstStyle/>
          <a:p>
            <a:r>
              <a:rPr lang="en-US" dirty="0"/>
              <a:t>Cluster based approach</a:t>
            </a:r>
          </a:p>
        </p:txBody>
      </p:sp>
      <p:sp>
        <p:nvSpPr>
          <p:cNvPr id="11" name="Right Brace 10">
            <a:extLst>
              <a:ext uri="{FF2B5EF4-FFF2-40B4-BE49-F238E27FC236}">
                <a16:creationId xmlns:a16="http://schemas.microsoft.com/office/drawing/2014/main" id="{5BD72F0F-ACDA-FA11-7C05-CD8C396F7970}"/>
              </a:ext>
            </a:extLst>
          </p:cNvPr>
          <p:cNvSpPr/>
          <p:nvPr/>
        </p:nvSpPr>
        <p:spPr>
          <a:xfrm>
            <a:off x="10816190" y="868862"/>
            <a:ext cx="1140035" cy="165322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3" name="Right Brace 12">
            <a:extLst>
              <a:ext uri="{FF2B5EF4-FFF2-40B4-BE49-F238E27FC236}">
                <a16:creationId xmlns:a16="http://schemas.microsoft.com/office/drawing/2014/main" id="{3A4F91AD-3EFF-0F9D-B233-B98F6E40E653}"/>
              </a:ext>
            </a:extLst>
          </p:cNvPr>
          <p:cNvSpPr/>
          <p:nvPr/>
        </p:nvSpPr>
        <p:spPr>
          <a:xfrm>
            <a:off x="10944051" y="3578655"/>
            <a:ext cx="1140035" cy="223579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1154278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4270733-E29D-FB26-4D1C-A42A2AC40AEC}"/>
              </a:ext>
            </a:extLst>
          </p:cNvPr>
          <p:cNvSpPr>
            <a:spLocks noGrp="1"/>
          </p:cNvSpPr>
          <p:nvPr>
            <p:ph type="sldNum" sz="quarter" idx="12"/>
          </p:nvPr>
        </p:nvSpPr>
        <p:spPr/>
        <p:txBody>
          <a:bodyPr/>
          <a:lstStyle/>
          <a:p>
            <a:fld id="{AD40181A-01B0-4CB8-8614-1473649F6741}" type="slidenum">
              <a:rPr lang="en-US" smtClean="0"/>
              <a:pPr/>
              <a:t>14</a:t>
            </a:fld>
            <a:endParaRPr lang="en-US" dirty="0"/>
          </a:p>
        </p:txBody>
      </p:sp>
      <p:sp>
        <p:nvSpPr>
          <p:cNvPr id="4" name="Title 2">
            <a:extLst>
              <a:ext uri="{FF2B5EF4-FFF2-40B4-BE49-F238E27FC236}">
                <a16:creationId xmlns:a16="http://schemas.microsoft.com/office/drawing/2014/main" id="{6E00D5E8-B1F0-2EBD-8ABB-6D3227812B99}"/>
              </a:ext>
            </a:extLst>
          </p:cNvPr>
          <p:cNvSpPr>
            <a:spLocks noGrp="1"/>
          </p:cNvSpPr>
          <p:nvPr>
            <p:ph type="title"/>
          </p:nvPr>
        </p:nvSpPr>
        <p:spPr>
          <a:xfrm>
            <a:off x="0" y="-294409"/>
            <a:ext cx="11874374" cy="1279750"/>
          </a:xfrm>
        </p:spPr>
        <p:txBody>
          <a:bodyPr/>
          <a:lstStyle/>
          <a:p>
            <a:r>
              <a:rPr lang="en-US" dirty="0"/>
              <a:t>CANTOS : standardization evaluation</a:t>
            </a:r>
          </a:p>
        </p:txBody>
      </p:sp>
      <p:sp>
        <p:nvSpPr>
          <p:cNvPr id="11" name="TextBox 10">
            <a:extLst>
              <a:ext uri="{FF2B5EF4-FFF2-40B4-BE49-F238E27FC236}">
                <a16:creationId xmlns:a16="http://schemas.microsoft.com/office/drawing/2014/main" id="{00FEA908-6DA8-B894-D3C0-3A837E47006F}"/>
              </a:ext>
            </a:extLst>
          </p:cNvPr>
          <p:cNvSpPr txBox="1"/>
          <p:nvPr/>
        </p:nvSpPr>
        <p:spPr>
          <a:xfrm>
            <a:off x="158813" y="345466"/>
            <a:ext cx="11556748" cy="3416320"/>
          </a:xfrm>
          <a:prstGeom prst="rect">
            <a:avLst/>
          </a:prstGeom>
          <a:noFill/>
        </p:spPr>
        <p:txBody>
          <a:bodyPr wrap="square">
            <a:spAutoFit/>
          </a:bodyPr>
          <a:lstStyle/>
          <a:p>
            <a:pPr algn="just"/>
            <a:endParaRPr lang="en-US" sz="1800" dirty="0">
              <a:solidFill>
                <a:schemeClr val="tx1"/>
              </a:solidFill>
              <a:latin typeface="+mn-lt"/>
              <a:cs typeface="+mn-cs"/>
            </a:endParaRPr>
          </a:p>
          <a:p>
            <a:pPr marL="285750" indent="-285750" algn="just">
              <a:buFont typeface="Arial" panose="020B0604020202020204" pitchFamily="34" charset="0"/>
              <a:buChar char="•"/>
            </a:pPr>
            <a:r>
              <a:rPr lang="en-US" dirty="0"/>
              <a:t>Randomly choose 1600 tumor names from CTR and manually identify their corresponding tumor names (ground truth) from WHO tumor classification system (Latest 5th edition and all editions 3rd-5th ).</a:t>
            </a:r>
          </a:p>
          <a:p>
            <a:pPr marL="285750" indent="-285750" algn="just">
              <a:buFont typeface="Arial" panose="020B0604020202020204" pitchFamily="34" charset="0"/>
              <a:buChar char="•"/>
            </a:pPr>
            <a:endParaRPr lang="en-US" dirty="0"/>
          </a:p>
          <a:p>
            <a:pPr marL="285750" indent="-285750" algn="just">
              <a:buFont typeface="Arial" panose="020B0604020202020204" pitchFamily="34" charset="0"/>
              <a:buChar char="•"/>
            </a:pPr>
            <a:r>
              <a:rPr lang="en-US" dirty="0"/>
              <a:t>Implemented closest distance based approach and clustering based approach using:</a:t>
            </a:r>
          </a:p>
          <a:p>
            <a:pPr marL="742950" lvl="1" indent="-285750" algn="just">
              <a:buFont typeface="Arial" panose="020B0604020202020204" pitchFamily="34" charset="0"/>
              <a:buChar char="•"/>
            </a:pPr>
            <a:r>
              <a:rPr lang="en-US" dirty="0"/>
              <a:t>Edit distances: </a:t>
            </a:r>
            <a:r>
              <a:rPr lang="en-US" dirty="0" err="1"/>
              <a:t>Levenshtein</a:t>
            </a:r>
            <a:r>
              <a:rPr lang="en-US" dirty="0"/>
              <a:t>, </a:t>
            </a:r>
            <a:r>
              <a:rPr lang="en-US" dirty="0" err="1"/>
              <a:t>Jarro</a:t>
            </a:r>
            <a:r>
              <a:rPr lang="en-US" dirty="0"/>
              <a:t>-Winkler, and Cosine</a:t>
            </a:r>
          </a:p>
          <a:p>
            <a:pPr marL="742950" lvl="1" indent="-285750" algn="just">
              <a:buFont typeface="Arial" panose="020B0604020202020204" pitchFamily="34" charset="0"/>
              <a:buChar char="•"/>
            </a:pPr>
            <a:r>
              <a:rPr lang="en-US" dirty="0"/>
              <a:t>Text- Embeddings (26 models):  </a:t>
            </a:r>
          </a:p>
          <a:p>
            <a:pPr lvl="2" algn="just"/>
            <a:r>
              <a:rPr lang="en-US" dirty="0"/>
              <a:t>  </a:t>
            </a:r>
          </a:p>
          <a:p>
            <a:pPr lvl="2" algn="just"/>
            <a:r>
              <a:rPr lang="en-US" dirty="0"/>
              <a:t>					</a:t>
            </a:r>
          </a:p>
          <a:p>
            <a:pPr marL="1200150" lvl="2" indent="-285750" algn="just">
              <a:buFont typeface="Arial" panose="020B0604020202020204" pitchFamily="34" charset="0"/>
              <a:buChar char="•"/>
            </a:pPr>
            <a:endParaRPr lang="en-US" dirty="0"/>
          </a:p>
          <a:p>
            <a:pPr marL="1200150" lvl="2" indent="-285750" algn="just">
              <a:buFont typeface="Arial" panose="020B0604020202020204" pitchFamily="34" charset="0"/>
              <a:buChar char="•"/>
            </a:pPr>
            <a:endParaRPr lang="en-US" dirty="0"/>
          </a:p>
          <a:p>
            <a:pPr marL="285750" indent="-285750" algn="just">
              <a:buFont typeface="Arial" panose="020B0604020202020204" pitchFamily="34" charset="0"/>
              <a:buChar char="•"/>
            </a:pPr>
            <a:endParaRPr lang="en-US" sz="1800" dirty="0">
              <a:solidFill>
                <a:schemeClr val="tx1"/>
              </a:solidFill>
              <a:latin typeface="+mn-lt"/>
              <a:cs typeface="+mn-cs"/>
            </a:endParaRPr>
          </a:p>
        </p:txBody>
      </p:sp>
      <p:graphicFrame>
        <p:nvGraphicFramePr>
          <p:cNvPr id="16" name="Table 15">
            <a:extLst>
              <a:ext uri="{FF2B5EF4-FFF2-40B4-BE49-F238E27FC236}">
                <a16:creationId xmlns:a16="http://schemas.microsoft.com/office/drawing/2014/main" id="{E6670F1B-0FDD-5A1B-4EFF-B516B16AE1B5}"/>
              </a:ext>
            </a:extLst>
          </p:cNvPr>
          <p:cNvGraphicFramePr>
            <a:graphicFrameLocks noGrp="1"/>
          </p:cNvGraphicFramePr>
          <p:nvPr>
            <p:extLst>
              <p:ext uri="{D42A27DB-BD31-4B8C-83A1-F6EECF244321}">
                <p14:modId xmlns:p14="http://schemas.microsoft.com/office/powerpoint/2010/main" val="2949739579"/>
              </p:ext>
            </p:extLst>
          </p:nvPr>
        </p:nvGraphicFramePr>
        <p:xfrm>
          <a:off x="1217259" y="2420128"/>
          <a:ext cx="10657115" cy="3566160"/>
        </p:xfrm>
        <a:graphic>
          <a:graphicData uri="http://schemas.openxmlformats.org/drawingml/2006/table">
            <a:tbl>
              <a:tblPr bandRow="1">
                <a:tableStyleId>{5C22544A-7EE6-4342-B048-85BDC9FD1C3A}</a:tableStyleId>
              </a:tblPr>
              <a:tblGrid>
                <a:gridCol w="4334875">
                  <a:extLst>
                    <a:ext uri="{9D8B030D-6E8A-4147-A177-3AD203B41FA5}">
                      <a16:colId xmlns:a16="http://schemas.microsoft.com/office/drawing/2014/main" val="4253658004"/>
                    </a:ext>
                  </a:extLst>
                </a:gridCol>
                <a:gridCol w="3161120">
                  <a:extLst>
                    <a:ext uri="{9D8B030D-6E8A-4147-A177-3AD203B41FA5}">
                      <a16:colId xmlns:a16="http://schemas.microsoft.com/office/drawing/2014/main" val="987428443"/>
                    </a:ext>
                  </a:extLst>
                </a:gridCol>
                <a:gridCol w="3161120">
                  <a:extLst>
                    <a:ext uri="{9D8B030D-6E8A-4147-A177-3AD203B41FA5}">
                      <a16:colId xmlns:a16="http://schemas.microsoft.com/office/drawing/2014/main" val="544761200"/>
                    </a:ext>
                  </a:extLst>
                </a:gridCol>
              </a:tblGrid>
              <a:tr h="0">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kern="1200" dirty="0">
                          <a:solidFill>
                            <a:schemeClr val="dk1"/>
                          </a:solidFill>
                          <a:latin typeface="+mn-lt"/>
                          <a:ea typeface="+mn-ea"/>
                          <a:cs typeface="+mn-cs"/>
                        </a:rPr>
                        <a:t>Open AI: text-embedding-3-large (LTE-3) </a:t>
                      </a:r>
                    </a:p>
                  </a:txBody>
                  <a:tcPr>
                    <a:lnL w="1270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kern="1200" dirty="0">
                          <a:solidFill>
                            <a:schemeClr val="dk1"/>
                          </a:solidFill>
                          <a:latin typeface="+mn-lt"/>
                          <a:ea typeface="+mn-ea"/>
                          <a:cs typeface="+mn-cs"/>
                        </a:rPr>
                        <a:t>Open AI: text-embedding-ada-002 (ADA-002)</a:t>
                      </a:r>
                    </a:p>
                    <a:p>
                      <a:pPr marL="171450" indent="-171450" algn="l" defTabSz="914400" rtl="0" eaLnBrk="1" latinLnBrk="0" hangingPunct="1">
                        <a:buFont typeface="Arial" panose="020B0604020202020204" pitchFamily="34" charset="0"/>
                        <a:buChar char="•"/>
                      </a:pPr>
                      <a:endParaRPr lang="en-US" sz="1000" kern="1200" dirty="0">
                        <a:solidFill>
                          <a:schemeClr val="dk1"/>
                        </a:solidFill>
                        <a:latin typeface="+mn-lt"/>
                        <a:ea typeface="+mn-ea"/>
                        <a:cs typeface="+mn-cs"/>
                      </a:endParaRP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Cohere: embed-english-v2.0</a:t>
                      </a:r>
                    </a:p>
                    <a:p>
                      <a:pPr marL="171450" indent="-171450" algn="l" defTabSz="914400" rtl="0" eaLnBrk="1" latinLnBrk="0" hangingPunct="1">
                        <a:buFont typeface="Arial" panose="020B0604020202020204" pitchFamily="34" charset="0"/>
                        <a:buChar char="•"/>
                      </a:pPr>
                      <a:endParaRPr lang="en-US" sz="1000" kern="1200" dirty="0">
                        <a:solidFill>
                          <a:schemeClr val="dk1"/>
                        </a:solidFill>
                        <a:latin typeface="+mn-lt"/>
                        <a:ea typeface="+mn-ea"/>
                        <a:cs typeface="+mn-cs"/>
                      </a:endParaRPr>
                    </a:p>
                  </a:txBody>
                  <a:tcPr>
                    <a:lnL w="12700" cmpd="sng">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40908953"/>
                  </a:ext>
                </a:extLst>
              </a:tr>
              <a:tr h="230821">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LLama3.3 (Llama3.3_70B)</a:t>
                      </a:r>
                    </a:p>
                    <a:p>
                      <a:pPr marL="171450" indent="-171450" algn="l">
                        <a:buFont typeface="Arial" panose="020B0604020202020204" pitchFamily="34" charset="0"/>
                        <a:buChar char="•"/>
                      </a:pPr>
                      <a:endParaRPr lang="en-US" sz="1000" dirty="0"/>
                    </a:p>
                  </a:txBody>
                  <a:tcPr>
                    <a:lnL w="12700" cap="flat" cmpd="sng" algn="ctr">
                      <a:no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Llama3.2 (Llama3.2_3B)</a:t>
                      </a:r>
                    </a:p>
                    <a:p>
                      <a:pPr marL="171450" indent="-171450" algn="l">
                        <a:buFont typeface="Arial" panose="020B0604020202020204" pitchFamily="34" charset="0"/>
                        <a:buChar char="•"/>
                      </a:pPr>
                      <a:endParaRPr lang="en-US" sz="10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LLama3.0  </a:t>
                      </a:r>
                    </a:p>
                    <a:p>
                      <a:pPr marL="171450" indent="-171450" algn="l">
                        <a:buFont typeface="Arial" panose="020B0604020202020204" pitchFamily="34" charset="0"/>
                        <a:buChar char="•"/>
                      </a:pPr>
                      <a:endParaRPr lang="en-US" sz="1000" dirty="0"/>
                    </a:p>
                  </a:txBody>
                  <a:tcP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20090556"/>
                  </a:ext>
                </a:extLst>
              </a:tr>
              <a:tr h="230821">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MedLLama2</a:t>
                      </a:r>
                    </a:p>
                  </a:txBody>
                  <a:tcPr>
                    <a:lnL w="12700" cap="flat" cmpd="sng" algn="ctr">
                      <a:no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MedLLama_13B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err="1"/>
                        <a:t>BioBERT</a:t>
                      </a:r>
                      <a:endParaRPr lang="en-US" sz="1000" dirty="0"/>
                    </a:p>
                    <a:p>
                      <a:pPr marL="171450" indent="-171450" algn="l">
                        <a:buFont typeface="Arial" panose="020B0604020202020204" pitchFamily="34" charset="0"/>
                        <a:buChar char="•"/>
                      </a:pPr>
                      <a:endParaRPr lang="en-US" sz="1000" dirty="0"/>
                    </a:p>
                  </a:txBody>
                  <a:tcP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87745712"/>
                  </a:ext>
                </a:extLst>
              </a:tr>
              <a:tr h="230821">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err="1"/>
                        <a:t>PubMedBERT</a:t>
                      </a:r>
                      <a:r>
                        <a:rPr lang="en-US" sz="1000" dirty="0"/>
                        <a:t>-Abstract (</a:t>
                      </a:r>
                      <a:r>
                        <a:rPr lang="en-US" sz="1000" dirty="0" err="1"/>
                        <a:t>PubMedBERT</a:t>
                      </a:r>
                      <a:r>
                        <a:rPr lang="en-US" sz="1000" dirty="0"/>
                        <a:t>)</a:t>
                      </a:r>
                    </a:p>
                    <a:p>
                      <a:pPr marL="171450" indent="-171450" algn="l">
                        <a:buFont typeface="Arial" panose="020B0604020202020204" pitchFamily="34" charset="0"/>
                        <a:buChar char="•"/>
                      </a:pPr>
                      <a:endParaRPr lang="en-US" sz="1000" dirty="0"/>
                    </a:p>
                  </a:txBody>
                  <a:tcPr>
                    <a:lnL w="12700" cap="flat" cmpd="sng" algn="ctr">
                      <a:no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indent="-171450" algn="l">
                        <a:buFont typeface="Arial" panose="020B0604020202020204" pitchFamily="34" charset="0"/>
                        <a:buChar char="•"/>
                      </a:pPr>
                      <a:r>
                        <a:rPr lang="en-US" sz="1000" dirty="0"/>
                        <a:t>Phi-4</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err="1"/>
                        <a:t>ModernBERT</a:t>
                      </a:r>
                      <a:r>
                        <a:rPr lang="en-US" sz="1000" dirty="0"/>
                        <a:t>-Large (</a:t>
                      </a:r>
                      <a:r>
                        <a:rPr lang="en-US" sz="1000" dirty="0" err="1"/>
                        <a:t>ModernBERT</a:t>
                      </a:r>
                      <a:r>
                        <a:rPr lang="en-US" sz="1000" dirty="0"/>
                        <a:t>)</a:t>
                      </a:r>
                    </a:p>
                    <a:p>
                      <a:pPr marL="171450" indent="-171450" algn="l">
                        <a:buFont typeface="Arial" panose="020B0604020202020204" pitchFamily="34" charset="0"/>
                        <a:buChar char="•"/>
                      </a:pPr>
                      <a:endParaRPr lang="en-US" sz="1000" dirty="0"/>
                    </a:p>
                  </a:txBody>
                  <a:tcP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8293504"/>
                  </a:ext>
                </a:extLst>
              </a:tr>
              <a:tr h="230821">
                <a:tc>
                  <a:txBody>
                    <a:bodyPr/>
                    <a:lstStyle/>
                    <a:p>
                      <a:pPr marL="171450" indent="-171450" algn="l">
                        <a:buFont typeface="Arial" panose="020B0604020202020204" pitchFamily="34" charset="0"/>
                        <a:buChar char="•"/>
                      </a:pPr>
                      <a:r>
                        <a:rPr lang="en-US" sz="1000" dirty="0"/>
                        <a:t>e5-large-v2</a:t>
                      </a:r>
                    </a:p>
                  </a:txBody>
                  <a:tcPr>
                    <a:lnL w="12700" cap="flat" cmpd="sng" algn="ctr">
                      <a:no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e5-large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gtr-t5-large</a:t>
                      </a:r>
                    </a:p>
                    <a:p>
                      <a:pPr marL="171450" indent="-171450" algn="l">
                        <a:buFont typeface="Arial" panose="020B0604020202020204" pitchFamily="34" charset="0"/>
                        <a:buChar char="•"/>
                      </a:pPr>
                      <a:endParaRPr lang="en-US" sz="1000" dirty="0"/>
                    </a:p>
                  </a:txBody>
                  <a:tcP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80694979"/>
                  </a:ext>
                </a:extLst>
              </a:tr>
              <a:tr h="0">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all-mpnet-base-v2</a:t>
                      </a:r>
                    </a:p>
                    <a:p>
                      <a:pPr marL="171450" indent="-171450" algn="l">
                        <a:buFont typeface="Arial" panose="020B0604020202020204" pitchFamily="34" charset="0"/>
                        <a:buChar char="•"/>
                      </a:pPr>
                      <a:endParaRPr lang="en-US" sz="1000" dirty="0"/>
                    </a:p>
                  </a:txBody>
                  <a:tcPr>
                    <a:lnL w="12700" cap="flat" cmpd="sng" algn="ctr">
                      <a:no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indent="-171450" algn="l">
                        <a:buFont typeface="Arial" panose="020B0604020202020204" pitchFamily="34" charset="0"/>
                        <a:buChar char="•"/>
                      </a:pPr>
                      <a:r>
                        <a:rPr lang="en-US" sz="1000" dirty="0"/>
                        <a:t>all-MiniLM-L6-v2</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indent="-171450" algn="l">
                        <a:buFont typeface="Arial" panose="020B0604020202020204" pitchFamily="34" charset="0"/>
                        <a:buChar char="•"/>
                      </a:pPr>
                      <a:r>
                        <a:rPr lang="en-US" sz="1000" dirty="0"/>
                        <a:t>all-MiniLM-L12-v2</a:t>
                      </a:r>
                    </a:p>
                  </a:txBody>
                  <a:tcP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42244858"/>
                  </a:ext>
                </a:extLst>
              </a:tr>
              <a:tr h="230821">
                <a:tc>
                  <a:txBody>
                    <a:bodyPr/>
                    <a:lstStyle/>
                    <a:p>
                      <a:pPr marL="171450" indent="-171450" algn="l">
                        <a:buFont typeface="Arial" panose="020B0604020202020204" pitchFamily="34" charset="0"/>
                        <a:buChar char="•"/>
                      </a:pPr>
                      <a:r>
                        <a:rPr lang="en-US" sz="1000" dirty="0" err="1"/>
                        <a:t>SapBERT</a:t>
                      </a:r>
                      <a:endParaRPr lang="en-US" sz="1000" dirty="0"/>
                    </a:p>
                  </a:txBody>
                  <a:tcPr>
                    <a:lnL w="12700" cap="flat" cmpd="sng" algn="ctr">
                      <a:no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all-roberta-large-v1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indent="-171450" algn="l">
                        <a:buFont typeface="Arial" panose="020B0604020202020204" pitchFamily="34" charset="0"/>
                        <a:buChar char="•"/>
                      </a:pPr>
                      <a:r>
                        <a:rPr lang="en-US" sz="1000" dirty="0" err="1"/>
                        <a:t>clinicalBERT</a:t>
                      </a:r>
                      <a:endParaRPr lang="en-US" sz="1000" dirty="0"/>
                    </a:p>
                    <a:p>
                      <a:pPr marL="171450" indent="-171450" algn="l">
                        <a:buFont typeface="Arial" panose="020B0604020202020204" pitchFamily="34" charset="0"/>
                        <a:buChar char="•"/>
                      </a:pPr>
                      <a:endParaRPr lang="en-US" sz="1000" dirty="0"/>
                    </a:p>
                  </a:txBody>
                  <a:tcP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2977312"/>
                  </a:ext>
                </a:extLst>
              </a:tr>
              <a:tr h="144263">
                <a:tc>
                  <a:txBody>
                    <a:bodyPr/>
                    <a:lstStyle/>
                    <a:p>
                      <a:pPr marL="171450" indent="-171450" algn="l">
                        <a:buFont typeface="Arial" panose="020B0604020202020204" pitchFamily="34" charset="0"/>
                        <a:buChar char="•"/>
                      </a:pPr>
                      <a:r>
                        <a:rPr lang="en-US" sz="1000" dirty="0" err="1"/>
                        <a:t>LaBSE</a:t>
                      </a:r>
                      <a:endParaRPr lang="en-US" sz="1000" dirty="0"/>
                    </a:p>
                  </a:txBody>
                  <a:tcPr>
                    <a:lnL w="12700" cap="flat" cmpd="sng" algn="ctr">
                      <a:no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err="1"/>
                        <a:t>BioGPT</a:t>
                      </a:r>
                      <a:endParaRPr lang="en-US" sz="1000" dirty="0"/>
                    </a:p>
                    <a:p>
                      <a:pPr marL="171450" indent="-171450" algn="l">
                        <a:buFont typeface="Arial" panose="020B0604020202020204" pitchFamily="34" charset="0"/>
                        <a:buChar char="•"/>
                      </a:pPr>
                      <a:endParaRPr lang="en-US" sz="10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DeepSeek_8B</a:t>
                      </a:r>
                    </a:p>
                    <a:p>
                      <a:pPr marL="171450" indent="-171450" algn="l">
                        <a:buFont typeface="Arial" panose="020B0604020202020204" pitchFamily="34" charset="0"/>
                        <a:buChar char="•"/>
                      </a:pPr>
                      <a:endParaRPr lang="en-US" sz="1000" dirty="0"/>
                    </a:p>
                  </a:txBody>
                  <a:tcP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28249851"/>
                  </a:ext>
                </a:extLst>
              </a:tr>
              <a:tr h="144263">
                <a:tc>
                  <a:txBody>
                    <a:bodyPr/>
                    <a:lstStyle/>
                    <a:p>
                      <a:pPr marL="171450" indent="-171450" algn="l">
                        <a:buFont typeface="Arial" panose="020B0604020202020204" pitchFamily="34" charset="0"/>
                        <a:buChar char="•"/>
                      </a:pPr>
                      <a:r>
                        <a:rPr lang="en-US" sz="1000" dirty="0" err="1"/>
                        <a:t>sciBERT</a:t>
                      </a:r>
                      <a:endParaRPr lang="en-US" sz="1000" dirty="0"/>
                    </a:p>
                  </a:txBody>
                  <a:tcPr>
                    <a:lnL w="12700" cap="flat" cmpd="sng" algn="ctr">
                      <a:noFill/>
                      <a:prstDash val="solid"/>
                      <a:round/>
                      <a:headEnd type="none" w="med" len="med"/>
                      <a:tailEnd type="none" w="med" len="med"/>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nomic-embed-text</a:t>
                      </a:r>
                    </a:p>
                    <a:p>
                      <a:pPr marL="171450" indent="-171450" algn="l">
                        <a:buFont typeface="Arial" panose="020B0604020202020204" pitchFamily="34" charset="0"/>
                        <a:buChar char="•"/>
                      </a:pPr>
                      <a:endParaRPr lang="en-US" sz="1000" dirty="0"/>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indent="-171450" algn="l">
                        <a:buFont typeface="Arial" panose="020B0604020202020204" pitchFamily="34" charset="0"/>
                        <a:buChar char="•"/>
                      </a:pPr>
                      <a:endParaRPr lang="en-US" sz="1000" dirty="0"/>
                    </a:p>
                  </a:txBody>
                  <a:tcPr>
                    <a:lnL w="12700" cmpd="sng">
                      <a:noFill/>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6593195"/>
                  </a:ext>
                </a:extLst>
              </a:tr>
            </a:tbl>
          </a:graphicData>
        </a:graphic>
      </p:graphicFrame>
    </p:spTree>
    <p:extLst>
      <p:ext uri="{BB962C8B-B14F-4D97-AF65-F5344CB8AC3E}">
        <p14:creationId xmlns:p14="http://schemas.microsoft.com/office/powerpoint/2010/main" val="8757064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F857493-C4A5-98D1-31BB-A90692CE1F5A}"/>
              </a:ext>
            </a:extLst>
          </p:cNvPr>
          <p:cNvSpPr>
            <a:spLocks noGrp="1"/>
          </p:cNvSpPr>
          <p:nvPr>
            <p:ph type="sldNum" sz="quarter" idx="12"/>
          </p:nvPr>
        </p:nvSpPr>
        <p:spPr/>
        <p:txBody>
          <a:bodyPr/>
          <a:lstStyle/>
          <a:p>
            <a:fld id="{AD40181A-01B0-4CB8-8614-1473649F6741}" type="slidenum">
              <a:rPr lang="en-US" smtClean="0"/>
              <a:pPr/>
              <a:t>15</a:t>
            </a:fld>
            <a:endParaRPr lang="en-US" dirty="0"/>
          </a:p>
        </p:txBody>
      </p:sp>
      <p:graphicFrame>
        <p:nvGraphicFramePr>
          <p:cNvPr id="4" name="Table 3">
            <a:extLst>
              <a:ext uri="{FF2B5EF4-FFF2-40B4-BE49-F238E27FC236}">
                <a16:creationId xmlns:a16="http://schemas.microsoft.com/office/drawing/2014/main" id="{8364F6A5-FFE0-ECEC-62A7-E6A5889F998E}"/>
              </a:ext>
            </a:extLst>
          </p:cNvPr>
          <p:cNvGraphicFramePr>
            <a:graphicFrameLocks noGrp="1"/>
          </p:cNvGraphicFramePr>
          <p:nvPr>
            <p:extLst>
              <p:ext uri="{D42A27DB-BD31-4B8C-83A1-F6EECF244321}">
                <p14:modId xmlns:p14="http://schemas.microsoft.com/office/powerpoint/2010/main" val="3961978129"/>
              </p:ext>
            </p:extLst>
          </p:nvPr>
        </p:nvGraphicFramePr>
        <p:xfrm>
          <a:off x="6302829" y="2"/>
          <a:ext cx="5571545" cy="7708194"/>
        </p:xfrm>
        <a:graphic>
          <a:graphicData uri="http://schemas.openxmlformats.org/drawingml/2006/table">
            <a:tbl>
              <a:tblPr firstRow="1" bandRow="1">
                <a:tableStyleId>{5C22544A-7EE6-4342-B048-85BDC9FD1C3A}</a:tableStyleId>
              </a:tblPr>
              <a:tblGrid>
                <a:gridCol w="1127067">
                  <a:extLst>
                    <a:ext uri="{9D8B030D-6E8A-4147-A177-3AD203B41FA5}">
                      <a16:colId xmlns:a16="http://schemas.microsoft.com/office/drawing/2014/main" val="3177516889"/>
                    </a:ext>
                  </a:extLst>
                </a:gridCol>
                <a:gridCol w="1675309">
                  <a:extLst>
                    <a:ext uri="{9D8B030D-6E8A-4147-A177-3AD203B41FA5}">
                      <a16:colId xmlns:a16="http://schemas.microsoft.com/office/drawing/2014/main" val="523317735"/>
                    </a:ext>
                  </a:extLst>
                </a:gridCol>
                <a:gridCol w="2769169">
                  <a:extLst>
                    <a:ext uri="{9D8B030D-6E8A-4147-A177-3AD203B41FA5}">
                      <a16:colId xmlns:a16="http://schemas.microsoft.com/office/drawing/2014/main" val="2056308797"/>
                    </a:ext>
                  </a:extLst>
                </a:gridCol>
              </a:tblGrid>
              <a:tr h="3182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b="1" kern="1200" dirty="0">
                          <a:solidFill>
                            <a:schemeClr val="lt1"/>
                          </a:solidFill>
                          <a:latin typeface="+mn-lt"/>
                          <a:ea typeface="+mn-ea"/>
                          <a:cs typeface="+mn-cs"/>
                        </a:rPr>
                        <a:t>Basis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b="1" kern="1200" dirty="0">
                          <a:solidFill>
                            <a:schemeClr val="lt1"/>
                          </a:solidFill>
                          <a:latin typeface="+mn-lt"/>
                          <a:ea typeface="+mn-ea"/>
                          <a:cs typeface="+mn-cs"/>
                        </a:rPr>
                        <a:t>Methods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800" b="1" kern="1200" dirty="0">
                        <a:solidFill>
                          <a:schemeClr val="lt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b="1" kern="1200" dirty="0">
                          <a:solidFill>
                            <a:schemeClr val="lt1"/>
                          </a:solidFill>
                          <a:latin typeface="+mn-lt"/>
                          <a:ea typeface="+mn-ea"/>
                          <a:cs typeface="+mn-cs"/>
                        </a:rPr>
                        <a:t>Standardization Accuracy </a:t>
                      </a:r>
                      <a:br>
                        <a:rPr lang="en-US" sz="800" b="1" kern="1200" dirty="0">
                          <a:solidFill>
                            <a:schemeClr val="lt1"/>
                          </a:solidFill>
                          <a:latin typeface="+mn-lt"/>
                          <a:ea typeface="+mn-ea"/>
                          <a:cs typeface="+mn-cs"/>
                        </a:rPr>
                      </a:br>
                      <a:r>
                        <a:rPr lang="en-US" sz="800" b="1" kern="1200" dirty="0">
                          <a:solidFill>
                            <a:schemeClr val="lt1"/>
                          </a:solidFill>
                          <a:latin typeface="+mn-lt"/>
                          <a:ea typeface="+mn-ea"/>
                          <a:cs typeface="+mn-cs"/>
                        </a:rPr>
                        <a:t>WHO all Edition</a:t>
                      </a:r>
                    </a:p>
                  </a:txBody>
                  <a:tcPr/>
                </a:tc>
                <a:extLst>
                  <a:ext uri="{0D108BD9-81ED-4DB2-BD59-A6C34878D82A}">
                    <a16:rowId xmlns:a16="http://schemas.microsoft.com/office/drawing/2014/main" val="4308664"/>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LTE-3+Euclidean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69.1%</a:t>
                      </a:r>
                    </a:p>
                  </a:txBody>
                  <a:tcPr marL="12700" marR="12700" marT="12700" marB="63500"/>
                </a:tc>
                <a:extLst>
                  <a:ext uri="{0D108BD9-81ED-4DB2-BD59-A6C34878D82A}">
                    <a16:rowId xmlns:a16="http://schemas.microsoft.com/office/drawing/2014/main" val="643621850"/>
                  </a:ext>
                </a:extLst>
              </a:tr>
              <a:tr h="142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e5-large+Euclidean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68.2%</a:t>
                      </a:r>
                    </a:p>
                  </a:txBody>
                  <a:tcPr marL="12700" marR="12700" marT="12700" marB="63500"/>
                </a:tc>
                <a:extLst>
                  <a:ext uri="{0D108BD9-81ED-4DB2-BD59-A6C34878D82A}">
                    <a16:rowId xmlns:a16="http://schemas.microsoft.com/office/drawing/2014/main" val="2923122740"/>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LTE-3+AP</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67.5%</a:t>
                      </a:r>
                    </a:p>
                  </a:txBody>
                  <a:tcPr marL="12700" marR="12700" marT="12700" marB="63500"/>
                </a:tc>
                <a:extLst>
                  <a:ext uri="{0D108BD9-81ED-4DB2-BD59-A6C34878D82A}">
                    <a16:rowId xmlns:a16="http://schemas.microsoft.com/office/drawing/2014/main" val="1662268947"/>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all-mpnet-base-v2+Euclidean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67.4%</a:t>
                      </a:r>
                    </a:p>
                  </a:txBody>
                  <a:tcPr marL="12700" marR="12700" marT="12700" marB="63500"/>
                </a:tc>
                <a:extLst>
                  <a:ext uri="{0D108BD9-81ED-4DB2-BD59-A6C34878D82A}">
                    <a16:rowId xmlns:a16="http://schemas.microsoft.com/office/drawing/2014/main" val="1011435067"/>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ADA-002+Euclidean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66.7%</a:t>
                      </a:r>
                    </a:p>
                  </a:txBody>
                  <a:tcPr marL="12700" marR="12700" marT="12700" marB="63500"/>
                </a:tc>
                <a:extLst>
                  <a:ext uri="{0D108BD9-81ED-4DB2-BD59-A6C34878D82A}">
                    <a16:rowId xmlns:a16="http://schemas.microsoft.com/office/drawing/2014/main" val="2001886976"/>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all-MiniLM-L6-v2+Euclidean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66%</a:t>
                      </a:r>
                    </a:p>
                  </a:txBody>
                  <a:tcPr marL="12700" marR="12700" marT="12700" marB="63500"/>
                </a:tc>
                <a:extLst>
                  <a:ext uri="{0D108BD9-81ED-4DB2-BD59-A6C34878D82A}">
                    <a16:rowId xmlns:a16="http://schemas.microsoft.com/office/drawing/2014/main" val="1212604679"/>
                  </a:ext>
                </a:extLst>
              </a:tr>
              <a:tr h="2718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all-MiniLM-L12-v2+Euclidean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66%</a:t>
                      </a:r>
                    </a:p>
                  </a:txBody>
                  <a:tcPr marL="12700" marR="12700" marT="12700" marB="63500"/>
                </a:tc>
                <a:extLst>
                  <a:ext uri="{0D108BD9-81ED-4DB2-BD59-A6C34878D82A}">
                    <a16:rowId xmlns:a16="http://schemas.microsoft.com/office/drawing/2014/main" val="2775858198"/>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ADA-002+AP</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65.2%</a:t>
                      </a:r>
                    </a:p>
                  </a:txBody>
                  <a:tcPr marL="12700" marR="12700" marT="12700" marB="63500"/>
                </a:tc>
                <a:extLst>
                  <a:ext uri="{0D108BD9-81ED-4DB2-BD59-A6C34878D82A}">
                    <a16:rowId xmlns:a16="http://schemas.microsoft.com/office/drawing/2014/main" val="71338281"/>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LTE-3+K-means</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64.9%</a:t>
                      </a:r>
                    </a:p>
                  </a:txBody>
                  <a:tcPr marL="12700" marR="12700" marT="12700" marB="63500"/>
                </a:tc>
                <a:extLst>
                  <a:ext uri="{0D108BD9-81ED-4DB2-BD59-A6C34878D82A}">
                    <a16:rowId xmlns:a16="http://schemas.microsoft.com/office/drawing/2014/main" val="3521891832"/>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ADA-002+K-means</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64%</a:t>
                      </a:r>
                    </a:p>
                  </a:txBody>
                  <a:tcPr marL="12700" marR="12700" marT="12700" marB="63500"/>
                </a:tc>
                <a:extLst>
                  <a:ext uri="{0D108BD9-81ED-4DB2-BD59-A6C34878D82A}">
                    <a16:rowId xmlns:a16="http://schemas.microsoft.com/office/drawing/2014/main" val="1741085275"/>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nomic+Euclidean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62.2%</a:t>
                      </a:r>
                    </a:p>
                  </a:txBody>
                  <a:tcPr marL="12700" marR="12700" marT="12700" marB="63500"/>
                </a:tc>
                <a:extLst>
                  <a:ext uri="{0D108BD9-81ED-4DB2-BD59-A6C34878D82A}">
                    <a16:rowId xmlns:a16="http://schemas.microsoft.com/office/drawing/2014/main" val="192314115"/>
                  </a:ext>
                </a:extLst>
              </a:tr>
              <a:tr h="2718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all-roberta-large-v1+Euclidean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59.1%</a:t>
                      </a:r>
                    </a:p>
                  </a:txBody>
                  <a:tcPr marL="12700" marR="12700" marT="12700" marB="63500"/>
                </a:tc>
                <a:extLst>
                  <a:ext uri="{0D108BD9-81ED-4DB2-BD59-A6C34878D82A}">
                    <a16:rowId xmlns:a16="http://schemas.microsoft.com/office/drawing/2014/main" val="2950213849"/>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gtr-t5-large+Euclidean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58%</a:t>
                      </a:r>
                    </a:p>
                  </a:txBody>
                  <a:tcPr marL="12700" marR="12700" marT="12700" marB="63500"/>
                </a:tc>
                <a:extLst>
                  <a:ext uri="{0D108BD9-81ED-4DB2-BD59-A6C34878D82A}">
                    <a16:rowId xmlns:a16="http://schemas.microsoft.com/office/drawing/2014/main" val="2147432743"/>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e5-large-v2+Euclidean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56.3%</a:t>
                      </a:r>
                    </a:p>
                  </a:txBody>
                  <a:tcPr marL="12700" marR="12700" marT="12700" marB="63500"/>
                </a:tc>
                <a:extLst>
                  <a:ext uri="{0D108BD9-81ED-4DB2-BD59-A6C34878D82A}">
                    <a16:rowId xmlns:a16="http://schemas.microsoft.com/office/drawing/2014/main" val="1506931024"/>
                  </a:ext>
                </a:extLst>
              </a:tr>
              <a:tr h="2911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embed-english-v2.0+Euclidean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53.6%</a:t>
                      </a:r>
                    </a:p>
                  </a:txBody>
                  <a:tcPr marL="12700" marR="12700" marT="12700" marB="63500"/>
                </a:tc>
                <a:extLst>
                  <a:ext uri="{0D108BD9-81ED-4DB2-BD59-A6C34878D82A}">
                    <a16:rowId xmlns:a16="http://schemas.microsoft.com/office/drawing/2014/main" val="1357548240"/>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err="1">
                          <a:ln>
                            <a:noFill/>
                          </a:ln>
                          <a:solidFill>
                            <a:srgbClr val="D11960"/>
                          </a:solidFill>
                          <a:effectLst/>
                          <a:uLnTx/>
                          <a:uFillTx/>
                          <a:latin typeface="Georgia"/>
                          <a:ea typeface="+mn-ea"/>
                          <a:cs typeface="+mn-cs"/>
                        </a:rPr>
                        <a:t>SapBERT+Euclidean</a:t>
                      </a:r>
                      <a:r>
                        <a:rPr kumimoji="0" lang="en-US" sz="800" b="0" i="0" u="none" strike="noStrike" kern="1200" cap="none" spc="0" normalizeH="0" baseline="0" dirty="0">
                          <a:ln>
                            <a:noFill/>
                          </a:ln>
                          <a:solidFill>
                            <a:srgbClr val="D11960"/>
                          </a:solidFill>
                          <a:effectLst/>
                          <a:uLnTx/>
                          <a:uFillTx/>
                          <a:latin typeface="Georgia"/>
                          <a:ea typeface="+mn-ea"/>
                          <a:cs typeface="+mn-cs"/>
                        </a:rPr>
                        <a:t>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47.9%</a:t>
                      </a:r>
                    </a:p>
                  </a:txBody>
                  <a:tcPr marL="12700" marR="12700" marT="12700" marB="63500"/>
                </a:tc>
                <a:extLst>
                  <a:ext uri="{0D108BD9-81ED-4DB2-BD59-A6C34878D82A}">
                    <a16:rowId xmlns:a16="http://schemas.microsoft.com/office/drawing/2014/main" val="1253369807"/>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ClinicalBERT+Euclidean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40.1%</a:t>
                      </a:r>
                    </a:p>
                  </a:txBody>
                  <a:tcPr marL="12700" marR="12700" marT="12700" marB="63500"/>
                </a:tc>
                <a:extLst>
                  <a:ext uri="{0D108BD9-81ED-4DB2-BD59-A6C34878D82A}">
                    <a16:rowId xmlns:a16="http://schemas.microsoft.com/office/drawing/2014/main" val="1020401724"/>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BioGPT+Euclidean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39.6%</a:t>
                      </a:r>
                    </a:p>
                  </a:txBody>
                  <a:tcPr marL="12700" marR="12700" marT="12700" marB="63500"/>
                </a:tc>
                <a:extLst>
                  <a:ext uri="{0D108BD9-81ED-4DB2-BD59-A6C34878D82A}">
                    <a16:rowId xmlns:a16="http://schemas.microsoft.com/office/drawing/2014/main" val="3547181464"/>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LaBSE+Euclidean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35.2%</a:t>
                      </a:r>
                    </a:p>
                  </a:txBody>
                  <a:tcPr marL="12700" marR="12700" marT="12700" marB="63500"/>
                </a:tc>
                <a:extLst>
                  <a:ext uri="{0D108BD9-81ED-4DB2-BD59-A6C34878D82A}">
                    <a16:rowId xmlns:a16="http://schemas.microsoft.com/office/drawing/2014/main" val="2387377679"/>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mn-lt"/>
                          <a:ea typeface="+mn-ea"/>
                          <a:cs typeface="+mn-cs"/>
                        </a:rPr>
                        <a:t>Edit Distance</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err="1">
                          <a:ln>
                            <a:noFill/>
                          </a:ln>
                          <a:solidFill>
                            <a:schemeClr val="accent3"/>
                          </a:solidFill>
                          <a:effectLst/>
                          <a:uLnTx/>
                          <a:uFillTx/>
                          <a:latin typeface="Georgia"/>
                          <a:ea typeface="+mn-ea"/>
                          <a:cs typeface="+mn-cs"/>
                        </a:rPr>
                        <a:t>Levenshtein</a:t>
                      </a:r>
                      <a:endParaRPr kumimoji="0" lang="en-US" sz="800" b="0" i="0" u="none" strike="noStrike" kern="1200" cap="none" spc="0" normalizeH="0" baseline="0" dirty="0">
                        <a:ln>
                          <a:noFill/>
                        </a:ln>
                        <a:solidFill>
                          <a:schemeClr val="accent3"/>
                        </a:solidFill>
                        <a:effectLst/>
                        <a:uLnTx/>
                        <a:uFillTx/>
                        <a:latin typeface="Georgia"/>
                        <a:ea typeface="+mn-ea"/>
                        <a:cs typeface="+mn-cs"/>
                      </a:endParaRP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32.6%</a:t>
                      </a:r>
                    </a:p>
                  </a:txBody>
                  <a:tcPr marL="12700" marR="12700" marT="12700" marB="63500"/>
                </a:tc>
                <a:extLst>
                  <a:ext uri="{0D108BD9-81ED-4DB2-BD59-A6C34878D82A}">
                    <a16:rowId xmlns:a16="http://schemas.microsoft.com/office/drawing/2014/main" val="4021665721"/>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MedLlama_13B+Euclidean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29.8%</a:t>
                      </a:r>
                    </a:p>
                  </a:txBody>
                  <a:tcPr marL="12700" marR="12700" marT="12700" marB="63500"/>
                </a:tc>
                <a:extLst>
                  <a:ext uri="{0D108BD9-81ED-4DB2-BD59-A6C34878D82A}">
                    <a16:rowId xmlns:a16="http://schemas.microsoft.com/office/drawing/2014/main" val="848450259"/>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Text-Matching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Levenshtein+AP</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29.3%</a:t>
                      </a:r>
                    </a:p>
                  </a:txBody>
                  <a:tcPr marL="12700" marR="12700" marT="12700" marB="63500"/>
                </a:tc>
                <a:extLst>
                  <a:ext uri="{0D108BD9-81ED-4DB2-BD59-A6C34878D82A}">
                    <a16:rowId xmlns:a16="http://schemas.microsoft.com/office/drawing/2014/main" val="194930250"/>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Llama3.3_70B+Euclidean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27.2%</a:t>
                      </a:r>
                    </a:p>
                  </a:txBody>
                  <a:tcPr marL="12700" marR="12700" marT="12700" marB="63500"/>
                </a:tc>
                <a:extLst>
                  <a:ext uri="{0D108BD9-81ED-4DB2-BD59-A6C34878D82A}">
                    <a16:rowId xmlns:a16="http://schemas.microsoft.com/office/drawing/2014/main" val="981707794"/>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mn-lt"/>
                          <a:ea typeface="+mn-ea"/>
                          <a:cs typeface="+mn-cs"/>
                        </a:rPr>
                        <a:t>Edit Distance</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Jarro Winkler</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25.5%</a:t>
                      </a:r>
                    </a:p>
                  </a:txBody>
                  <a:tcPr marL="12700" marR="12700" marT="12700" marB="63500"/>
                </a:tc>
                <a:extLst>
                  <a:ext uri="{0D108BD9-81ED-4DB2-BD59-A6C34878D82A}">
                    <a16:rowId xmlns:a16="http://schemas.microsoft.com/office/drawing/2014/main" val="4223298831"/>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mn-lt"/>
                          <a:ea typeface="+mn-ea"/>
                          <a:cs typeface="+mn-cs"/>
                        </a:rPr>
                        <a:t>Edit Distance</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err="1">
                          <a:ln>
                            <a:noFill/>
                          </a:ln>
                          <a:solidFill>
                            <a:schemeClr val="accent3"/>
                          </a:solidFill>
                          <a:effectLst/>
                          <a:uLnTx/>
                          <a:uFillTx/>
                          <a:latin typeface="Georgia"/>
                          <a:ea typeface="+mn-ea"/>
                          <a:cs typeface="+mn-cs"/>
                        </a:rPr>
                        <a:t>Jarro</a:t>
                      </a:r>
                      <a:r>
                        <a:rPr kumimoji="0" lang="en-US" sz="800" b="0" i="0" u="none" strike="noStrike" kern="1200" cap="none" spc="0" normalizeH="0" baseline="0" dirty="0">
                          <a:ln>
                            <a:noFill/>
                          </a:ln>
                          <a:solidFill>
                            <a:schemeClr val="accent3"/>
                          </a:solidFill>
                          <a:effectLst/>
                          <a:uLnTx/>
                          <a:uFillTx/>
                          <a:latin typeface="Georgia"/>
                          <a:ea typeface="+mn-ea"/>
                          <a:cs typeface="+mn-cs"/>
                        </a:rPr>
                        <a:t> </a:t>
                      </a:r>
                      <a:r>
                        <a:rPr kumimoji="0" lang="en-US" sz="800" b="0" i="0" u="none" strike="noStrike" kern="1200" cap="none" spc="0" normalizeH="0" baseline="0" dirty="0" err="1">
                          <a:ln>
                            <a:noFill/>
                          </a:ln>
                          <a:solidFill>
                            <a:schemeClr val="accent3"/>
                          </a:solidFill>
                          <a:effectLst/>
                          <a:uLnTx/>
                          <a:uFillTx/>
                          <a:latin typeface="Georgia"/>
                          <a:ea typeface="+mn-ea"/>
                          <a:cs typeface="+mn-cs"/>
                        </a:rPr>
                        <a:t>Winkler+AP</a:t>
                      </a:r>
                      <a:endParaRPr kumimoji="0" lang="en-US" sz="800" b="0" i="0" u="none" strike="noStrike" kern="1200" cap="none" spc="0" normalizeH="0" baseline="0" dirty="0">
                        <a:ln>
                          <a:noFill/>
                        </a:ln>
                        <a:solidFill>
                          <a:schemeClr val="accent3"/>
                        </a:solidFill>
                        <a:effectLst/>
                        <a:uLnTx/>
                        <a:uFillTx/>
                        <a:latin typeface="Georgia"/>
                        <a:ea typeface="+mn-ea"/>
                        <a:cs typeface="+mn-cs"/>
                      </a:endParaRP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24.4%</a:t>
                      </a:r>
                    </a:p>
                  </a:txBody>
                  <a:tcPr marL="12700" marR="12700" marT="12700" marB="63500"/>
                </a:tc>
                <a:extLst>
                  <a:ext uri="{0D108BD9-81ED-4DB2-BD59-A6C34878D82A}">
                    <a16:rowId xmlns:a16="http://schemas.microsoft.com/office/drawing/2014/main" val="335601274"/>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mn-lt"/>
                          <a:ea typeface="+mn-ea"/>
                          <a:cs typeface="+mn-cs"/>
                        </a:rPr>
                        <a:t>Edit Distance</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Cosine</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23.9%</a:t>
                      </a:r>
                    </a:p>
                  </a:txBody>
                  <a:tcPr marL="12700" marR="12700" marT="12700" marB="63500"/>
                </a:tc>
                <a:extLst>
                  <a:ext uri="{0D108BD9-81ED-4DB2-BD59-A6C34878D82A}">
                    <a16:rowId xmlns:a16="http://schemas.microsoft.com/office/drawing/2014/main" val="2432634286"/>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DeepSeek_8B+Euclidean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23.4%</a:t>
                      </a:r>
                    </a:p>
                  </a:txBody>
                  <a:tcPr marL="12700" marR="12700" marT="12700" marB="63500"/>
                </a:tc>
                <a:extLst>
                  <a:ext uri="{0D108BD9-81ED-4DB2-BD59-A6C34878D82A}">
                    <a16:rowId xmlns:a16="http://schemas.microsoft.com/office/drawing/2014/main" val="2617066"/>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mn-lt"/>
                          <a:ea typeface="+mn-ea"/>
                          <a:cs typeface="+mn-cs"/>
                        </a:rPr>
                        <a:t>Edit Distance</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Cosine+AP</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22.7%</a:t>
                      </a:r>
                    </a:p>
                  </a:txBody>
                  <a:tcPr marL="12700" marR="12700" marT="12700" marB="63500" anchor="b"/>
                </a:tc>
                <a:extLst>
                  <a:ext uri="{0D108BD9-81ED-4DB2-BD59-A6C34878D82A}">
                    <a16:rowId xmlns:a16="http://schemas.microsoft.com/office/drawing/2014/main" val="2989408918"/>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err="1">
                          <a:ln>
                            <a:noFill/>
                          </a:ln>
                          <a:solidFill>
                            <a:srgbClr val="D11960"/>
                          </a:solidFill>
                          <a:effectLst/>
                          <a:uLnTx/>
                          <a:uFillTx/>
                          <a:latin typeface="Georgia"/>
                          <a:ea typeface="+mn-ea"/>
                          <a:cs typeface="+mn-cs"/>
                        </a:rPr>
                        <a:t>PubMedBERT+Euclidean</a:t>
                      </a:r>
                      <a:r>
                        <a:rPr kumimoji="0" lang="en-US" sz="800" b="0" i="0" u="none" strike="noStrike" kern="1200" cap="none" spc="0" normalizeH="0" baseline="0" dirty="0">
                          <a:ln>
                            <a:noFill/>
                          </a:ln>
                          <a:solidFill>
                            <a:srgbClr val="D11960"/>
                          </a:solidFill>
                          <a:effectLst/>
                          <a:uLnTx/>
                          <a:uFillTx/>
                          <a:latin typeface="Georgia"/>
                          <a:ea typeface="+mn-ea"/>
                          <a:cs typeface="+mn-cs"/>
                        </a:rPr>
                        <a:t>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22.5%</a:t>
                      </a:r>
                    </a:p>
                  </a:txBody>
                  <a:tcPr marL="12700" marR="12700" marT="12700" marB="63500" anchor="b"/>
                </a:tc>
                <a:extLst>
                  <a:ext uri="{0D108BD9-81ED-4DB2-BD59-A6C34878D82A}">
                    <a16:rowId xmlns:a16="http://schemas.microsoft.com/office/drawing/2014/main" val="311880686"/>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SciBERT+Euclidean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21.4%</a:t>
                      </a:r>
                    </a:p>
                  </a:txBody>
                  <a:tcPr marL="12700" marR="12700" marT="12700" marB="63500" anchor="b"/>
                </a:tc>
                <a:extLst>
                  <a:ext uri="{0D108BD9-81ED-4DB2-BD59-A6C34878D82A}">
                    <a16:rowId xmlns:a16="http://schemas.microsoft.com/office/drawing/2014/main" val="1373437111"/>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BioBERT+Euclidean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21.3%</a:t>
                      </a:r>
                    </a:p>
                  </a:txBody>
                  <a:tcPr marL="12700" marR="12700" marT="12700" marB="63500" anchor="b"/>
                </a:tc>
                <a:extLst>
                  <a:ext uri="{0D108BD9-81ED-4DB2-BD59-A6C34878D82A}">
                    <a16:rowId xmlns:a16="http://schemas.microsoft.com/office/drawing/2014/main" val="2551747063"/>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Llama3.2_3B+Euclidean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21.1%</a:t>
                      </a:r>
                    </a:p>
                  </a:txBody>
                  <a:tcPr marL="12700" marR="12700" marT="12700" marB="63500" anchor="b"/>
                </a:tc>
                <a:extLst>
                  <a:ext uri="{0D108BD9-81ED-4DB2-BD59-A6C34878D82A}">
                    <a16:rowId xmlns:a16="http://schemas.microsoft.com/office/drawing/2014/main" val="68008229"/>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Llama3.0+Euclidean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20.3%</a:t>
                      </a:r>
                    </a:p>
                  </a:txBody>
                  <a:tcPr marL="12700" marR="12700" marT="12700" marB="63500" anchor="b"/>
                </a:tc>
                <a:extLst>
                  <a:ext uri="{0D108BD9-81ED-4DB2-BD59-A6C34878D82A}">
                    <a16:rowId xmlns:a16="http://schemas.microsoft.com/office/drawing/2014/main" val="3910479231"/>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err="1">
                          <a:ln>
                            <a:noFill/>
                          </a:ln>
                          <a:solidFill>
                            <a:srgbClr val="D11960"/>
                          </a:solidFill>
                          <a:effectLst/>
                          <a:uLnTx/>
                          <a:uFillTx/>
                          <a:latin typeface="Georgia"/>
                          <a:ea typeface="+mn-ea"/>
                          <a:cs typeface="+mn-cs"/>
                        </a:rPr>
                        <a:t>ModernBERT+Euclidean</a:t>
                      </a:r>
                      <a:r>
                        <a:rPr kumimoji="0" lang="en-US" sz="800" b="0" i="0" u="none" strike="noStrike" kern="1200" cap="none" spc="0" normalizeH="0" baseline="0" dirty="0">
                          <a:ln>
                            <a:noFill/>
                          </a:ln>
                          <a:solidFill>
                            <a:srgbClr val="D11960"/>
                          </a:solidFill>
                          <a:effectLst/>
                          <a:uLnTx/>
                          <a:uFillTx/>
                          <a:latin typeface="Georgia"/>
                          <a:ea typeface="+mn-ea"/>
                          <a:cs typeface="+mn-cs"/>
                        </a:rPr>
                        <a:t>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19.3%</a:t>
                      </a:r>
                    </a:p>
                  </a:txBody>
                  <a:tcPr marL="12700" marR="12700" marT="12700" marB="63500" anchor="b"/>
                </a:tc>
                <a:extLst>
                  <a:ext uri="{0D108BD9-81ED-4DB2-BD59-A6C34878D82A}">
                    <a16:rowId xmlns:a16="http://schemas.microsoft.com/office/drawing/2014/main" val="4286666507"/>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Phi-4+Euclidean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17.2%</a:t>
                      </a:r>
                    </a:p>
                  </a:txBody>
                  <a:tcPr marL="12700" marR="12700" marT="12700" marB="63500" anchor="b"/>
                </a:tc>
                <a:extLst>
                  <a:ext uri="{0D108BD9-81ED-4DB2-BD59-A6C34878D82A}">
                    <a16:rowId xmlns:a16="http://schemas.microsoft.com/office/drawing/2014/main" val="1954130689"/>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MedLlama2+Euclidean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15.4%</a:t>
                      </a:r>
                    </a:p>
                  </a:txBody>
                  <a:tcPr marL="12700" marR="12700" marT="12700" marB="63500" anchor="b"/>
                </a:tc>
                <a:extLst>
                  <a:ext uri="{0D108BD9-81ED-4DB2-BD59-A6C34878D82A}">
                    <a16:rowId xmlns:a16="http://schemas.microsoft.com/office/drawing/2014/main" val="2586442628"/>
                  </a:ext>
                </a:extLst>
              </a:tr>
            </a:tbl>
          </a:graphicData>
        </a:graphic>
      </p:graphicFrame>
      <p:graphicFrame>
        <p:nvGraphicFramePr>
          <p:cNvPr id="5" name="Table 4">
            <a:extLst>
              <a:ext uri="{FF2B5EF4-FFF2-40B4-BE49-F238E27FC236}">
                <a16:creationId xmlns:a16="http://schemas.microsoft.com/office/drawing/2014/main" id="{BAF5159B-55BF-4714-7E63-453CC464B36F}"/>
              </a:ext>
            </a:extLst>
          </p:cNvPr>
          <p:cNvGraphicFramePr>
            <a:graphicFrameLocks noGrp="1"/>
          </p:cNvGraphicFramePr>
          <p:nvPr>
            <p:extLst>
              <p:ext uri="{D42A27DB-BD31-4B8C-83A1-F6EECF244321}">
                <p14:modId xmlns:p14="http://schemas.microsoft.com/office/powerpoint/2010/main" val="4223216739"/>
              </p:ext>
            </p:extLst>
          </p:nvPr>
        </p:nvGraphicFramePr>
        <p:xfrm>
          <a:off x="0" y="0"/>
          <a:ext cx="5475516" cy="7467600"/>
        </p:xfrm>
        <a:graphic>
          <a:graphicData uri="http://schemas.openxmlformats.org/drawingml/2006/table">
            <a:tbl>
              <a:tblPr firstRow="1" bandRow="1">
                <a:tableStyleId>{5C22544A-7EE6-4342-B048-85BDC9FD1C3A}</a:tableStyleId>
              </a:tblPr>
              <a:tblGrid>
                <a:gridCol w="935616">
                  <a:extLst>
                    <a:ext uri="{9D8B030D-6E8A-4147-A177-3AD203B41FA5}">
                      <a16:colId xmlns:a16="http://schemas.microsoft.com/office/drawing/2014/main" val="3177516889"/>
                    </a:ext>
                  </a:extLst>
                </a:gridCol>
                <a:gridCol w="1674991">
                  <a:extLst>
                    <a:ext uri="{9D8B030D-6E8A-4147-A177-3AD203B41FA5}">
                      <a16:colId xmlns:a16="http://schemas.microsoft.com/office/drawing/2014/main" val="523317735"/>
                    </a:ext>
                  </a:extLst>
                </a:gridCol>
                <a:gridCol w="2864909">
                  <a:extLst>
                    <a:ext uri="{9D8B030D-6E8A-4147-A177-3AD203B41FA5}">
                      <a16:colId xmlns:a16="http://schemas.microsoft.com/office/drawing/2014/main" val="2056308797"/>
                    </a:ext>
                  </a:extLst>
                </a:gridCol>
              </a:tblGrid>
              <a:tr h="301781">
                <a:tc>
                  <a:txBody>
                    <a:bodyPr/>
                    <a:lstStyle/>
                    <a:p>
                      <a:r>
                        <a:rPr lang="en-US" sz="800" dirty="0"/>
                        <a:t>Basis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dirty="0"/>
                        <a:t>Methods</a:t>
                      </a:r>
                    </a:p>
                    <a:p>
                      <a:endParaRPr lang="en-US"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dirty="0"/>
                        <a:t>Standardization Accuracy </a:t>
                      </a:r>
                      <a:br>
                        <a:rPr lang="en-US" sz="800" dirty="0"/>
                      </a:br>
                      <a:r>
                        <a:rPr lang="en-US" sz="800" dirty="0"/>
                        <a:t>WHO 5th Edition</a:t>
                      </a:r>
                    </a:p>
                  </a:txBody>
                  <a:tcPr/>
                </a:tc>
                <a:extLst>
                  <a:ext uri="{0D108BD9-81ED-4DB2-BD59-A6C34878D82A}">
                    <a16:rowId xmlns:a16="http://schemas.microsoft.com/office/drawing/2014/main" val="4308664"/>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all-MiniLM-L12-v2+Euclidean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67.8%</a:t>
                      </a:r>
                    </a:p>
                  </a:txBody>
                  <a:tcPr marL="12700" marR="12700" marT="12700" marB="63500" anchor="b"/>
                </a:tc>
                <a:extLst>
                  <a:ext uri="{0D108BD9-81ED-4DB2-BD59-A6C34878D82A}">
                    <a16:rowId xmlns:a16="http://schemas.microsoft.com/office/drawing/2014/main" val="643621850"/>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e5-large+Euclidean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67.4%</a:t>
                      </a:r>
                    </a:p>
                  </a:txBody>
                  <a:tcPr marL="12700" marR="12700" marT="12700" marB="63500" anchor="b"/>
                </a:tc>
                <a:extLst>
                  <a:ext uri="{0D108BD9-81ED-4DB2-BD59-A6C34878D82A}">
                    <a16:rowId xmlns:a16="http://schemas.microsoft.com/office/drawing/2014/main" val="2923122740"/>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all-mpnet-base-v2+Euclidean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67.1%</a:t>
                      </a:r>
                    </a:p>
                  </a:txBody>
                  <a:tcPr marL="12700" marR="12700" marT="12700" marB="63500" anchor="b"/>
                </a:tc>
                <a:extLst>
                  <a:ext uri="{0D108BD9-81ED-4DB2-BD59-A6C34878D82A}">
                    <a16:rowId xmlns:a16="http://schemas.microsoft.com/office/drawing/2014/main" val="1662268947"/>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all-MiniLM-L6-v2+Euclidean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66.5%</a:t>
                      </a:r>
                    </a:p>
                  </a:txBody>
                  <a:tcPr marL="12700" marR="12700" marT="12700" marB="63500" anchor="b"/>
                </a:tc>
                <a:extLst>
                  <a:ext uri="{0D108BD9-81ED-4DB2-BD59-A6C34878D82A}">
                    <a16:rowId xmlns:a16="http://schemas.microsoft.com/office/drawing/2014/main" val="1011435067"/>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LTE-3+Euclidean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65.4%</a:t>
                      </a:r>
                    </a:p>
                  </a:txBody>
                  <a:tcPr marL="12700" marR="12700" marT="12700" marB="63500" anchor="b"/>
                </a:tc>
                <a:extLst>
                  <a:ext uri="{0D108BD9-81ED-4DB2-BD59-A6C34878D82A}">
                    <a16:rowId xmlns:a16="http://schemas.microsoft.com/office/drawing/2014/main" val="2001886976"/>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LTE-3+AP</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64.4%</a:t>
                      </a:r>
                    </a:p>
                  </a:txBody>
                  <a:tcPr marL="12700" marR="12700" marT="12700" marB="63500" anchor="b"/>
                </a:tc>
                <a:extLst>
                  <a:ext uri="{0D108BD9-81ED-4DB2-BD59-A6C34878D82A}">
                    <a16:rowId xmlns:a16="http://schemas.microsoft.com/office/drawing/2014/main" val="1212604679"/>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LTE-3+K-means</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63.4%</a:t>
                      </a:r>
                    </a:p>
                  </a:txBody>
                  <a:tcPr marL="12700" marR="12700" marT="12700" marB="63500" anchor="b"/>
                </a:tc>
                <a:extLst>
                  <a:ext uri="{0D108BD9-81ED-4DB2-BD59-A6C34878D82A}">
                    <a16:rowId xmlns:a16="http://schemas.microsoft.com/office/drawing/2014/main" val="2775858198"/>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ADA-002+Euclidean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62.6%</a:t>
                      </a:r>
                    </a:p>
                  </a:txBody>
                  <a:tcPr marL="12700" marR="12700" marT="12700" marB="63500" anchor="b"/>
                </a:tc>
                <a:extLst>
                  <a:ext uri="{0D108BD9-81ED-4DB2-BD59-A6C34878D82A}">
                    <a16:rowId xmlns:a16="http://schemas.microsoft.com/office/drawing/2014/main" val="71338281"/>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ADA-002+AP</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62.5%</a:t>
                      </a:r>
                    </a:p>
                  </a:txBody>
                  <a:tcPr marL="12700" marR="12700" marT="12700" marB="63500" anchor="b"/>
                </a:tc>
                <a:extLst>
                  <a:ext uri="{0D108BD9-81ED-4DB2-BD59-A6C34878D82A}">
                    <a16:rowId xmlns:a16="http://schemas.microsoft.com/office/drawing/2014/main" val="3521891832"/>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nomic+Euclidean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60.8%</a:t>
                      </a:r>
                    </a:p>
                  </a:txBody>
                  <a:tcPr marL="12700" marR="12700" marT="12700" marB="63500" anchor="b"/>
                </a:tc>
                <a:extLst>
                  <a:ext uri="{0D108BD9-81ED-4DB2-BD59-A6C34878D82A}">
                    <a16:rowId xmlns:a16="http://schemas.microsoft.com/office/drawing/2014/main" val="1741085275"/>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ADA-002+K-means</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60.2%</a:t>
                      </a:r>
                    </a:p>
                  </a:txBody>
                  <a:tcPr marL="12700" marR="12700" marT="12700" marB="63500" anchor="b"/>
                </a:tc>
                <a:extLst>
                  <a:ext uri="{0D108BD9-81ED-4DB2-BD59-A6C34878D82A}">
                    <a16:rowId xmlns:a16="http://schemas.microsoft.com/office/drawing/2014/main" val="192314115"/>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e5-large-v2+Euclidean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58.7%</a:t>
                      </a:r>
                    </a:p>
                  </a:txBody>
                  <a:tcPr marL="12700" marR="12700" marT="12700" marB="63500" anchor="b"/>
                </a:tc>
                <a:extLst>
                  <a:ext uri="{0D108BD9-81ED-4DB2-BD59-A6C34878D82A}">
                    <a16:rowId xmlns:a16="http://schemas.microsoft.com/office/drawing/2014/main" val="2950213849"/>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all-roberta-large-v1+Euclidean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58.6%</a:t>
                      </a:r>
                    </a:p>
                  </a:txBody>
                  <a:tcPr marL="12700" marR="12700" marT="12700" marB="63500" anchor="b"/>
                </a:tc>
                <a:extLst>
                  <a:ext uri="{0D108BD9-81ED-4DB2-BD59-A6C34878D82A}">
                    <a16:rowId xmlns:a16="http://schemas.microsoft.com/office/drawing/2014/main" val="2147432743"/>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gtr-t5-large+Euclidean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57%</a:t>
                      </a:r>
                    </a:p>
                  </a:txBody>
                  <a:tcPr marL="12700" marR="12700" marT="12700" marB="63500" anchor="b"/>
                </a:tc>
                <a:extLst>
                  <a:ext uri="{0D108BD9-81ED-4DB2-BD59-A6C34878D82A}">
                    <a16:rowId xmlns:a16="http://schemas.microsoft.com/office/drawing/2014/main" val="1506931024"/>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embed-english-v2.0+Euclidean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53.5%</a:t>
                      </a:r>
                    </a:p>
                  </a:txBody>
                  <a:tcPr marL="12700" marR="12700" marT="12700" marB="63500" anchor="b"/>
                </a:tc>
                <a:extLst>
                  <a:ext uri="{0D108BD9-81ED-4DB2-BD59-A6C34878D82A}">
                    <a16:rowId xmlns:a16="http://schemas.microsoft.com/office/drawing/2014/main" val="1357548240"/>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SapBERT+Euclidean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51.7%</a:t>
                      </a:r>
                    </a:p>
                  </a:txBody>
                  <a:tcPr marL="12700" marR="12700" marT="12700" marB="63500" anchor="b"/>
                </a:tc>
                <a:extLst>
                  <a:ext uri="{0D108BD9-81ED-4DB2-BD59-A6C34878D82A}">
                    <a16:rowId xmlns:a16="http://schemas.microsoft.com/office/drawing/2014/main" val="1253369807"/>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ClinicalBERT+Euclidean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40%</a:t>
                      </a:r>
                    </a:p>
                  </a:txBody>
                  <a:tcPr marL="12700" marR="12700" marT="12700" marB="63500" anchor="b"/>
                </a:tc>
                <a:extLst>
                  <a:ext uri="{0D108BD9-81ED-4DB2-BD59-A6C34878D82A}">
                    <a16:rowId xmlns:a16="http://schemas.microsoft.com/office/drawing/2014/main" val="1020401724"/>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err="1">
                          <a:ln>
                            <a:noFill/>
                          </a:ln>
                          <a:solidFill>
                            <a:schemeClr val="tx1"/>
                          </a:solidFill>
                          <a:effectLst/>
                          <a:uLnTx/>
                          <a:uFillTx/>
                          <a:latin typeface="Georgia"/>
                          <a:ea typeface="+mn-ea"/>
                          <a:cs typeface="+mn-cs"/>
                        </a:rPr>
                        <a:t>BioGPT+Euclidean</a:t>
                      </a:r>
                      <a:r>
                        <a:rPr kumimoji="0" lang="en-US" sz="800" b="0" i="0" u="none" strike="noStrike" kern="1200" cap="none" spc="0" normalizeH="0" baseline="0" dirty="0">
                          <a:ln>
                            <a:noFill/>
                          </a:ln>
                          <a:solidFill>
                            <a:schemeClr val="tx1"/>
                          </a:solidFill>
                          <a:effectLst/>
                          <a:uLnTx/>
                          <a:uFillTx/>
                          <a:latin typeface="Georgia"/>
                          <a:ea typeface="+mn-ea"/>
                          <a:cs typeface="+mn-cs"/>
                        </a:rPr>
                        <a:t>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39.7%</a:t>
                      </a:r>
                    </a:p>
                  </a:txBody>
                  <a:tcPr marL="12700" marR="12700" marT="12700" marB="63500" anchor="b"/>
                </a:tc>
                <a:extLst>
                  <a:ext uri="{0D108BD9-81ED-4DB2-BD59-A6C34878D82A}">
                    <a16:rowId xmlns:a16="http://schemas.microsoft.com/office/drawing/2014/main" val="3547181464"/>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LaBSE+Euclidean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36.1%</a:t>
                      </a:r>
                    </a:p>
                  </a:txBody>
                  <a:tcPr marL="12700" marR="12700" marT="12700" marB="63500" anchor="b"/>
                </a:tc>
                <a:extLst>
                  <a:ext uri="{0D108BD9-81ED-4DB2-BD59-A6C34878D82A}">
                    <a16:rowId xmlns:a16="http://schemas.microsoft.com/office/drawing/2014/main" val="2387377679"/>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MedLlama_13B+Euclidean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31.9%</a:t>
                      </a:r>
                    </a:p>
                  </a:txBody>
                  <a:tcPr marL="12700" marR="12700" marT="12700" marB="63500" anchor="b"/>
                </a:tc>
                <a:extLst>
                  <a:ext uri="{0D108BD9-81ED-4DB2-BD59-A6C34878D82A}">
                    <a16:rowId xmlns:a16="http://schemas.microsoft.com/office/drawing/2014/main" val="4021665721"/>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Edit Distance</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Levenshtein</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30.3%</a:t>
                      </a:r>
                    </a:p>
                  </a:txBody>
                  <a:tcPr marL="12700" marR="12700" marT="12700" marB="63500" anchor="b"/>
                </a:tc>
                <a:extLst>
                  <a:ext uri="{0D108BD9-81ED-4DB2-BD59-A6C34878D82A}">
                    <a16:rowId xmlns:a16="http://schemas.microsoft.com/office/drawing/2014/main" val="848450259"/>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mn-lt"/>
                          <a:ea typeface="+mn-ea"/>
                          <a:cs typeface="+mn-cs"/>
                        </a:rPr>
                        <a:t>Edit Distance</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Levenshtein+AP</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28.4%</a:t>
                      </a:r>
                    </a:p>
                  </a:txBody>
                  <a:tcPr marL="12700" marR="12700" marT="12700" marB="63500" anchor="b"/>
                </a:tc>
                <a:extLst>
                  <a:ext uri="{0D108BD9-81ED-4DB2-BD59-A6C34878D82A}">
                    <a16:rowId xmlns:a16="http://schemas.microsoft.com/office/drawing/2014/main" val="194930250"/>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Llama3.3_70B+Euclidean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27.4%</a:t>
                      </a:r>
                    </a:p>
                  </a:txBody>
                  <a:tcPr marL="12700" marR="12700" marT="12700" marB="63500" anchor="b"/>
                </a:tc>
                <a:extLst>
                  <a:ext uri="{0D108BD9-81ED-4DB2-BD59-A6C34878D82A}">
                    <a16:rowId xmlns:a16="http://schemas.microsoft.com/office/drawing/2014/main" val="981707794"/>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mn-lt"/>
                          <a:ea typeface="+mn-ea"/>
                          <a:cs typeface="+mn-cs"/>
                        </a:rPr>
                        <a:t>Edit Distance</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Jarro Winkler</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23.2%</a:t>
                      </a:r>
                    </a:p>
                  </a:txBody>
                  <a:tcPr marL="12700" marR="12700" marT="12700" marB="63500" anchor="b"/>
                </a:tc>
                <a:extLst>
                  <a:ext uri="{0D108BD9-81ED-4DB2-BD59-A6C34878D82A}">
                    <a16:rowId xmlns:a16="http://schemas.microsoft.com/office/drawing/2014/main" val="4223298831"/>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mn-lt"/>
                          <a:ea typeface="+mn-ea"/>
                          <a:cs typeface="+mn-cs"/>
                        </a:rPr>
                        <a:t>Edit Distance</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Jarro Winkler+AP</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23%</a:t>
                      </a:r>
                    </a:p>
                  </a:txBody>
                  <a:tcPr marL="12700" marR="12700" marT="12700" marB="63500" anchor="b"/>
                </a:tc>
                <a:extLst>
                  <a:ext uri="{0D108BD9-81ED-4DB2-BD59-A6C34878D82A}">
                    <a16:rowId xmlns:a16="http://schemas.microsoft.com/office/drawing/2014/main" val="335601274"/>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mn-lt"/>
                          <a:ea typeface="+mn-ea"/>
                          <a:cs typeface="+mn-cs"/>
                        </a:rPr>
                        <a:t>Edit Distance</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Cosine+AP</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21.7%</a:t>
                      </a:r>
                    </a:p>
                  </a:txBody>
                  <a:tcPr marL="12700" marR="12700" marT="12700" marB="63500" anchor="b"/>
                </a:tc>
                <a:extLst>
                  <a:ext uri="{0D108BD9-81ED-4DB2-BD59-A6C34878D82A}">
                    <a16:rowId xmlns:a16="http://schemas.microsoft.com/office/drawing/2014/main" val="2432634286"/>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mn-lt"/>
                          <a:ea typeface="+mn-ea"/>
                          <a:cs typeface="+mn-cs"/>
                        </a:rPr>
                        <a:t>Edit Distance</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Cosine</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21.6%</a:t>
                      </a:r>
                    </a:p>
                  </a:txBody>
                  <a:tcPr marL="12700" marR="12700" marT="12700" marB="63500" anchor="b"/>
                </a:tc>
                <a:extLst>
                  <a:ext uri="{0D108BD9-81ED-4DB2-BD59-A6C34878D82A}">
                    <a16:rowId xmlns:a16="http://schemas.microsoft.com/office/drawing/2014/main" val="2617066"/>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DeepSeek_8B+Euclidean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21.4%</a:t>
                      </a:r>
                    </a:p>
                  </a:txBody>
                  <a:tcPr marL="12700" marR="12700" marT="12700" marB="63500" anchor="b"/>
                </a:tc>
                <a:extLst>
                  <a:ext uri="{0D108BD9-81ED-4DB2-BD59-A6C34878D82A}">
                    <a16:rowId xmlns:a16="http://schemas.microsoft.com/office/drawing/2014/main" val="3386371047"/>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err="1">
                          <a:ln>
                            <a:noFill/>
                          </a:ln>
                          <a:solidFill>
                            <a:srgbClr val="D11960"/>
                          </a:solidFill>
                          <a:effectLst/>
                          <a:uLnTx/>
                          <a:uFillTx/>
                          <a:latin typeface="Georgia"/>
                          <a:ea typeface="+mn-ea"/>
                          <a:cs typeface="+mn-cs"/>
                        </a:rPr>
                        <a:t>PubMedBERT+Euclidean</a:t>
                      </a:r>
                      <a:r>
                        <a:rPr kumimoji="0" lang="en-US" sz="800" b="0" i="0" u="none" strike="noStrike" kern="1200" cap="none" spc="0" normalizeH="0" baseline="0" dirty="0">
                          <a:ln>
                            <a:noFill/>
                          </a:ln>
                          <a:solidFill>
                            <a:srgbClr val="D11960"/>
                          </a:solidFill>
                          <a:effectLst/>
                          <a:uLnTx/>
                          <a:uFillTx/>
                          <a:latin typeface="Georgia"/>
                          <a:ea typeface="+mn-ea"/>
                          <a:cs typeface="+mn-cs"/>
                        </a:rPr>
                        <a:t>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21%</a:t>
                      </a:r>
                    </a:p>
                  </a:txBody>
                  <a:tcPr marL="12700" marR="12700" marT="12700" marB="63500" anchor="b"/>
                </a:tc>
                <a:extLst>
                  <a:ext uri="{0D108BD9-81ED-4DB2-BD59-A6C34878D82A}">
                    <a16:rowId xmlns:a16="http://schemas.microsoft.com/office/drawing/2014/main" val="106897695"/>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Llama3.2_3B+Euclidean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20.5%</a:t>
                      </a:r>
                    </a:p>
                  </a:txBody>
                  <a:tcPr marL="12700" marR="12700" marT="12700" marB="63500" anchor="b"/>
                </a:tc>
                <a:extLst>
                  <a:ext uri="{0D108BD9-81ED-4DB2-BD59-A6C34878D82A}">
                    <a16:rowId xmlns:a16="http://schemas.microsoft.com/office/drawing/2014/main" val="2653439850"/>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err="1">
                          <a:ln>
                            <a:noFill/>
                          </a:ln>
                          <a:solidFill>
                            <a:srgbClr val="D11960"/>
                          </a:solidFill>
                          <a:effectLst/>
                          <a:uLnTx/>
                          <a:uFillTx/>
                          <a:latin typeface="Georgia"/>
                          <a:ea typeface="+mn-ea"/>
                          <a:cs typeface="+mn-cs"/>
                        </a:rPr>
                        <a:t>BioBERT+Euclidean</a:t>
                      </a:r>
                      <a:r>
                        <a:rPr kumimoji="0" lang="en-US" sz="800" b="0" i="0" u="none" strike="noStrike" kern="1200" cap="none" spc="0" normalizeH="0" baseline="0" dirty="0">
                          <a:ln>
                            <a:noFill/>
                          </a:ln>
                          <a:solidFill>
                            <a:srgbClr val="D11960"/>
                          </a:solidFill>
                          <a:effectLst/>
                          <a:uLnTx/>
                          <a:uFillTx/>
                          <a:latin typeface="Georgia"/>
                          <a:ea typeface="+mn-ea"/>
                          <a:cs typeface="+mn-cs"/>
                        </a:rPr>
                        <a:t>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20%</a:t>
                      </a:r>
                    </a:p>
                  </a:txBody>
                  <a:tcPr marL="12700" marR="12700" marT="12700" marB="63500" anchor="b"/>
                </a:tc>
                <a:extLst>
                  <a:ext uri="{0D108BD9-81ED-4DB2-BD59-A6C34878D82A}">
                    <a16:rowId xmlns:a16="http://schemas.microsoft.com/office/drawing/2014/main" val="703844146"/>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LLama3.0+Euclidean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19.8%</a:t>
                      </a:r>
                    </a:p>
                  </a:txBody>
                  <a:tcPr marL="12700" marR="12700" marT="12700" marB="63500" anchor="b"/>
                </a:tc>
                <a:extLst>
                  <a:ext uri="{0D108BD9-81ED-4DB2-BD59-A6C34878D82A}">
                    <a16:rowId xmlns:a16="http://schemas.microsoft.com/office/drawing/2014/main" val="3299077155"/>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err="1">
                          <a:ln>
                            <a:noFill/>
                          </a:ln>
                          <a:solidFill>
                            <a:srgbClr val="D11960"/>
                          </a:solidFill>
                          <a:effectLst/>
                          <a:uLnTx/>
                          <a:uFillTx/>
                          <a:latin typeface="Georgia"/>
                          <a:ea typeface="+mn-ea"/>
                          <a:cs typeface="+mn-cs"/>
                        </a:rPr>
                        <a:t>SciBERT+Euclidean</a:t>
                      </a:r>
                      <a:r>
                        <a:rPr kumimoji="0" lang="en-US" sz="800" b="0" i="0" u="none" strike="noStrike" kern="1200" cap="none" spc="0" normalizeH="0" baseline="0" dirty="0">
                          <a:ln>
                            <a:noFill/>
                          </a:ln>
                          <a:solidFill>
                            <a:srgbClr val="D11960"/>
                          </a:solidFill>
                          <a:effectLst/>
                          <a:uLnTx/>
                          <a:uFillTx/>
                          <a:latin typeface="Georgia"/>
                          <a:ea typeface="+mn-ea"/>
                          <a:cs typeface="+mn-cs"/>
                        </a:rPr>
                        <a:t>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19.3%</a:t>
                      </a:r>
                    </a:p>
                  </a:txBody>
                  <a:tcPr marL="12700" marR="12700" marT="12700" marB="63500" anchor="b"/>
                </a:tc>
                <a:extLst>
                  <a:ext uri="{0D108BD9-81ED-4DB2-BD59-A6C34878D82A}">
                    <a16:rowId xmlns:a16="http://schemas.microsoft.com/office/drawing/2014/main" val="3525613323"/>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ModernBERT+Euclidean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18.2%</a:t>
                      </a:r>
                    </a:p>
                  </a:txBody>
                  <a:tcPr marL="12700" marR="12700" marT="12700" marB="63500" anchor="b"/>
                </a:tc>
                <a:extLst>
                  <a:ext uri="{0D108BD9-81ED-4DB2-BD59-A6C34878D82A}">
                    <a16:rowId xmlns:a16="http://schemas.microsoft.com/office/drawing/2014/main" val="503051975"/>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Phi-4+Euclidean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15.4%</a:t>
                      </a:r>
                    </a:p>
                  </a:txBody>
                  <a:tcPr marL="12700" marR="12700" marT="12700" marB="63500" anchor="b"/>
                </a:tc>
                <a:extLst>
                  <a:ext uri="{0D108BD9-81ED-4DB2-BD59-A6C34878D82A}">
                    <a16:rowId xmlns:a16="http://schemas.microsoft.com/office/drawing/2014/main" val="3890455292"/>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MedLlama2+Euclidean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13.7%</a:t>
                      </a:r>
                    </a:p>
                  </a:txBody>
                  <a:tcPr marL="12700" marR="12700" marT="12700" marB="63500" anchor="b"/>
                </a:tc>
                <a:extLst>
                  <a:ext uri="{0D108BD9-81ED-4DB2-BD59-A6C34878D82A}">
                    <a16:rowId xmlns:a16="http://schemas.microsoft.com/office/drawing/2014/main" val="2091552044"/>
                  </a:ext>
                </a:extLst>
              </a:tr>
            </a:tbl>
          </a:graphicData>
        </a:graphic>
      </p:graphicFrame>
    </p:spTree>
    <p:extLst>
      <p:ext uri="{BB962C8B-B14F-4D97-AF65-F5344CB8AC3E}">
        <p14:creationId xmlns:p14="http://schemas.microsoft.com/office/powerpoint/2010/main" val="28191004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3CC19DB-4542-0C4C-E322-9BF253AC8635}"/>
              </a:ext>
            </a:extLst>
          </p:cNvPr>
          <p:cNvSpPr>
            <a:spLocks noGrp="1"/>
          </p:cNvSpPr>
          <p:nvPr>
            <p:ph type="sldNum" sz="quarter" idx="12"/>
          </p:nvPr>
        </p:nvSpPr>
        <p:spPr/>
        <p:txBody>
          <a:bodyPr/>
          <a:lstStyle/>
          <a:p>
            <a:fld id="{AD40181A-01B0-4CB8-8614-1473649F6741}" type="slidenum">
              <a:rPr lang="en-US" smtClean="0"/>
              <a:pPr/>
              <a:t>16</a:t>
            </a:fld>
            <a:endParaRPr lang="en-US" dirty="0"/>
          </a:p>
        </p:txBody>
      </p:sp>
      <p:sp>
        <p:nvSpPr>
          <p:cNvPr id="3" name="Title 2">
            <a:extLst>
              <a:ext uri="{FF2B5EF4-FFF2-40B4-BE49-F238E27FC236}">
                <a16:creationId xmlns:a16="http://schemas.microsoft.com/office/drawing/2014/main" id="{F25CA6E1-8779-2786-3AF6-89520B6E3A77}"/>
              </a:ext>
            </a:extLst>
          </p:cNvPr>
          <p:cNvSpPr>
            <a:spLocks noGrp="1"/>
          </p:cNvSpPr>
          <p:nvPr>
            <p:ph type="title"/>
          </p:nvPr>
        </p:nvSpPr>
        <p:spPr>
          <a:xfrm>
            <a:off x="0" y="0"/>
            <a:ext cx="8817429" cy="587829"/>
          </a:xfrm>
        </p:spPr>
        <p:txBody>
          <a:bodyPr/>
          <a:lstStyle/>
          <a:p>
            <a:r>
              <a:rPr lang="en-US" dirty="0"/>
              <a:t>Summary</a:t>
            </a:r>
          </a:p>
        </p:txBody>
      </p:sp>
      <p:sp>
        <p:nvSpPr>
          <p:cNvPr id="4" name="Content Placeholder 2">
            <a:extLst>
              <a:ext uri="{FF2B5EF4-FFF2-40B4-BE49-F238E27FC236}">
                <a16:creationId xmlns:a16="http://schemas.microsoft.com/office/drawing/2014/main" id="{A1B0D7D4-F19D-9AA5-D6A8-355E190915A9}"/>
              </a:ext>
            </a:extLst>
          </p:cNvPr>
          <p:cNvSpPr txBox="1">
            <a:spLocks/>
          </p:cNvSpPr>
          <p:nvPr/>
        </p:nvSpPr>
        <p:spPr>
          <a:xfrm>
            <a:off x="157899" y="685799"/>
            <a:ext cx="11716475" cy="5148943"/>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baseline="0">
                <a:solidFill>
                  <a:srgbClr val="584B3D"/>
                </a:solidFill>
                <a:latin typeface="Chronicle Text G1 Roman"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baseline="0">
                <a:solidFill>
                  <a:srgbClr val="584B3D"/>
                </a:solidFill>
                <a:latin typeface="Chronicle Text G1 Roman"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baseline="0">
                <a:solidFill>
                  <a:srgbClr val="584B3D"/>
                </a:solidFill>
                <a:latin typeface="Chronicle Text G1 Roman"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baseline="0">
                <a:solidFill>
                  <a:srgbClr val="584B3D"/>
                </a:solidFill>
                <a:latin typeface="Chronicle Text G1 Roman"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baseline="0">
                <a:solidFill>
                  <a:srgbClr val="584B3D"/>
                </a:solidFill>
                <a:latin typeface="Chronicle Text G1 Roman"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r>
              <a:rPr lang="en-US" sz="1800" dirty="0">
                <a:solidFill>
                  <a:schemeClr val="tx1"/>
                </a:solidFill>
                <a:latin typeface="+mn-lt"/>
              </a:rPr>
              <a:t>Text-embedding based methods generally performed better than text-matching (edit distance) based methods. Depending on the text-embedding model the accuracies varied significantly. </a:t>
            </a:r>
          </a:p>
          <a:p>
            <a:pPr marL="0" indent="0" algn="just">
              <a:buNone/>
            </a:pPr>
            <a:endParaRPr lang="en-US" sz="1800" dirty="0">
              <a:solidFill>
                <a:schemeClr val="tx1"/>
              </a:solidFill>
              <a:latin typeface="+mn-lt"/>
            </a:endParaRPr>
          </a:p>
          <a:p>
            <a:r>
              <a:rPr lang="en-US" sz="1800" dirty="0">
                <a:solidFill>
                  <a:schemeClr val="tx1"/>
                </a:solidFill>
                <a:latin typeface="+mn-lt"/>
              </a:rPr>
              <a:t>Combining (using mutual information) high-accuracy text-embedding methods such as :</a:t>
            </a:r>
          </a:p>
          <a:p>
            <a:pPr lvl="1"/>
            <a:r>
              <a:rPr lang="en-US" sz="1400" b="0" i="0" u="none" strike="noStrike" dirty="0">
                <a:solidFill>
                  <a:schemeClr val="tx1"/>
                </a:solidFill>
                <a:effectLst/>
                <a:latin typeface="Times New Roman" panose="02020603050405020304" pitchFamily="18" charset="0"/>
              </a:rPr>
              <a:t>ADA-002+AP, LTE-3+K-means, and all-MiniLM-L12-v2+Euclidean </a:t>
            </a:r>
            <a:r>
              <a:rPr lang="en-US" sz="1400" b="0" i="0" u="none" strike="noStrike" dirty="0" err="1">
                <a:solidFill>
                  <a:schemeClr val="tx1"/>
                </a:solidFill>
                <a:effectLst/>
                <a:latin typeface="Times New Roman" panose="02020603050405020304" pitchFamily="18" charset="0"/>
              </a:rPr>
              <a:t>Dist</a:t>
            </a:r>
            <a:r>
              <a:rPr lang="en-US" sz="1400" b="0" i="0" u="none" strike="noStrike" dirty="0">
                <a:solidFill>
                  <a:schemeClr val="tx1"/>
                </a:solidFill>
                <a:effectLst/>
                <a:latin typeface="Times New Roman" panose="02020603050405020304" pitchFamily="18" charset="0"/>
              </a:rPr>
              <a:t> achieved a standardization accuracy of 72.1% (WHO 5th edition ). </a:t>
            </a:r>
          </a:p>
          <a:p>
            <a:pPr lvl="1"/>
            <a:r>
              <a:rPr lang="en-US" sz="1400" b="0" i="0" u="none" strike="noStrike" dirty="0">
                <a:solidFill>
                  <a:schemeClr val="tx1"/>
                </a:solidFill>
                <a:effectLst/>
                <a:latin typeface="Times New Roman" panose="02020603050405020304" pitchFamily="18" charset="0"/>
              </a:rPr>
              <a:t>ADA-002+K-means, LTE-3+K-means, and all-MiniLM-L12-v2+Euclidean </a:t>
            </a:r>
            <a:r>
              <a:rPr lang="en-US" sz="1400" b="0" i="0" u="none" strike="noStrike" dirty="0" err="1">
                <a:solidFill>
                  <a:schemeClr val="tx1"/>
                </a:solidFill>
                <a:effectLst/>
                <a:latin typeface="Times New Roman" panose="02020603050405020304" pitchFamily="18" charset="0"/>
              </a:rPr>
              <a:t>Dist</a:t>
            </a:r>
            <a:r>
              <a:rPr lang="en-US" sz="1400" b="0" i="0" u="none" strike="noStrike" dirty="0">
                <a:solidFill>
                  <a:schemeClr val="tx1"/>
                </a:solidFill>
                <a:effectLst/>
                <a:latin typeface="Times New Roman" panose="02020603050405020304" pitchFamily="18" charset="0"/>
              </a:rPr>
              <a:t>, achieved a standardization accuracy of 71.4% (WHO all editions).</a:t>
            </a:r>
            <a:endParaRPr lang="en-US" sz="1800" dirty="0">
              <a:solidFill>
                <a:schemeClr val="tx1"/>
              </a:solidFill>
              <a:latin typeface="+mn-lt"/>
            </a:endParaRPr>
          </a:p>
          <a:p>
            <a:pPr marL="0" indent="0" algn="just">
              <a:buNone/>
            </a:pPr>
            <a:endParaRPr lang="en-US" sz="1800" dirty="0">
              <a:solidFill>
                <a:schemeClr val="tx1"/>
              </a:solidFill>
              <a:latin typeface="+mn-lt"/>
            </a:endParaRPr>
          </a:p>
          <a:p>
            <a:r>
              <a:rPr lang="en-US" sz="1800" dirty="0">
                <a:solidFill>
                  <a:schemeClr val="tx1"/>
                </a:solidFill>
                <a:latin typeface="+mn-lt"/>
              </a:rPr>
              <a:t>Limitations: </a:t>
            </a:r>
          </a:p>
          <a:p>
            <a:pPr lvl="1"/>
            <a:r>
              <a:rPr lang="en-US" sz="1400" dirty="0">
                <a:solidFill>
                  <a:schemeClr val="tx1"/>
                </a:solidFill>
                <a:latin typeface="Times New Roman" panose="02020603050405020304" pitchFamily="18" charset="0"/>
              </a:rPr>
              <a:t>Accurate evaluation of tumor name standardization relies heavily on manual expert annotation, which is time-consuming and limits scalability.</a:t>
            </a:r>
          </a:p>
          <a:p>
            <a:pPr lvl="1"/>
            <a:endParaRPr lang="en-US" sz="1400" dirty="0">
              <a:solidFill>
                <a:schemeClr val="tx1"/>
              </a:solidFill>
              <a:latin typeface="Times New Roman" panose="02020603050405020304" pitchFamily="18" charset="0"/>
            </a:endParaRPr>
          </a:p>
          <a:p>
            <a:pPr lvl="1"/>
            <a:r>
              <a:rPr lang="en-US" sz="1400" dirty="0">
                <a:solidFill>
                  <a:schemeClr val="tx1"/>
                </a:solidFill>
                <a:latin typeface="Times New Roman" panose="02020603050405020304" pitchFamily="18" charset="0"/>
              </a:rPr>
              <a:t>As CTR updates with new tumor names, CANTOS must be rerun and validated repeatedly. </a:t>
            </a:r>
          </a:p>
          <a:p>
            <a:pPr lvl="1"/>
            <a:endParaRPr lang="en-US" sz="1400" dirty="0">
              <a:solidFill>
                <a:schemeClr val="tx1"/>
              </a:solidFill>
              <a:latin typeface="Times New Roman" panose="02020603050405020304" pitchFamily="18" charset="0"/>
            </a:endParaRPr>
          </a:p>
          <a:p>
            <a:pPr lvl="1"/>
            <a:r>
              <a:rPr lang="en-US" sz="1400" dirty="0">
                <a:solidFill>
                  <a:schemeClr val="tx1"/>
                </a:solidFill>
                <a:latin typeface="Times New Roman" panose="02020603050405020304" pitchFamily="18" charset="0"/>
              </a:rPr>
              <a:t>Standardization accuracy is not very high and thus CANTOS is solely for research analysis purposes and should not be applied in clinical or diagnostic settings.</a:t>
            </a:r>
          </a:p>
          <a:p>
            <a:pPr lvl="1"/>
            <a:endParaRPr lang="en-US" sz="1400" dirty="0">
              <a:solidFill>
                <a:schemeClr val="tx1"/>
              </a:solidFill>
              <a:latin typeface="Times New Roman" panose="02020603050405020304" pitchFamily="18" charset="0"/>
            </a:endParaRPr>
          </a:p>
          <a:p>
            <a:pPr lvl="1"/>
            <a:endParaRPr lang="en-US" sz="1400" dirty="0">
              <a:solidFill>
                <a:schemeClr val="tx1"/>
              </a:solidFill>
              <a:latin typeface="Times New Roman" panose="02020603050405020304" pitchFamily="18" charset="0"/>
            </a:endParaRPr>
          </a:p>
          <a:p>
            <a:endParaRPr lang="en-US" sz="1400" b="0" i="0" u="none" strike="noStrike" dirty="0">
              <a:solidFill>
                <a:schemeClr val="tx1"/>
              </a:solidFill>
              <a:effectLst/>
              <a:latin typeface="Times New Roman" panose="02020603050405020304" pitchFamily="18" charset="0"/>
            </a:endParaRPr>
          </a:p>
          <a:p>
            <a:pPr lvl="1"/>
            <a:endParaRPr lang="en-US" sz="1400" dirty="0">
              <a:solidFill>
                <a:schemeClr val="tx1"/>
              </a:solidFill>
              <a:latin typeface="Times New Roman" panose="02020603050405020304" pitchFamily="18" charset="0"/>
            </a:endParaRPr>
          </a:p>
          <a:p>
            <a:pPr lvl="1"/>
            <a:endParaRPr lang="en-US" sz="1400" b="0" i="0" u="none" strike="noStrike" dirty="0">
              <a:solidFill>
                <a:schemeClr val="tx1"/>
              </a:solidFill>
              <a:effectLst/>
              <a:latin typeface="Times New Roman" panose="02020603050405020304" pitchFamily="18" charset="0"/>
            </a:endParaRPr>
          </a:p>
          <a:p>
            <a:pPr lvl="1"/>
            <a:endParaRPr lang="en-US" sz="1400" b="0" i="0" u="none" strike="noStrike" dirty="0">
              <a:solidFill>
                <a:schemeClr val="tx1"/>
              </a:solidFill>
              <a:effectLst/>
              <a:latin typeface="Times New Roman" panose="02020603050405020304" pitchFamily="18" charset="0"/>
            </a:endParaRPr>
          </a:p>
          <a:p>
            <a:pPr lvl="1"/>
            <a:endParaRPr lang="en-US" sz="1400" b="0" i="0" u="none" strike="noStrike" dirty="0">
              <a:solidFill>
                <a:schemeClr val="tx1"/>
              </a:solidFill>
              <a:effectLst/>
              <a:latin typeface="Times New Roman" panose="02020603050405020304" pitchFamily="18" charset="0"/>
            </a:endParaRPr>
          </a:p>
          <a:p>
            <a:pPr marL="457200" lvl="1" indent="0">
              <a:buNone/>
            </a:pPr>
            <a:endParaRPr lang="en-US" sz="1400" b="0" i="0" u="none" strike="noStrike" dirty="0">
              <a:solidFill>
                <a:schemeClr val="tx1"/>
              </a:solidFill>
              <a:effectLst/>
              <a:latin typeface="Times New Roman" panose="02020603050405020304" pitchFamily="18" charset="0"/>
            </a:endParaRPr>
          </a:p>
          <a:p>
            <a:pPr lvl="1"/>
            <a:endParaRPr lang="en-US" sz="1400" dirty="0">
              <a:solidFill>
                <a:schemeClr val="tx1"/>
              </a:solidFill>
              <a:latin typeface="Times New Roman" panose="02020603050405020304" pitchFamily="18" charset="0"/>
            </a:endParaRPr>
          </a:p>
        </p:txBody>
      </p:sp>
    </p:spTree>
    <p:extLst>
      <p:ext uri="{BB962C8B-B14F-4D97-AF65-F5344CB8AC3E}">
        <p14:creationId xmlns:p14="http://schemas.microsoft.com/office/powerpoint/2010/main" val="25197746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2D04672-E20B-8BCF-0BCF-5F2E037AEB1D}"/>
              </a:ext>
            </a:extLst>
          </p:cNvPr>
          <p:cNvSpPr>
            <a:spLocks noGrp="1"/>
          </p:cNvSpPr>
          <p:nvPr>
            <p:ph type="sldNum" sz="quarter" idx="12"/>
          </p:nvPr>
        </p:nvSpPr>
        <p:spPr/>
        <p:txBody>
          <a:bodyPr/>
          <a:lstStyle/>
          <a:p>
            <a:fld id="{AD40181A-01B0-4CB8-8614-1473649F6741}" type="slidenum">
              <a:rPr lang="en-US" smtClean="0"/>
              <a:pPr/>
              <a:t>17</a:t>
            </a:fld>
            <a:endParaRPr lang="en-US" dirty="0"/>
          </a:p>
        </p:txBody>
      </p:sp>
      <p:sp>
        <p:nvSpPr>
          <p:cNvPr id="3" name="Title 2">
            <a:extLst>
              <a:ext uri="{FF2B5EF4-FFF2-40B4-BE49-F238E27FC236}">
                <a16:creationId xmlns:a16="http://schemas.microsoft.com/office/drawing/2014/main" id="{D5E22544-6AD7-4FDE-B5B7-6A2B7A01D716}"/>
              </a:ext>
            </a:extLst>
          </p:cNvPr>
          <p:cNvSpPr>
            <a:spLocks noGrp="1"/>
          </p:cNvSpPr>
          <p:nvPr>
            <p:ph type="title"/>
          </p:nvPr>
        </p:nvSpPr>
        <p:spPr>
          <a:xfrm>
            <a:off x="0" y="-174171"/>
            <a:ext cx="9753600" cy="1444752"/>
          </a:xfrm>
        </p:spPr>
        <p:txBody>
          <a:bodyPr/>
          <a:lstStyle/>
          <a:p>
            <a:r>
              <a:rPr lang="en-US" dirty="0"/>
              <a:t>END</a:t>
            </a:r>
          </a:p>
        </p:txBody>
      </p:sp>
    </p:spTree>
    <p:extLst>
      <p:ext uri="{BB962C8B-B14F-4D97-AF65-F5344CB8AC3E}">
        <p14:creationId xmlns:p14="http://schemas.microsoft.com/office/powerpoint/2010/main" val="9049029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1996C-AEFF-C3A9-751E-CB258B5285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3A313D-6D6A-BE2B-263D-27E5BA15AEB2}"/>
              </a:ext>
            </a:extLst>
          </p:cNvPr>
          <p:cNvSpPr>
            <a:spLocks noGrp="1"/>
          </p:cNvSpPr>
          <p:nvPr>
            <p:ph type="title"/>
          </p:nvPr>
        </p:nvSpPr>
        <p:spPr>
          <a:xfrm>
            <a:off x="87086" y="21771"/>
            <a:ext cx="10651402" cy="1143000"/>
          </a:xfrm>
        </p:spPr>
        <p:txBody>
          <a:bodyPr/>
          <a:lstStyle/>
          <a:p>
            <a:r>
              <a:rPr lang="en-US" dirty="0"/>
              <a:t>Tumor Name Standardization		</a:t>
            </a:r>
          </a:p>
        </p:txBody>
      </p:sp>
      <p:sp>
        <p:nvSpPr>
          <p:cNvPr id="3" name="Content Placeholder 2">
            <a:extLst>
              <a:ext uri="{FF2B5EF4-FFF2-40B4-BE49-F238E27FC236}">
                <a16:creationId xmlns:a16="http://schemas.microsoft.com/office/drawing/2014/main" id="{7D082753-632D-7BBE-C9E9-F9AE285F5C75}"/>
              </a:ext>
            </a:extLst>
          </p:cNvPr>
          <p:cNvSpPr>
            <a:spLocks noGrp="1"/>
          </p:cNvSpPr>
          <p:nvPr>
            <p:ph idx="1"/>
          </p:nvPr>
        </p:nvSpPr>
        <p:spPr>
          <a:xfrm>
            <a:off x="179670" y="1164771"/>
            <a:ext cx="11261215" cy="4484914"/>
          </a:xfrm>
        </p:spPr>
        <p:txBody>
          <a:bodyPr>
            <a:normAutofit/>
          </a:bodyPr>
          <a:lstStyle/>
          <a:p>
            <a:pPr algn="just"/>
            <a:r>
              <a:rPr lang="en-US" sz="1800" dirty="0">
                <a:solidFill>
                  <a:schemeClr val="tx1"/>
                </a:solidFill>
                <a:latin typeface="+mn-lt"/>
                <a:cs typeface="+mn-cs"/>
              </a:rPr>
              <a:t> We aimed to standardize tumor names contained in CTR. Tumor names represent a significant proportion of condition names in CTR.</a:t>
            </a:r>
          </a:p>
          <a:p>
            <a:pPr algn="just"/>
            <a:endParaRPr lang="en-US" sz="1800" dirty="0">
              <a:solidFill>
                <a:schemeClr val="tx1"/>
              </a:solidFill>
              <a:latin typeface="+mn-lt"/>
              <a:cs typeface="+mn-cs"/>
            </a:endParaRPr>
          </a:p>
          <a:p>
            <a:pPr algn="just"/>
            <a:r>
              <a:rPr lang="en-US" sz="1800" dirty="0">
                <a:solidFill>
                  <a:schemeClr val="tx1"/>
                </a:solidFill>
                <a:latin typeface="+mn-lt"/>
                <a:cs typeface="+mn-cs"/>
              </a:rPr>
              <a:t>Unlike other condition names, for tumor names , we have the WHO tumor classification system which is accepted as the gold standard for tumor nomenclature among clinicians. Also, other databases such as the </a:t>
            </a:r>
            <a:r>
              <a:rPr lang="en-US" sz="1800" dirty="0" err="1">
                <a:solidFill>
                  <a:schemeClr val="tx1"/>
                </a:solidFill>
                <a:latin typeface="+mn-lt"/>
                <a:cs typeface="+mn-cs"/>
              </a:rPr>
              <a:t>NCIt</a:t>
            </a:r>
            <a:r>
              <a:rPr lang="en-US" sz="1800" dirty="0">
                <a:solidFill>
                  <a:schemeClr val="tx1"/>
                </a:solidFill>
                <a:latin typeface="+mn-lt"/>
                <a:cs typeface="+mn-cs"/>
              </a:rPr>
              <a:t> (National Cancer Institute Thesaurus) have standardized tumor nomenclature. </a:t>
            </a:r>
          </a:p>
          <a:p>
            <a:pPr algn="just"/>
            <a:endParaRPr lang="en-US" sz="1800" dirty="0">
              <a:solidFill>
                <a:schemeClr val="tx1"/>
              </a:solidFill>
              <a:latin typeface="+mn-lt"/>
              <a:cs typeface="+mn-cs"/>
            </a:endParaRPr>
          </a:p>
          <a:p>
            <a:pPr algn="just"/>
            <a:r>
              <a:rPr lang="en-US" sz="1800" dirty="0">
                <a:solidFill>
                  <a:schemeClr val="tx1"/>
                </a:solidFill>
                <a:latin typeface="+mn-lt"/>
                <a:cs typeface="+mn-cs"/>
              </a:rPr>
              <a:t>A standardized system for tumor nomenclature provides us with a reference for mapping unstandardized tumor names from CTR and a basis for evaluating any method that performs this mapping.</a:t>
            </a:r>
          </a:p>
          <a:p>
            <a:pPr algn="just"/>
            <a:endParaRPr lang="en-US" sz="1800" dirty="0">
              <a:solidFill>
                <a:schemeClr val="tx1"/>
              </a:solidFill>
              <a:latin typeface="+mn-lt"/>
              <a:cs typeface="+mn-cs"/>
            </a:endParaRPr>
          </a:p>
          <a:p>
            <a:pPr algn="just"/>
            <a:r>
              <a:rPr lang="en-US" sz="1800" dirty="0">
                <a:solidFill>
                  <a:schemeClr val="tx1"/>
                </a:solidFill>
                <a:latin typeface="+mn-lt"/>
                <a:cs typeface="+mn-cs"/>
              </a:rPr>
              <a:t>To this end, we developed the CANTOS (Clinical trials Automated Nomenclature and Tumor Ontology Standardization) pipeline to extract tumor names from CTR and standardize them with respect to the WHO tumor classification system and </a:t>
            </a:r>
            <a:r>
              <a:rPr lang="en-US" sz="1800" dirty="0" err="1">
                <a:solidFill>
                  <a:schemeClr val="tx1"/>
                </a:solidFill>
                <a:latin typeface="+mn-lt"/>
                <a:cs typeface="+mn-cs"/>
              </a:rPr>
              <a:t>NCIt</a:t>
            </a:r>
            <a:r>
              <a:rPr lang="en-US" sz="1800" dirty="0">
                <a:solidFill>
                  <a:schemeClr val="tx1"/>
                </a:solidFill>
                <a:latin typeface="+mn-lt"/>
                <a:cs typeface="+mn-cs"/>
              </a:rPr>
              <a:t> database</a:t>
            </a:r>
            <a:r>
              <a:rPr lang="en-US" sz="1800" dirty="0">
                <a:solidFill>
                  <a:srgbClr val="000000"/>
                </a:solidFill>
                <a:latin typeface="Times New Roman" panose="02020603050405020304" pitchFamily="18" charset="0"/>
              </a:rPr>
              <a:t>. </a:t>
            </a:r>
          </a:p>
          <a:p>
            <a:endParaRPr lang="en-US" sz="1800" dirty="0">
              <a:solidFill>
                <a:srgbClr val="000000"/>
              </a:solidFill>
              <a:latin typeface="Times New Roman" panose="02020603050405020304" pitchFamily="18" charset="0"/>
            </a:endParaRPr>
          </a:p>
          <a:p>
            <a:endParaRPr lang="en-US" sz="1800" dirty="0">
              <a:solidFill>
                <a:srgbClr val="000000"/>
              </a:solidFill>
              <a:latin typeface="Times New Roman" panose="02020603050405020304" pitchFamily="18" charset="0"/>
            </a:endParaRPr>
          </a:p>
          <a:p>
            <a:endParaRPr lang="en-US" dirty="0"/>
          </a:p>
        </p:txBody>
      </p:sp>
      <p:sp>
        <p:nvSpPr>
          <p:cNvPr id="4" name="Slide Number Placeholder 3">
            <a:extLst>
              <a:ext uri="{FF2B5EF4-FFF2-40B4-BE49-F238E27FC236}">
                <a16:creationId xmlns:a16="http://schemas.microsoft.com/office/drawing/2014/main" id="{874865C2-BF25-6030-3F39-CD518B0D06B9}"/>
              </a:ext>
            </a:extLst>
          </p:cNvPr>
          <p:cNvSpPr>
            <a:spLocks noGrp="1"/>
          </p:cNvSpPr>
          <p:nvPr>
            <p:ph type="sldNum" sz="quarter" idx="12"/>
          </p:nvPr>
        </p:nvSpPr>
        <p:spPr/>
        <p:txBody>
          <a:bodyPr/>
          <a:lstStyle/>
          <a:p>
            <a:fld id="{AD40181A-01B0-4CB8-8614-1473649F6741}" type="slidenum">
              <a:rPr lang="en-US" smtClean="0">
                <a:solidFill>
                  <a:schemeClr val="bg1"/>
                </a:solidFill>
              </a:rPr>
              <a:t>18</a:t>
            </a:fld>
            <a:endParaRPr lang="en-US" dirty="0">
              <a:solidFill>
                <a:schemeClr val="bg1"/>
              </a:solidFill>
            </a:endParaRPr>
          </a:p>
        </p:txBody>
      </p:sp>
    </p:spTree>
    <p:extLst>
      <p:ext uri="{BB962C8B-B14F-4D97-AF65-F5344CB8AC3E}">
        <p14:creationId xmlns:p14="http://schemas.microsoft.com/office/powerpoint/2010/main" val="5794083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1996C-AEFF-C3A9-751E-CB258B5285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3A313D-6D6A-BE2B-263D-27E5BA15AEB2}"/>
              </a:ext>
            </a:extLst>
          </p:cNvPr>
          <p:cNvSpPr>
            <a:spLocks noGrp="1"/>
          </p:cNvSpPr>
          <p:nvPr>
            <p:ph type="title"/>
          </p:nvPr>
        </p:nvSpPr>
        <p:spPr>
          <a:xfrm>
            <a:off x="79054" y="0"/>
            <a:ext cx="10651402" cy="1143000"/>
          </a:xfrm>
        </p:spPr>
        <p:txBody>
          <a:bodyPr/>
          <a:lstStyle/>
          <a:p>
            <a:r>
              <a:rPr lang="en-US" dirty="0"/>
              <a:t>Unstandardized tumor names</a:t>
            </a:r>
          </a:p>
        </p:txBody>
      </p:sp>
      <p:sp>
        <p:nvSpPr>
          <p:cNvPr id="4" name="Slide Number Placeholder 3">
            <a:extLst>
              <a:ext uri="{FF2B5EF4-FFF2-40B4-BE49-F238E27FC236}">
                <a16:creationId xmlns:a16="http://schemas.microsoft.com/office/drawing/2014/main" id="{874865C2-BF25-6030-3F39-CD518B0D06B9}"/>
              </a:ext>
            </a:extLst>
          </p:cNvPr>
          <p:cNvSpPr>
            <a:spLocks noGrp="1"/>
          </p:cNvSpPr>
          <p:nvPr>
            <p:ph type="sldNum" sz="quarter" idx="12"/>
          </p:nvPr>
        </p:nvSpPr>
        <p:spPr/>
        <p:txBody>
          <a:bodyPr/>
          <a:lstStyle/>
          <a:p>
            <a:fld id="{AD40181A-01B0-4CB8-8614-1473649F6741}" type="slidenum">
              <a:rPr lang="en-US" smtClean="0">
                <a:solidFill>
                  <a:schemeClr val="bg1"/>
                </a:solidFill>
              </a:rPr>
              <a:t>19</a:t>
            </a:fld>
            <a:endParaRPr lang="en-US" dirty="0">
              <a:solidFill>
                <a:schemeClr val="bg1"/>
              </a:solidFill>
            </a:endParaRPr>
          </a:p>
        </p:txBody>
      </p:sp>
      <p:graphicFrame>
        <p:nvGraphicFramePr>
          <p:cNvPr id="7" name="Table 6">
            <a:extLst>
              <a:ext uri="{FF2B5EF4-FFF2-40B4-BE49-F238E27FC236}">
                <a16:creationId xmlns:a16="http://schemas.microsoft.com/office/drawing/2014/main" id="{1782C44F-99F5-A0A7-BC97-FD48AD99745C}"/>
              </a:ext>
            </a:extLst>
          </p:cNvPr>
          <p:cNvGraphicFramePr>
            <a:graphicFrameLocks noGrp="1"/>
          </p:cNvGraphicFramePr>
          <p:nvPr>
            <p:extLst>
              <p:ext uri="{D42A27DB-BD31-4B8C-83A1-F6EECF244321}">
                <p14:modId xmlns:p14="http://schemas.microsoft.com/office/powerpoint/2010/main" val="1719294777"/>
              </p:ext>
            </p:extLst>
          </p:nvPr>
        </p:nvGraphicFramePr>
        <p:xfrm>
          <a:off x="1461544" y="1143000"/>
          <a:ext cx="8994814" cy="3655156"/>
        </p:xfrm>
        <a:graphic>
          <a:graphicData uri="http://schemas.openxmlformats.org/drawingml/2006/table">
            <a:tbl>
              <a:tblPr firstRow="1" bandRow="1">
                <a:tableStyleId>{5C22544A-7EE6-4342-B048-85BDC9FD1C3A}</a:tableStyleId>
              </a:tblPr>
              <a:tblGrid>
                <a:gridCol w="3087617">
                  <a:extLst>
                    <a:ext uri="{9D8B030D-6E8A-4147-A177-3AD203B41FA5}">
                      <a16:colId xmlns:a16="http://schemas.microsoft.com/office/drawing/2014/main" val="1106209466"/>
                    </a:ext>
                  </a:extLst>
                </a:gridCol>
                <a:gridCol w="3019280">
                  <a:extLst>
                    <a:ext uri="{9D8B030D-6E8A-4147-A177-3AD203B41FA5}">
                      <a16:colId xmlns:a16="http://schemas.microsoft.com/office/drawing/2014/main" val="1462595529"/>
                    </a:ext>
                  </a:extLst>
                </a:gridCol>
                <a:gridCol w="2887917">
                  <a:extLst>
                    <a:ext uri="{9D8B030D-6E8A-4147-A177-3AD203B41FA5}">
                      <a16:colId xmlns:a16="http://schemas.microsoft.com/office/drawing/2014/main" val="242162575"/>
                    </a:ext>
                  </a:extLst>
                </a:gridCol>
              </a:tblGrid>
              <a:tr h="472978">
                <a:tc>
                  <a:txBody>
                    <a:bodyPr/>
                    <a:lstStyle/>
                    <a:p>
                      <a:r>
                        <a:rPr lang="en-US" dirty="0"/>
                        <a:t>CT Tumor Names</a:t>
                      </a:r>
                    </a:p>
                  </a:txBody>
                  <a:tcPr/>
                </a:tc>
                <a:tc>
                  <a:txBody>
                    <a:bodyPr/>
                    <a:lstStyle/>
                    <a:p>
                      <a:r>
                        <a:rPr lang="en-US" dirty="0"/>
                        <a:t>Issues</a:t>
                      </a:r>
                    </a:p>
                  </a:txBody>
                  <a:tcPr/>
                </a:tc>
                <a:tc>
                  <a:txBody>
                    <a:bodyPr/>
                    <a:lstStyle/>
                    <a:p>
                      <a:r>
                        <a:rPr lang="en-US" dirty="0"/>
                        <a:t>WHO Standard Names</a:t>
                      </a:r>
                    </a:p>
                  </a:txBody>
                  <a:tcPr/>
                </a:tc>
                <a:extLst>
                  <a:ext uri="{0D108BD9-81ED-4DB2-BD59-A6C34878D82A}">
                    <a16:rowId xmlns:a16="http://schemas.microsoft.com/office/drawing/2014/main" val="1751357925"/>
                  </a:ext>
                </a:extLst>
              </a:tr>
              <a:tr h="457554">
                <a:tc>
                  <a:txBody>
                    <a:bodyPr/>
                    <a:lstStyle/>
                    <a:p>
                      <a:r>
                        <a:rPr lang="en-US" sz="1400" dirty="0"/>
                        <a:t>acute myeloid </a:t>
                      </a:r>
                      <a:r>
                        <a:rPr lang="en-US" sz="1400" dirty="0" err="1"/>
                        <a:t>leucaemia</a:t>
                      </a:r>
                      <a:endParaRPr lang="en-US" sz="1400" dirty="0"/>
                    </a:p>
                  </a:txBody>
                  <a:tcPr/>
                </a:tc>
                <a:tc>
                  <a:txBody>
                    <a:bodyPr/>
                    <a:lstStyle/>
                    <a:p>
                      <a:r>
                        <a:rPr lang="en-US" sz="1400" dirty="0" err="1"/>
                        <a:t>Leukaemia</a:t>
                      </a:r>
                      <a:r>
                        <a:rPr lang="en-US" sz="1400" dirty="0"/>
                        <a:t> not spelled correctly </a:t>
                      </a:r>
                    </a:p>
                  </a:txBody>
                  <a:tcPr/>
                </a:tc>
                <a:tc>
                  <a:txBody>
                    <a:bodyPr/>
                    <a:lstStyle/>
                    <a:p>
                      <a:r>
                        <a:rPr lang="en-US" sz="1400" dirty="0">
                          <a:effectLst/>
                        </a:rPr>
                        <a:t>acute myeloid </a:t>
                      </a:r>
                      <a:r>
                        <a:rPr lang="en-US" sz="1400" dirty="0" err="1">
                          <a:effectLst/>
                        </a:rPr>
                        <a:t>leukaemia</a:t>
                      </a:r>
                      <a:endParaRPr lang="en-US" sz="1400" dirty="0">
                        <a:effectLst/>
                      </a:endParaRPr>
                    </a:p>
                  </a:txBody>
                  <a:tcPr marL="47625" marR="47625" marT="38100" marB="38100" anchor="ctr"/>
                </a:tc>
                <a:extLst>
                  <a:ext uri="{0D108BD9-81ED-4DB2-BD59-A6C34878D82A}">
                    <a16:rowId xmlns:a16="http://schemas.microsoft.com/office/drawing/2014/main" val="65510083"/>
                  </a:ext>
                </a:extLst>
              </a:tr>
              <a:tr h="708487">
                <a:tc>
                  <a:txBody>
                    <a:bodyPr/>
                    <a:lstStyle/>
                    <a:p>
                      <a:r>
                        <a:rPr lang="en-US" sz="1400" dirty="0"/>
                        <a:t>glioblastoma or solid tumors, epidermal growth factor receptor (</a:t>
                      </a:r>
                      <a:r>
                        <a:rPr lang="en-US" sz="1400" dirty="0" err="1"/>
                        <a:t>egfr</a:t>
                      </a:r>
                      <a:r>
                        <a:rPr lang="en-US" sz="1400" dirty="0"/>
                        <a:t>) diagnosis</a:t>
                      </a:r>
                    </a:p>
                    <a:p>
                      <a:endParaRPr lang="en-US" sz="1400" dirty="0"/>
                    </a:p>
                  </a:txBody>
                  <a:tcPr/>
                </a:tc>
                <a:tc>
                  <a:txBody>
                    <a:bodyPr/>
                    <a:lstStyle/>
                    <a:p>
                      <a:r>
                        <a:rPr lang="en-US" sz="1400" dirty="0"/>
                        <a:t>Has two types of tumor: glioblastoma and solid tumors, extra information on  EGFR</a:t>
                      </a:r>
                    </a:p>
                  </a:txBody>
                  <a:tcPr/>
                </a:tc>
                <a:tc>
                  <a:txBody>
                    <a:bodyPr/>
                    <a:lstStyle/>
                    <a:p>
                      <a:r>
                        <a:rPr lang="en-US" sz="1400" dirty="0"/>
                        <a:t>glioblastoma, </a:t>
                      </a:r>
                      <a:r>
                        <a:rPr lang="en-US" sz="1400" dirty="0" err="1"/>
                        <a:t>idh</a:t>
                      </a:r>
                      <a:r>
                        <a:rPr lang="en-US" sz="1400" dirty="0"/>
                        <a:t>-wildtype</a:t>
                      </a:r>
                    </a:p>
                  </a:txBody>
                  <a:tcPr/>
                </a:tc>
                <a:extLst>
                  <a:ext uri="{0D108BD9-81ED-4DB2-BD59-A6C34878D82A}">
                    <a16:rowId xmlns:a16="http://schemas.microsoft.com/office/drawing/2014/main" val="1041037533"/>
                  </a:ext>
                </a:extLst>
              </a:tr>
              <a:tr h="500866">
                <a:tc>
                  <a:txBody>
                    <a:bodyPr/>
                    <a:lstStyle/>
                    <a:p>
                      <a:r>
                        <a:rPr lang="en-US" sz="1400" dirty="0">
                          <a:effectLst/>
                        </a:rPr>
                        <a:t>pathologic stage </a:t>
                      </a:r>
                      <a:r>
                        <a:rPr lang="en-US" sz="1400" dirty="0" err="1">
                          <a:effectLst/>
                        </a:rPr>
                        <a:t>i</a:t>
                      </a:r>
                      <a:r>
                        <a:rPr lang="en-US" sz="1400" dirty="0">
                          <a:effectLst/>
                        </a:rPr>
                        <a:t> </a:t>
                      </a:r>
                      <a:r>
                        <a:rPr lang="en-US" sz="1400" dirty="0" err="1">
                          <a:effectLst/>
                        </a:rPr>
                        <a:t>merkel</a:t>
                      </a:r>
                      <a:r>
                        <a:rPr lang="en-US" sz="1400" dirty="0">
                          <a:effectLst/>
                        </a:rPr>
                        <a:t> cell carcinoma </a:t>
                      </a:r>
                      <a:r>
                        <a:rPr lang="en-US" sz="1400" dirty="0" err="1">
                          <a:effectLst/>
                        </a:rPr>
                        <a:t>ajcc</a:t>
                      </a:r>
                      <a:r>
                        <a:rPr lang="en-US" sz="1400" dirty="0">
                          <a:effectLst/>
                        </a:rPr>
                        <a:t> v8</a:t>
                      </a:r>
                    </a:p>
                  </a:txBody>
                  <a:tcPr marL="47625" marR="47625" marT="38100" marB="38100" anchor="ctr"/>
                </a:tc>
                <a:tc>
                  <a:txBody>
                    <a:bodyPr/>
                    <a:lstStyle/>
                    <a:p>
                      <a:r>
                        <a:rPr lang="en-US" sz="1400" dirty="0">
                          <a:effectLst/>
                        </a:rPr>
                        <a:t>extra information on staging</a:t>
                      </a:r>
                    </a:p>
                  </a:txBody>
                  <a:tcPr marL="47625" marR="47625" marT="38100" marB="38100" anchor="ctr"/>
                </a:tc>
                <a:tc>
                  <a:txBody>
                    <a:bodyPr/>
                    <a:lstStyle/>
                    <a:p>
                      <a:r>
                        <a:rPr lang="en-US" sz="1400" dirty="0" err="1">
                          <a:effectLst/>
                        </a:rPr>
                        <a:t>merkel</a:t>
                      </a:r>
                      <a:r>
                        <a:rPr lang="en-US" sz="1400" dirty="0">
                          <a:effectLst/>
                        </a:rPr>
                        <a:t> cell carcinoma</a:t>
                      </a:r>
                    </a:p>
                  </a:txBody>
                  <a:tcPr marL="47625" marR="47625" marT="38100" marB="38100" anchor="ctr"/>
                </a:tc>
                <a:extLst>
                  <a:ext uri="{0D108BD9-81ED-4DB2-BD59-A6C34878D82A}">
                    <a16:rowId xmlns:a16="http://schemas.microsoft.com/office/drawing/2014/main" val="3070337974"/>
                  </a:ext>
                </a:extLst>
              </a:tr>
              <a:tr h="545304">
                <a:tc>
                  <a:txBody>
                    <a:bodyPr/>
                    <a:lstStyle/>
                    <a:p>
                      <a:r>
                        <a:rPr lang="en-US" sz="1400" dirty="0">
                          <a:effectLst/>
                        </a:rPr>
                        <a:t>adrenocortical carcinoma (part g)</a:t>
                      </a:r>
                    </a:p>
                  </a:txBody>
                  <a:tcPr marL="47625" marR="47625" marT="38100" marB="38100" anchor="ctr"/>
                </a:tc>
                <a:tc>
                  <a:txBody>
                    <a:bodyPr/>
                    <a:lstStyle/>
                    <a:p>
                      <a:r>
                        <a:rPr lang="en-US" sz="1400" dirty="0">
                          <a:effectLst/>
                        </a:rPr>
                        <a:t> Extra information in bracket</a:t>
                      </a:r>
                    </a:p>
                  </a:txBody>
                  <a:tcPr marL="47625" marR="47625" marT="38100" marB="38100" anchor="ctr"/>
                </a:tc>
                <a:tc>
                  <a:txBody>
                    <a:bodyPr/>
                    <a:lstStyle/>
                    <a:p>
                      <a:r>
                        <a:rPr lang="en-US" sz="1400" dirty="0">
                          <a:effectLst/>
                        </a:rPr>
                        <a:t> adrenal cortical carcinoma</a:t>
                      </a:r>
                    </a:p>
                  </a:txBody>
                  <a:tcPr marL="47625" marR="47625" marT="38100" marB="38100" anchor="ctr"/>
                </a:tc>
                <a:extLst>
                  <a:ext uri="{0D108BD9-81ED-4DB2-BD59-A6C34878D82A}">
                    <a16:rowId xmlns:a16="http://schemas.microsoft.com/office/drawing/2014/main" val="2004295928"/>
                  </a:ext>
                </a:extLst>
              </a:tr>
              <a:tr h="708487">
                <a:tc>
                  <a:txBody>
                    <a:bodyPr/>
                    <a:lstStyle/>
                    <a:p>
                      <a:r>
                        <a:rPr lang="en-US" sz="1400" dirty="0" err="1"/>
                        <a:t>ann</a:t>
                      </a:r>
                      <a:r>
                        <a:rPr lang="en-US" sz="1400" dirty="0"/>
                        <a:t> arbor stage iii diffuse large b-cell lymphoma</a:t>
                      </a:r>
                    </a:p>
                    <a:p>
                      <a:endParaRPr lang="en-US" sz="1400" dirty="0"/>
                    </a:p>
                  </a:txBody>
                  <a:tcPr/>
                </a:tc>
                <a:tc>
                  <a:txBody>
                    <a:bodyPr/>
                    <a:lstStyle/>
                    <a:p>
                      <a:r>
                        <a:rPr lang="en-US" sz="1400" dirty="0"/>
                        <a:t> extra information on staging </a:t>
                      </a:r>
                    </a:p>
                  </a:txBody>
                  <a:tcPr/>
                </a:tc>
                <a:tc>
                  <a:txBody>
                    <a:bodyPr/>
                    <a:lstStyle/>
                    <a:p>
                      <a:r>
                        <a:rPr lang="en-US" sz="1400" dirty="0"/>
                        <a:t>diffuse large b-cell lymphoma</a:t>
                      </a:r>
                    </a:p>
                    <a:p>
                      <a:endParaRPr lang="en-US" sz="1400" dirty="0"/>
                    </a:p>
                  </a:txBody>
                  <a:tcPr/>
                </a:tc>
                <a:extLst>
                  <a:ext uri="{0D108BD9-81ED-4DB2-BD59-A6C34878D82A}">
                    <a16:rowId xmlns:a16="http://schemas.microsoft.com/office/drawing/2014/main" val="3939223885"/>
                  </a:ext>
                </a:extLst>
              </a:tr>
            </a:tbl>
          </a:graphicData>
        </a:graphic>
      </p:graphicFrame>
    </p:spTree>
    <p:extLst>
      <p:ext uri="{BB962C8B-B14F-4D97-AF65-F5344CB8AC3E}">
        <p14:creationId xmlns:p14="http://schemas.microsoft.com/office/powerpoint/2010/main" val="1932369964"/>
      </p:ext>
    </p:extLst>
  </p:cSld>
  <p:clrMapOvr>
    <a:masterClrMapping/>
  </p:clrMapOvr>
</p:sld>
</file>

<file path=ppt/theme/theme1.xml><?xml version="1.0" encoding="utf-8"?>
<a:theme xmlns:a="http://schemas.openxmlformats.org/drawingml/2006/main" name="RIS_LabArchives_Template">
  <a:themeElements>
    <a:clrScheme name="CHOP Custom">
      <a:dk1>
        <a:srgbClr val="D11960"/>
      </a:dk1>
      <a:lt1>
        <a:srgbClr val="FFFFFE"/>
      </a:lt1>
      <a:dk2>
        <a:srgbClr val="FFFFFE"/>
      </a:dk2>
      <a:lt2>
        <a:srgbClr val="584B3D"/>
      </a:lt2>
      <a:accent1>
        <a:srgbClr val="3E9CC9"/>
      </a:accent1>
      <a:accent2>
        <a:srgbClr val="D11960"/>
      </a:accent2>
      <a:accent3>
        <a:srgbClr val="5C8D29"/>
      </a:accent3>
      <a:accent4>
        <a:srgbClr val="97C5DF"/>
      </a:accent4>
      <a:accent5>
        <a:srgbClr val="E5849B"/>
      </a:accent5>
      <a:accent6>
        <a:srgbClr val="9FBE7E"/>
      </a:accent6>
      <a:hlink>
        <a:srgbClr val="0000FF"/>
      </a:hlink>
      <a:folHlink>
        <a:srgbClr val="800080"/>
      </a:folHlink>
    </a:clrScheme>
    <a:fontScheme name="Custom 1">
      <a:majorFont>
        <a:latin typeface="Arial"/>
        <a:ea typeface=""/>
        <a:cs typeface=""/>
      </a:majorFont>
      <a:minorFont>
        <a:latin typeface="Georgia"/>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nnovationeco" id="{994BA8A9-91A8-8D4A-A9A8-8E8B7A3944AB}" vid="{60D1369B-A32A-9840-9929-4F474B34A6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h6a4a4262ab844b18de92e197378cee0 xmlns="e96402cb-0a6e-49e7-8465-cfae72b5129c">
      <Terms xmlns="http://schemas.microsoft.com/office/infopath/2007/PartnerControls"/>
    </h6a4a4262ab844b18de92e197378cee0>
    <o54b1e4c7e8f4e00a12ce46439e0e974 xmlns="e96402cb-0a6e-49e7-8465-cfae72b5129c">
      <Terms xmlns="http://schemas.microsoft.com/office/infopath/2007/PartnerControls"/>
    </o54b1e4c7e8f4e00a12ce46439e0e974>
    <Category xmlns="34d7e926-6bad-4161-b251-cfc43f69ae87">Templates</Category>
    <TaxKeywordTaxHTField xmlns="fcde5e04-944e-4dfc-be86-0a9ace870ff9">
      <Terms xmlns="http://schemas.microsoft.com/office/infopath/2007/PartnerControls"/>
    </TaxKeywordTaxHTField>
    <IconOverlay xmlns="http://schemas.microsoft.com/sharepoint/v4"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DF3D347118B88A4EA8E9A5FEBC94FD86" ma:contentTypeVersion="8" ma:contentTypeDescription="Create a new document." ma:contentTypeScope="" ma:versionID="e54af44cc39137a71e496aa5089235ef">
  <xsd:schema xmlns:xsd="http://www.w3.org/2001/XMLSchema" xmlns:xs="http://www.w3.org/2001/XMLSchema" xmlns:p="http://schemas.microsoft.com/office/2006/metadata/properties" xmlns:ns2="fcde5e04-944e-4dfc-be86-0a9ace870ff9" xmlns:ns3="e96402cb-0a6e-49e7-8465-cfae72b5129c" xmlns:ns4="34d7e926-6bad-4161-b251-cfc43f69ae87" xmlns:ns5="http://schemas.microsoft.com/sharepoint/v4" targetNamespace="http://schemas.microsoft.com/office/2006/metadata/properties" ma:root="true" ma:fieldsID="4dfd49e6986a0fb6e4e84e6606b80ac7" ns2:_="" ns3:_="" ns4:_="" ns5:_="">
    <xsd:import namespace="fcde5e04-944e-4dfc-be86-0a9ace870ff9"/>
    <xsd:import namespace="e96402cb-0a6e-49e7-8465-cfae72b5129c"/>
    <xsd:import namespace="34d7e926-6bad-4161-b251-cfc43f69ae87"/>
    <xsd:import namespace="http://schemas.microsoft.com/sharepoint/v4"/>
    <xsd:element name="properties">
      <xsd:complexType>
        <xsd:sequence>
          <xsd:element name="documentManagement">
            <xsd:complexType>
              <xsd:all>
                <xsd:element ref="ns2:TaxKeywordTaxHTField" minOccurs="0"/>
                <xsd:element ref="ns3:o54b1e4c7e8f4e00a12ce46439e0e974" minOccurs="0"/>
                <xsd:element ref="ns3:h6a4a4262ab844b18de92e197378cee0" minOccurs="0"/>
                <xsd:element ref="ns4:Category" minOccurs="0"/>
                <xsd:element ref="ns5:IconOverla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cde5e04-944e-4dfc-be86-0a9ace870ff9" elementFormDefault="qualified">
    <xsd:import namespace="http://schemas.microsoft.com/office/2006/documentManagement/types"/>
    <xsd:import namespace="http://schemas.microsoft.com/office/infopath/2007/PartnerControls"/>
    <xsd:element name="TaxKeywordTaxHTField" ma:index="9" nillable="true" ma:taxonomy="true" ma:internalName="TaxKeywordTaxHTField" ma:taxonomyFieldName="TaxKeyword" ma:displayName="Enterprise Keywords" ma:fieldId="{23f27201-bee3-471e-b2e7-b64fd8b7ca38}" ma:taxonomyMulti="true" ma:sspId="096f6f6b-f55a-454e-8dbb-24a06af11355" ma:termSetId="00000000-0000-0000-0000-000000000000" ma:anchorId="00000000-0000-0000-0000-000000000000" ma:open="true" ma:isKeyword="tru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e96402cb-0a6e-49e7-8465-cfae72b5129c" elementFormDefault="qualified">
    <xsd:import namespace="http://schemas.microsoft.com/office/2006/documentManagement/types"/>
    <xsd:import namespace="http://schemas.microsoft.com/office/infopath/2007/PartnerControls"/>
    <xsd:element name="o54b1e4c7e8f4e00a12ce46439e0e974" ma:index="11" nillable="true" ma:taxonomy="true" ma:internalName="o54b1e4c7e8f4e00a12ce46439e0e974" ma:taxonomyFieldName="KnowledgeBaseMetadata" ma:displayName="Knowledge Base Tags" ma:fieldId="{854b1e4c-7e8f-4e00-a12c-e46439e0e974}" ma:taxonomyMulti="true" ma:sspId="096f6f6b-f55a-454e-8dbb-24a06af11355" ma:termSetId="0fa4fcc5-20ed-47ab-b5c6-c9c312be74d0" ma:anchorId="00000000-0000-0000-0000-000000000000" ma:open="false" ma:isKeyword="false">
      <xsd:complexType>
        <xsd:sequence>
          <xsd:element ref="pc:Terms" minOccurs="0" maxOccurs="1"/>
        </xsd:sequence>
      </xsd:complexType>
    </xsd:element>
    <xsd:element name="h6a4a4262ab844b18de92e197378cee0" ma:index="13" nillable="true" ma:taxonomy="true" ma:internalName="h6a4a4262ab844b18de92e197378cee0" ma:taxonomyFieldName="KBPoliciesAndProcedures" ma:displayName="Knowledge Base Policies and Procedures" ma:fieldId="{16a4a426-2ab8-44b1-8de9-2e197378cee0}" ma:taxonomyMulti="true" ma:sspId="096f6f6b-f55a-454e-8dbb-24a06af11355" ma:termSetId="bf388315-c5fb-4b9c-b70e-1e19d0e0d3b2"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34d7e926-6bad-4161-b251-cfc43f69ae87" elementFormDefault="qualified">
    <xsd:import namespace="http://schemas.microsoft.com/office/2006/documentManagement/types"/>
    <xsd:import namespace="http://schemas.microsoft.com/office/infopath/2007/PartnerControls"/>
    <xsd:element name="Category" ma:index="14" nillable="true" ma:displayName="Category" ma:format="Dropdown" ma:internalName="Category">
      <xsd:simpleType>
        <xsd:restriction base="dms:Choice">
          <xsd:enumeration value="Guidelines"/>
          <xsd:enumeration value="Templates"/>
          <xsd:enumeration value="AAG"/>
        </xsd:restriction>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15" nillable="true" ma:displayName="IconOverlay" ma:hidden="true" ma:internalName="IconOverlay">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E78B9CA-BC85-4AC4-82A4-AD53C20980F5}">
  <ds:schemaRefs>
    <ds:schemaRef ds:uri="http://schemas.microsoft.com/sharepoint/v3/contenttype/forms"/>
  </ds:schemaRefs>
</ds:datastoreItem>
</file>

<file path=customXml/itemProps2.xml><?xml version="1.0" encoding="utf-8"?>
<ds:datastoreItem xmlns:ds="http://schemas.openxmlformats.org/officeDocument/2006/customXml" ds:itemID="{7C493EF0-0BE4-4E84-A0BC-FF9879CDB9E8}">
  <ds:schemaRefs>
    <ds:schemaRef ds:uri="http://schemas.microsoft.com/office/2006/metadata/properties"/>
    <ds:schemaRef ds:uri="http://schemas.microsoft.com/office/infopath/2007/PartnerControls"/>
    <ds:schemaRef ds:uri="e96402cb-0a6e-49e7-8465-cfae72b5129c"/>
    <ds:schemaRef ds:uri="34d7e926-6bad-4161-b251-cfc43f69ae87"/>
    <ds:schemaRef ds:uri="fcde5e04-944e-4dfc-be86-0a9ace870ff9"/>
    <ds:schemaRef ds:uri="http://schemas.microsoft.com/sharepoint/v4"/>
  </ds:schemaRefs>
</ds:datastoreItem>
</file>

<file path=customXml/itemProps3.xml><?xml version="1.0" encoding="utf-8"?>
<ds:datastoreItem xmlns:ds="http://schemas.openxmlformats.org/officeDocument/2006/customXml" ds:itemID="{1BBAC596-346B-4E59-839B-DB15DC7AE2D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cde5e04-944e-4dfc-be86-0a9ace870ff9"/>
    <ds:schemaRef ds:uri="e96402cb-0a6e-49e7-8465-cfae72b5129c"/>
    <ds:schemaRef ds:uri="34d7e926-6bad-4161-b251-cfc43f69ae87"/>
    <ds:schemaRef ds:uri="http://schemas.microsoft.com/sharepoint/v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2407</TotalTime>
  <Words>1857</Words>
  <Application>Microsoft Macintosh PowerPoint</Application>
  <PresentationFormat>Widescreen</PresentationFormat>
  <Paragraphs>409</Paragraphs>
  <Slides>19</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19</vt:i4>
      </vt:variant>
    </vt:vector>
  </HeadingPairs>
  <TitlesOfParts>
    <vt:vector size="26" baseType="lpstr">
      <vt:lpstr>Arial</vt:lpstr>
      <vt:lpstr>Calibri</vt:lpstr>
      <vt:lpstr>Chronicle Text G1 Roman</vt:lpstr>
      <vt:lpstr>Georgia</vt:lpstr>
      <vt:lpstr>Rubrik-SemiBold</vt:lpstr>
      <vt:lpstr>Times New Roman</vt:lpstr>
      <vt:lpstr>RIS_LabArchives_Template</vt:lpstr>
      <vt:lpstr>CANTOS: Clinical trials Automated Nomenclature and Tumor Ontology Standardization PIPELINE</vt:lpstr>
      <vt:lpstr>Background  </vt:lpstr>
      <vt:lpstr>Background  </vt:lpstr>
      <vt:lpstr>Background  </vt:lpstr>
      <vt:lpstr>Background  </vt:lpstr>
      <vt:lpstr>Background  </vt:lpstr>
      <vt:lpstr>Tumor Name Standardization  </vt:lpstr>
      <vt:lpstr>CANTOS phase 1: Tumor identification</vt:lpstr>
      <vt:lpstr>CANTOS PHASE 2: Tumor Name Standardization  </vt:lpstr>
      <vt:lpstr>CANTOS Phase 2: Tumor Name Standardization</vt:lpstr>
      <vt:lpstr>CANTOS Phase 2: Tumor Name Standardization</vt:lpstr>
      <vt:lpstr>CANTOS Phase 2: Tumor Name Standardization</vt:lpstr>
      <vt:lpstr>CANTOS phase 2: Tumor Name Standardization</vt:lpstr>
      <vt:lpstr>CANTOS : standardization evaluation</vt:lpstr>
      <vt:lpstr>PowerPoint Presentation</vt:lpstr>
      <vt:lpstr>Summary</vt:lpstr>
      <vt:lpstr>END</vt:lpstr>
      <vt:lpstr>Tumor Name Standardization  </vt:lpstr>
      <vt:lpstr>Unstandardized tumor names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keywords/>
  <cp:lastModifiedBy>Lahiri, Aditya</cp:lastModifiedBy>
  <cp:revision>19</cp:revision>
  <dcterms:created xsi:type="dcterms:W3CDTF">2018-01-25T18:17:50Z</dcterms:created>
  <dcterms:modified xsi:type="dcterms:W3CDTF">2025-04-07T15:49:01Z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0x010100DF3D347118B88A4EA8E9A5FEBC94FD86</vt:lpwstr>
  </property>
  <property fmtid="{D5CDD505-2E9C-101B-9397-08002B2CF9AE}" pid="3" name="KBPoliciesAndProcedures">
    <vt:lpwstr/>
  </property>
  <property fmtid="{D5CDD505-2E9C-101B-9397-08002B2CF9AE}" pid="4" name="TaxKeyword">
    <vt:lpwstr/>
  </property>
  <property fmtid="{D5CDD505-2E9C-101B-9397-08002B2CF9AE}" pid="5" name="KnowledgeBaseMetadata">
    <vt:lpwstr/>
  </property>
  <property fmtid="{D5CDD505-2E9C-101B-9397-08002B2CF9AE}" pid="6" name="TaxCatchAll">
    <vt:lpwstr/>
  </property>
</Properties>
</file>
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2"/>
  </p:notesMasterIdLst>
  <p:sldIdLst>
    <p:sldId id="256" r:id="rId5"/>
    <p:sldId id="257" r:id="rId6"/>
    <p:sldId id="259" r:id="rId7"/>
    <p:sldId id="258" r:id="rId8"/>
    <p:sldId id="260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1960"/>
    <a:srgbClr val="584B3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137" autoAdjust="0"/>
    <p:restoredTop sz="94660"/>
  </p:normalViewPr>
  <p:slideViewPr>
    <p:cSldViewPr snapToGrid="0">
      <p:cViewPr>
        <p:scale>
          <a:sx n="138" d="100"/>
          <a:sy n="138" d="100"/>
        </p:scale>
        <p:origin x="280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74326-AD78-4E67-8599-BA8A5604D89A}" type="datetimeFigureOut">
              <a:rPr lang="en-US" smtClean="0"/>
              <a:t>1/23/25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8EB8B-B78C-4FCA-B737-0D9226F57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37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38199" y="592924"/>
            <a:ext cx="5577591" cy="1207008"/>
          </a:xfrm>
        </p:spPr>
        <p:txBody>
          <a:bodyPr anchor="ctr"/>
          <a:lstStyle>
            <a:lvl1pPr algn="l">
              <a:defRPr sz="3600" b="1" cap="all" baseline="0">
                <a:solidFill>
                  <a:srgbClr val="3E9CC9"/>
                </a:solidFill>
                <a:latin typeface="+mj-lt"/>
              </a:defRPr>
            </a:lvl1pPr>
          </a:lstStyle>
          <a:p>
            <a:r>
              <a:rPr lang="en-US" cap="all" baseline="0" dirty="0"/>
              <a:t>Click to add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38199" y="1994858"/>
            <a:ext cx="5577589" cy="497951"/>
          </a:xfrm>
        </p:spPr>
        <p:txBody>
          <a:bodyPr>
            <a:normAutofit/>
          </a:bodyPr>
          <a:lstStyle>
            <a:lvl1pPr marL="0" indent="0" algn="l">
              <a:buNone/>
              <a:defRPr sz="2800" b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09685" y="6356352"/>
            <a:ext cx="5637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40181A-01B0-4CB8-8614-1473649F674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764852"/>
            <a:ext cx="5577417" cy="502920"/>
          </a:xfrm>
        </p:spPr>
        <p:txBody>
          <a:bodyPr>
            <a:normAutofit/>
          </a:bodyPr>
          <a:lstStyle>
            <a:lvl1pPr marL="0" indent="0">
              <a:buNone/>
              <a:defRPr sz="2400" b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2282824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2052" y="320156"/>
            <a:ext cx="11010595" cy="11430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22052" y="1736231"/>
            <a:ext cx="11010595" cy="3895344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25727" y="6356352"/>
            <a:ext cx="547727" cy="365125"/>
          </a:xfrm>
        </p:spPr>
        <p:txBody>
          <a:bodyPr/>
          <a:lstStyle>
            <a:lvl1pPr>
              <a:defRPr>
                <a:solidFill>
                  <a:srgbClr val="FFFFFE"/>
                </a:solidFill>
              </a:defRPr>
            </a:lvl1pPr>
          </a:lstStyle>
          <a:p>
            <a:fld id="{AD40181A-01B0-4CB8-8614-1473649F67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70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25727" y="6356352"/>
            <a:ext cx="548647" cy="365125"/>
          </a:xfrm>
        </p:spPr>
        <p:txBody>
          <a:bodyPr/>
          <a:lstStyle>
            <a:lvl1pPr>
              <a:defRPr>
                <a:solidFill>
                  <a:srgbClr val="FFFFFE"/>
                </a:solidFill>
              </a:defRPr>
            </a:lvl1pPr>
          </a:lstStyle>
          <a:p>
            <a:fld id="{AD40181A-01B0-4CB8-8614-1473649F674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45733" y="1543930"/>
            <a:ext cx="9753600" cy="1444752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1099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3E9CC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3E9CC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AD40181A-01B0-4CB8-8614-1473649F67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9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 cap="all" baseline="0">
          <a:solidFill>
            <a:srgbClr val="3E9CC9"/>
          </a:solidFill>
          <a:latin typeface="Rubrik-SemiBold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rgbClr val="584B3D"/>
          </a:solidFill>
          <a:latin typeface="Chronicle Text G1 Roman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rgbClr val="584B3D"/>
          </a:solidFill>
          <a:latin typeface="Chronicle Text G1 Roman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rgbClr val="584B3D"/>
          </a:solidFill>
          <a:latin typeface="Chronicle Text G1 Roman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rgbClr val="584B3D"/>
          </a:solidFill>
          <a:latin typeface="Chronicle Text G1 Roman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rgbClr val="584B3D"/>
          </a:solidFill>
          <a:latin typeface="Chronicle Text G1 Roman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7168896" cy="1849990"/>
          </a:xfrm>
        </p:spPr>
        <p:txBody>
          <a:bodyPr/>
          <a:lstStyle/>
          <a:p>
            <a:r>
              <a:rPr lang="en-US" sz="2400" dirty="0"/>
              <a:t>CANTOS: Automated Tumor Name Standardization in the NIH Clinical Trials Registry Using the CANTOS Pipeline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43255" y="1965318"/>
            <a:ext cx="6723889" cy="1016027"/>
          </a:xfrm>
        </p:spPr>
        <p:txBody>
          <a:bodyPr>
            <a:norm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Aditya Lahiri, Sangeeta Shukla, Ben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Stear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Taha Mohseni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Ahooyi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Katherine Beigel, Elizabeth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Margolskee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Deanne Taylor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181A-01B0-4CB8-8614-1473649F6741}" type="slidenum">
              <a:rPr lang="en-US" smtClean="0"/>
              <a:t>1</a:t>
            </a:fld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247758" y="178065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876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651402" cy="1143000"/>
          </a:xfrm>
        </p:spPr>
        <p:txBody>
          <a:bodyPr/>
          <a:lstStyle/>
          <a:p>
            <a:r>
              <a:rPr lang="en-US" dirty="0"/>
              <a:t>Background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10651402" cy="3895344"/>
          </a:xfrm>
        </p:spPr>
        <p:txBody>
          <a:bodyPr/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NIH’s Clinical Trials Registry  (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ClinicalTrials.gov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CTR) serves as an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important public repository to study drug-disease relationships.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CTR which contains data from over 482,529 research studies across all 50 states in the US and 223 countries.</a:t>
            </a:r>
          </a:p>
          <a:p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Drug and disease data are stored as separate text files in the CTR as interventions and conditions files.  They can be linked using the NCT-ID (National Clinical Trial Identifier) , which serves as the foreign key for the database. </a:t>
            </a:r>
          </a:p>
          <a:p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Challenge: disease names in CTR  contain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extraneous information, typographical errors, missing values, non-standard nomenclature and other inconsistencies which create barriers for data integration and downstream analysis of the CTR data.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181A-01B0-4CB8-8614-1473649F6741}" type="slidenum">
              <a:rPr lang="en-US" smtClean="0">
                <a:solidFill>
                  <a:schemeClr val="bg1"/>
                </a:solidFill>
              </a:r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28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1996C-AEFF-C3A9-751E-CB258B528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313D-6D6A-BE2B-263D-27E5BA15A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651402" cy="1143000"/>
          </a:xfrm>
        </p:spPr>
        <p:txBody>
          <a:bodyPr/>
          <a:lstStyle/>
          <a:p>
            <a:r>
              <a:rPr lang="en-US" dirty="0"/>
              <a:t>Tumor Name Standardization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82753-632D-7BBE-C9E9-F9AE285F5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014" y="1143000"/>
            <a:ext cx="10651402" cy="3895344"/>
          </a:xfrm>
        </p:spPr>
        <p:txBody>
          <a:bodyPr/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We aimed to standardize tumor names contained in CTR.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Tumor names represent a significant proportion of condition names in CTR.</a:t>
            </a:r>
          </a:p>
          <a:p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Unlike other condition names, for tumor names , we have the WHO tumor classification system which is accepted as the gold standard for tumor nomenclature among clinicians.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Also, other databases such as the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NCIt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(National Cancer Institute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Thesaurus) have standardized tumor nomenclature. </a:t>
            </a:r>
          </a:p>
          <a:p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A standardized system for tumor nomenclature provides us with a reference for mapping unstandardized tumor names from CTR and a basis for evaluating any method that performs this mapping.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To this end, we developed the CANTOS pipeline to extract tumor names from CTR and standardize them with respect to the WHO tumor classification system and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NCIt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database. </a:t>
            </a:r>
          </a:p>
          <a:p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865C2-BF25-6030-3F39-CD518B0D0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181A-01B0-4CB8-8614-1473649F6741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369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181A-01B0-4CB8-8614-1473649F6741}" type="slidenum">
              <a:rPr lang="en-US" smtClean="0">
                <a:solidFill>
                  <a:srgbClr val="FFFFFE"/>
                </a:solidFill>
              </a:rPr>
              <a:t>4</a:t>
            </a:fld>
            <a:endParaRPr lang="en-US" dirty="0">
              <a:solidFill>
                <a:srgbClr val="FFFFFE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10861590" cy="1235676"/>
          </a:xfrm>
        </p:spPr>
        <p:txBody>
          <a:bodyPr/>
          <a:lstStyle/>
          <a:p>
            <a:r>
              <a:rPr lang="en-US" dirty="0"/>
              <a:t>Unstandardized Tumor Names in CTR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6CE6B6-161F-E902-DA1A-52F9FD1D3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392996"/>
              </p:ext>
            </p:extLst>
          </p:nvPr>
        </p:nvGraphicFramePr>
        <p:xfrm>
          <a:off x="1161790" y="1601422"/>
          <a:ext cx="8994814" cy="3655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7617">
                  <a:extLst>
                    <a:ext uri="{9D8B030D-6E8A-4147-A177-3AD203B41FA5}">
                      <a16:colId xmlns:a16="http://schemas.microsoft.com/office/drawing/2014/main" val="1106209466"/>
                    </a:ext>
                  </a:extLst>
                </a:gridCol>
                <a:gridCol w="3019280">
                  <a:extLst>
                    <a:ext uri="{9D8B030D-6E8A-4147-A177-3AD203B41FA5}">
                      <a16:colId xmlns:a16="http://schemas.microsoft.com/office/drawing/2014/main" val="1462595529"/>
                    </a:ext>
                  </a:extLst>
                </a:gridCol>
                <a:gridCol w="2887917">
                  <a:extLst>
                    <a:ext uri="{9D8B030D-6E8A-4147-A177-3AD203B41FA5}">
                      <a16:colId xmlns:a16="http://schemas.microsoft.com/office/drawing/2014/main" val="242162575"/>
                    </a:ext>
                  </a:extLst>
                </a:gridCol>
              </a:tblGrid>
              <a:tr h="472978">
                <a:tc>
                  <a:txBody>
                    <a:bodyPr/>
                    <a:lstStyle/>
                    <a:p>
                      <a:r>
                        <a:rPr lang="en-US" dirty="0"/>
                        <a:t>CT Tumor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WHO Standard Names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357925"/>
                  </a:ext>
                </a:extLst>
              </a:tr>
              <a:tr h="457554">
                <a:tc>
                  <a:txBody>
                    <a:bodyPr/>
                    <a:lstStyle/>
                    <a:p>
                      <a:r>
                        <a:rPr lang="en-US" sz="1400" dirty="0"/>
                        <a:t>acute myeloid </a:t>
                      </a:r>
                      <a:r>
                        <a:rPr lang="en-US" sz="1400" dirty="0" err="1"/>
                        <a:t>leucaemia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Leukaemia</a:t>
                      </a:r>
                      <a:r>
                        <a:rPr lang="en-US" sz="1400" dirty="0"/>
                        <a:t> not spelled correctly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acute myeloid </a:t>
                      </a:r>
                      <a:r>
                        <a:rPr lang="en-US" sz="1400" dirty="0" err="1">
                          <a:effectLst/>
                        </a:rPr>
                        <a:t>leukaemia</a:t>
                      </a:r>
                      <a:endParaRPr lang="en-US" sz="1400" dirty="0">
                        <a:effectLst/>
                      </a:endParaRPr>
                    </a:p>
                  </a:txBody>
                  <a:tcPr marL="47625" marR="47625" marT="38100" marB="38100" anchor="ctr"/>
                </a:tc>
                <a:extLst>
                  <a:ext uri="{0D108BD9-81ED-4DB2-BD59-A6C34878D82A}">
                    <a16:rowId xmlns:a16="http://schemas.microsoft.com/office/drawing/2014/main" val="65510083"/>
                  </a:ext>
                </a:extLst>
              </a:tr>
              <a:tr h="708487">
                <a:tc>
                  <a:txBody>
                    <a:bodyPr/>
                    <a:lstStyle/>
                    <a:p>
                      <a:r>
                        <a:rPr lang="en-US" sz="1400" dirty="0"/>
                        <a:t>glioblastoma or solid tumors, epidermal growth factor receptor (</a:t>
                      </a:r>
                      <a:r>
                        <a:rPr lang="en-US" sz="1400" dirty="0" err="1"/>
                        <a:t>egfr</a:t>
                      </a:r>
                      <a:r>
                        <a:rPr lang="en-US" sz="1400" dirty="0"/>
                        <a:t>) diagnosis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Has two types of tumor: glioblastoma and solid tumors, extra information on  EGFR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glioblastoma, </a:t>
                      </a:r>
                      <a:r>
                        <a:rPr lang="en-US" sz="1400" dirty="0" err="1"/>
                        <a:t>idh</a:t>
                      </a:r>
                      <a:r>
                        <a:rPr lang="en-US" sz="1400" dirty="0"/>
                        <a:t>-wildtype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037533"/>
                  </a:ext>
                </a:extLst>
              </a:tr>
              <a:tr h="500866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pathologic stage </a:t>
                      </a:r>
                      <a:r>
                        <a:rPr lang="en-US" sz="1400" dirty="0" err="1">
                          <a:effectLst/>
                        </a:rPr>
                        <a:t>i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merkel</a:t>
                      </a:r>
                      <a:r>
                        <a:rPr lang="en-US" sz="1400" dirty="0">
                          <a:effectLst/>
                        </a:rPr>
                        <a:t> cell carcinoma </a:t>
                      </a:r>
                      <a:r>
                        <a:rPr lang="en-US" sz="1400" dirty="0" err="1">
                          <a:effectLst/>
                        </a:rPr>
                        <a:t>ajcc</a:t>
                      </a:r>
                      <a:r>
                        <a:rPr lang="en-US" sz="1400" dirty="0">
                          <a:effectLst/>
                        </a:rPr>
                        <a:t> v8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extra information on staging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merkel</a:t>
                      </a:r>
                      <a:r>
                        <a:rPr lang="en-US" sz="1400" dirty="0">
                          <a:effectLst/>
                        </a:rPr>
                        <a:t> cell carcinoma</a:t>
                      </a:r>
                    </a:p>
                  </a:txBody>
                  <a:tcPr marL="47625" marR="47625" marT="38100" marB="38100" anchor="ctr"/>
                </a:tc>
                <a:extLst>
                  <a:ext uri="{0D108BD9-81ED-4DB2-BD59-A6C34878D82A}">
                    <a16:rowId xmlns:a16="http://schemas.microsoft.com/office/drawing/2014/main" val="3070337974"/>
                  </a:ext>
                </a:extLst>
              </a:tr>
              <a:tr h="545304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adrenocortical carcinoma (part g)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 Extra information in bracket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 adrenal cortical carcinoma</a:t>
                      </a:r>
                    </a:p>
                  </a:txBody>
                  <a:tcPr marL="47625" marR="47625" marT="38100" marB="38100" anchor="ctr"/>
                </a:tc>
                <a:extLst>
                  <a:ext uri="{0D108BD9-81ED-4DB2-BD59-A6C34878D82A}">
                    <a16:rowId xmlns:a16="http://schemas.microsoft.com/office/drawing/2014/main" val="2004295928"/>
                  </a:ext>
                </a:extLst>
              </a:tr>
              <a:tr h="708487">
                <a:tc>
                  <a:txBody>
                    <a:bodyPr/>
                    <a:lstStyle/>
                    <a:p>
                      <a:r>
                        <a:rPr lang="en-US" sz="1400" dirty="0" err="1"/>
                        <a:t>ann</a:t>
                      </a:r>
                      <a:r>
                        <a:rPr lang="en-US" sz="1400" dirty="0"/>
                        <a:t> arbor stage iii diffuse large b-cell lymphoma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 extra information on staging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diffuse large b-cell lymphoma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223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1473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9136D-27A9-13DE-0201-446C4EBBC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9367-B574-7FC6-2793-90A3CBC8F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651402" cy="1143000"/>
          </a:xfrm>
        </p:spPr>
        <p:txBody>
          <a:bodyPr/>
          <a:lstStyle/>
          <a:p>
            <a:r>
              <a:rPr lang="en-US" dirty="0"/>
              <a:t>CANTOS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8423C-8259-A4DF-62A2-6BBEA53F0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57" y="1024127"/>
            <a:ext cx="12063643" cy="4982225"/>
          </a:xfrm>
        </p:spPr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Step 1: Identify tumor names from  “conditions” file in the CTR. 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Fuzzy text matching with WHO tumor classification system.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Detect the presence of tumor key words such as neoplasm, cancer, carcinoma, blastoma, etc.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Flag condition names as potential tumors and manually validate the terms.</a:t>
            </a:r>
          </a:p>
          <a:p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Step 2:  Apply standardization methods to map tumor names to CTR. 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Methods based on text matching (edit distances) and text embedding from LLMs.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Approach 1: find the nearest terms using text matching (edit distances) or text embeddings (Euclidean distance).</a:t>
            </a:r>
            <a:endParaRPr lang="en-US" sz="1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Approach 2: text matching + clustering or text-embedding + clustering. </a:t>
            </a:r>
          </a:p>
          <a:p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Step 3: Evaluate performance: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Randomly choose 1600 tumor names from CTR and manually identify their corresponding tumor names (ground truth) from WHO tumor classification system (Latest 5</a:t>
            </a:r>
            <a:r>
              <a:rPr lang="en-US" sz="1400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th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 edition and all editions 3</a:t>
            </a:r>
            <a:r>
              <a:rPr lang="en-US" sz="1400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rd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-5</a:t>
            </a:r>
            <a:r>
              <a:rPr lang="en-US" sz="1400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th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 ).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1033 tumors names from CTR had a corresponding term in WHO 5</a:t>
            </a:r>
            <a:r>
              <a:rPr lang="en-US" sz="1400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th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 edition and 1113 tumor names from CTR had a corresponding term in WHO 3</a:t>
            </a:r>
            <a:r>
              <a:rPr lang="en-US" sz="1400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rd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 – 5</a:t>
            </a:r>
            <a:r>
              <a:rPr lang="en-US" sz="1400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th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 editions.  </a:t>
            </a:r>
          </a:p>
          <a:p>
            <a:pPr lvl="1"/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277C9-BDCE-9686-4EEF-7110DA5F3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181A-01B0-4CB8-8614-1473649F6741}" type="slidenum">
              <a:rPr lang="en-US" smtClean="0">
                <a:solidFill>
                  <a:schemeClr val="bg1"/>
                </a:solidFill>
              </a:r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75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2F344-4B78-4151-987A-4097CFDA8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537E7-49A1-2C9D-0456-441ED2E7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181A-01B0-4CB8-8614-1473649F6741}" type="slidenum">
              <a:rPr lang="en-US" smtClean="0">
                <a:solidFill>
                  <a:schemeClr val="bg1"/>
                </a:solidFill>
              </a:r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8539530-22E6-7864-6B0A-A53CE8C41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58" y="33553"/>
            <a:ext cx="10070720" cy="529155"/>
          </a:xfrm>
        </p:spPr>
        <p:txBody>
          <a:bodyPr/>
          <a:lstStyle/>
          <a:p>
            <a:r>
              <a:rPr lang="en-US" dirty="0"/>
              <a:t>Overview of Embedding Models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28EA373-E001-1EFE-4263-EF5EDC1B0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799529"/>
              </p:ext>
            </p:extLst>
          </p:nvPr>
        </p:nvGraphicFramePr>
        <p:xfrm>
          <a:off x="1158240" y="707087"/>
          <a:ext cx="9622055" cy="5190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461">
                  <a:extLst>
                    <a:ext uri="{9D8B030D-6E8A-4147-A177-3AD203B41FA5}">
                      <a16:colId xmlns:a16="http://schemas.microsoft.com/office/drawing/2014/main" val="1182991911"/>
                    </a:ext>
                  </a:extLst>
                </a:gridCol>
                <a:gridCol w="3657404">
                  <a:extLst>
                    <a:ext uri="{9D8B030D-6E8A-4147-A177-3AD203B41FA5}">
                      <a16:colId xmlns:a16="http://schemas.microsoft.com/office/drawing/2014/main" val="3705144926"/>
                    </a:ext>
                  </a:extLst>
                </a:gridCol>
                <a:gridCol w="1032006">
                  <a:extLst>
                    <a:ext uri="{9D8B030D-6E8A-4147-A177-3AD203B41FA5}">
                      <a16:colId xmlns:a16="http://schemas.microsoft.com/office/drawing/2014/main" val="1271197278"/>
                    </a:ext>
                  </a:extLst>
                </a:gridCol>
                <a:gridCol w="1636483">
                  <a:extLst>
                    <a:ext uri="{9D8B030D-6E8A-4147-A177-3AD203B41FA5}">
                      <a16:colId xmlns:a16="http://schemas.microsoft.com/office/drawing/2014/main" val="3725991289"/>
                    </a:ext>
                  </a:extLst>
                </a:gridCol>
                <a:gridCol w="2853701">
                  <a:extLst>
                    <a:ext uri="{9D8B030D-6E8A-4147-A177-3AD203B41FA5}">
                      <a16:colId xmlns:a16="http://schemas.microsoft.com/office/drawing/2014/main" val="955618257"/>
                    </a:ext>
                  </a:extLst>
                </a:gridCol>
              </a:tblGrid>
              <a:tr h="380624">
                <a:tc>
                  <a:txBody>
                    <a:bodyPr/>
                    <a:lstStyle/>
                    <a:p>
                      <a:r>
                        <a:rPr lang="en-US" sz="1000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Embedding 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Model Parameters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64564"/>
                  </a:ext>
                </a:extLst>
              </a:tr>
              <a:tr h="28220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text-embedding-3-large (LTE-3)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Proprietary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3072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~175 Billion parameter, based on GPT-3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40861"/>
                  </a:ext>
                </a:extLst>
              </a:tr>
              <a:tr h="26838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text-embedding-ada-002 (ADA-002)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Proprietary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1536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Undisclosed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80147"/>
                  </a:ext>
                </a:extLst>
              </a:tr>
              <a:tr h="28220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MedLlama 13B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5120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 Billion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53519"/>
                  </a:ext>
                </a:extLst>
              </a:tr>
              <a:tr h="28220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MedLlama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7B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4096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 Billion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897030"/>
                  </a:ext>
                </a:extLst>
              </a:tr>
              <a:tr h="28220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Llama 3.3 70B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 Source</a:t>
                      </a:r>
                      <a:endParaRPr lang="en-US" sz="10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 Billion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729410"/>
                  </a:ext>
                </a:extLst>
              </a:tr>
              <a:tr h="28220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Llama 3.2 3B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Billion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624259"/>
                  </a:ext>
                </a:extLst>
              </a:tr>
              <a:tr h="28220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Llama 3 8B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 Source</a:t>
                      </a:r>
                      <a:endParaRPr lang="en-US" sz="10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 Billion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476185"/>
                  </a:ext>
                </a:extLst>
              </a:tr>
              <a:tr h="282207"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</a:rPr>
                        <a:t>8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 err="1">
                          <a:effectLst/>
                        </a:rPr>
                        <a:t>PubMedBert</a:t>
                      </a:r>
                      <a:r>
                        <a:rPr lang="en-US" sz="1000" dirty="0">
                          <a:effectLst/>
                        </a:rPr>
                        <a:t>-Abstract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Open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 Million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76728"/>
                  </a:ext>
                </a:extLst>
              </a:tr>
              <a:tr h="282207"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</a:rPr>
                        <a:t>9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>
                          <a:effectLst/>
                        </a:rPr>
                        <a:t>BioBERT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Open Source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11960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</a:rPr>
                        <a:t> 768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110 Million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24371"/>
                  </a:ext>
                </a:extLst>
              </a:tr>
              <a:tr h="282207"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</a:rPr>
                        <a:t>10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 err="1">
                          <a:effectLst/>
                        </a:rPr>
                        <a:t>ModernBERT</a:t>
                      </a:r>
                      <a:r>
                        <a:rPr lang="en-US" sz="1000" dirty="0">
                          <a:effectLst/>
                        </a:rPr>
                        <a:t>-Large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Open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395 Million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128434"/>
                  </a:ext>
                </a:extLst>
              </a:tr>
              <a:tr h="282207"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</a:rPr>
                        <a:t>11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>
                          <a:effectLst/>
                        </a:rPr>
                        <a:t>Phi-4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Open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14 Billion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949519"/>
                  </a:ext>
                </a:extLst>
              </a:tr>
              <a:tr h="282207"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</a:rPr>
                        <a:t>12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>
                          <a:effectLst/>
                        </a:rPr>
                        <a:t>E5-Large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Open Source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11960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335 Million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374939"/>
                  </a:ext>
                </a:extLst>
              </a:tr>
              <a:tr h="282207"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</a:rPr>
                        <a:t>13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>
                          <a:effectLst/>
                        </a:rPr>
                        <a:t>GTR-T5-Large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Open Source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11960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335 Million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45714"/>
                  </a:ext>
                </a:extLst>
              </a:tr>
              <a:tr h="282207"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</a:rPr>
                        <a:t>14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</a:rPr>
                        <a:t>all-MiniLM-L12-v2 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Open Source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11960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33.4 Million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62609"/>
                  </a:ext>
                </a:extLst>
              </a:tr>
              <a:tr h="282207"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</a:rPr>
                        <a:t>15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</a:rPr>
                        <a:t>all-MiniLM-L6-v2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Open Source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11960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22.7 Million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399728"/>
                  </a:ext>
                </a:extLst>
              </a:tr>
              <a:tr h="282207"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</a:rPr>
                        <a:t>16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</a:rPr>
                        <a:t>all-mpnet-base-v2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Open Source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11960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109 Million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265235"/>
                  </a:ext>
                </a:extLst>
              </a:tr>
              <a:tr h="282207"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</a:rPr>
                        <a:t>17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</a:rPr>
                        <a:t>all-roberta-large-v1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Open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355 Million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157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422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A0311-2B32-7C2F-82ED-B4141C555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181A-01B0-4CB8-8614-1473649F6741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1A3DB6-9BD4-DC54-703D-0758077A3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546242"/>
              </p:ext>
            </p:extLst>
          </p:nvPr>
        </p:nvGraphicFramePr>
        <p:xfrm>
          <a:off x="139523" y="323715"/>
          <a:ext cx="5956477" cy="6384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935">
                  <a:extLst>
                    <a:ext uri="{9D8B030D-6E8A-4147-A177-3AD203B41FA5}">
                      <a16:colId xmlns:a16="http://schemas.microsoft.com/office/drawing/2014/main" val="3177516889"/>
                    </a:ext>
                  </a:extLst>
                </a:gridCol>
                <a:gridCol w="1639072">
                  <a:extLst>
                    <a:ext uri="{9D8B030D-6E8A-4147-A177-3AD203B41FA5}">
                      <a16:colId xmlns:a16="http://schemas.microsoft.com/office/drawing/2014/main" val="523317735"/>
                    </a:ext>
                  </a:extLst>
                </a:gridCol>
                <a:gridCol w="3112470">
                  <a:extLst>
                    <a:ext uri="{9D8B030D-6E8A-4147-A177-3AD203B41FA5}">
                      <a16:colId xmlns:a16="http://schemas.microsoft.com/office/drawing/2014/main" val="2056308797"/>
                    </a:ext>
                  </a:extLst>
                </a:gridCol>
              </a:tblGrid>
              <a:tr h="339557">
                <a:tc>
                  <a:txBody>
                    <a:bodyPr/>
                    <a:lstStyle/>
                    <a:p>
                      <a:r>
                        <a:rPr lang="en-US" sz="800" dirty="0"/>
                        <a:t>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Methods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Standardization Accuracy 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WHO all Edition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8664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LTE-3 + Euclidean </a:t>
                      </a:r>
                      <a:r>
                        <a:rPr lang="en-US" sz="800" b="0" dirty="0" err="1">
                          <a:effectLst/>
                          <a:latin typeface="Aptos Narrow" panose="020B0004020202020204" pitchFamily="34" charset="0"/>
                        </a:rPr>
                        <a:t>Dist</a:t>
                      </a:r>
                      <a:endParaRPr lang="en-US" sz="800" b="0" dirty="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0.69272237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643621850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LTE-3 + AP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0.67744834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2923122740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ADA002 + Euclidean </a:t>
                      </a:r>
                      <a:r>
                        <a:rPr lang="en-US" sz="800" b="0" dirty="0" err="1">
                          <a:effectLst/>
                          <a:latin typeface="Aptos Narrow" panose="020B0004020202020204" pitchFamily="34" charset="0"/>
                        </a:rPr>
                        <a:t>Dist</a:t>
                      </a:r>
                      <a:endParaRPr lang="en-US" sz="800" b="0" dirty="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0.67026056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662268947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11960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800" b="0" dirty="0" err="1">
                          <a:effectLst/>
                          <a:latin typeface="Aptos Narrow" panose="020B0004020202020204" pitchFamily="34" charset="0"/>
                        </a:rPr>
                        <a:t>mpnet_base</a:t>
                      </a:r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 + Euclidean </a:t>
                      </a:r>
                      <a:r>
                        <a:rPr lang="en-US" sz="800" b="0" dirty="0" err="1">
                          <a:effectLst/>
                          <a:latin typeface="Aptos Narrow" panose="020B0004020202020204" pitchFamily="34" charset="0"/>
                        </a:rPr>
                        <a:t>Dist</a:t>
                      </a:r>
                      <a:endParaRPr lang="en-US" sz="800" b="0" dirty="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0.67026056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011435067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11960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MiniLM_L12_v2 + Euclidean </a:t>
                      </a:r>
                      <a:r>
                        <a:rPr lang="en-US" sz="800" b="0" dirty="0" err="1">
                          <a:effectLst/>
                          <a:latin typeface="Aptos Narrow" panose="020B0004020202020204" pitchFamily="34" charset="0"/>
                        </a:rPr>
                        <a:t>Dist</a:t>
                      </a:r>
                      <a:endParaRPr lang="en-US" sz="800" b="0" dirty="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0.655885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2001886976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11960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ADA002 + AP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0.65498652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212604679"/>
                  </a:ext>
                </a:extLst>
              </a:tr>
              <a:tr h="2626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11960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MiniLM_L6_v2 + Euclidean </a:t>
                      </a:r>
                      <a:r>
                        <a:rPr lang="en-US" sz="800" b="0" dirty="0" err="1">
                          <a:effectLst/>
                          <a:latin typeface="Aptos Narrow" panose="020B0004020202020204" pitchFamily="34" charset="0"/>
                        </a:rPr>
                        <a:t>Dist</a:t>
                      </a:r>
                      <a:endParaRPr lang="en-US" sz="800" b="0" dirty="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0.65408805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2775858198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11960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LTE-3 + </a:t>
                      </a:r>
                      <a:r>
                        <a:rPr lang="en-US" sz="800" b="0" dirty="0" err="1">
                          <a:effectLst/>
                          <a:latin typeface="Aptos Narrow" panose="020B0004020202020204" pitchFamily="34" charset="0"/>
                        </a:rPr>
                        <a:t>KMeans</a:t>
                      </a:r>
                      <a:endParaRPr lang="en-US" sz="800" b="0" dirty="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0.65139263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71338281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ADA002 + </a:t>
                      </a:r>
                      <a:r>
                        <a:rPr lang="en-US" sz="800" b="0" dirty="0" err="1">
                          <a:effectLst/>
                          <a:latin typeface="Aptos Narrow" panose="020B0004020202020204" pitchFamily="34" charset="0"/>
                        </a:rPr>
                        <a:t>KMeans</a:t>
                      </a:r>
                      <a:endParaRPr lang="en-US" sz="800" b="0" dirty="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0.64240791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3521891832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Roberta + Euclidean </a:t>
                      </a:r>
                      <a:r>
                        <a:rPr lang="en-US" sz="800" b="0" dirty="0" err="1">
                          <a:effectLst/>
                          <a:latin typeface="Aptos Narrow" panose="020B0004020202020204" pitchFamily="34" charset="0"/>
                        </a:rPr>
                        <a:t>Dist</a:t>
                      </a:r>
                      <a:endParaRPr lang="en-US" sz="800" b="0" dirty="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0.58849955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741085275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solidFill>
                            <a:schemeClr val="accent3"/>
                          </a:solidFill>
                        </a:rPr>
                        <a:t>Text-Matching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 err="1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</a:rPr>
                        <a:t>Levenshtein</a:t>
                      </a:r>
                      <a:endParaRPr lang="en-US" sz="800" b="0" dirty="0">
                        <a:solidFill>
                          <a:schemeClr val="accent3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</a:rPr>
                        <a:t>0.32704403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92314115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 err="1">
                          <a:effectLst/>
                          <a:latin typeface="Aptos Narrow" panose="020B0004020202020204" pitchFamily="34" charset="0"/>
                        </a:rPr>
                        <a:t>Medllama</a:t>
                      </a:r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 + Euclidean </a:t>
                      </a:r>
                      <a:r>
                        <a:rPr lang="en-US" sz="800" b="0" dirty="0" err="1">
                          <a:effectLst/>
                          <a:latin typeface="Aptos Narrow" panose="020B0004020202020204" pitchFamily="34" charset="0"/>
                        </a:rPr>
                        <a:t>Dist</a:t>
                      </a:r>
                      <a:endParaRPr lang="en-US" sz="800" b="0" dirty="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0.2982929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2950213849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accent3"/>
                          </a:solidFill>
                        </a:rPr>
                        <a:t>Text-Matching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 err="1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</a:rPr>
                        <a:t>Levenshtein</a:t>
                      </a:r>
                      <a:r>
                        <a:rPr lang="en-US" sz="800" b="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</a:rPr>
                        <a:t> + AP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</a:rPr>
                        <a:t>0.29469901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2147432743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LLama_33_70B + Euclidean </a:t>
                      </a:r>
                      <a:r>
                        <a:rPr lang="en-US" sz="800" b="0" dirty="0" err="1">
                          <a:effectLst/>
                          <a:latin typeface="Aptos Narrow" panose="020B0004020202020204" pitchFamily="34" charset="0"/>
                        </a:rPr>
                        <a:t>Dist</a:t>
                      </a:r>
                      <a:endParaRPr lang="en-US" sz="800" b="0" dirty="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0.27044025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506931024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accent3"/>
                          </a:solidFill>
                        </a:rPr>
                        <a:t>Text-Matching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</a:rPr>
                        <a:t>Jarro Winkler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</a:rPr>
                        <a:t>0.25606469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357548240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accent3"/>
                          </a:solidFill>
                        </a:rPr>
                        <a:t>Text-Matching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</a:rPr>
                        <a:t>Jarro Winkler + AP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</a:rPr>
                        <a:t>0.24528302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253369807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accent3"/>
                          </a:solidFill>
                        </a:rPr>
                        <a:t>Text-Matching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</a:rPr>
                        <a:t>Cosine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</a:rPr>
                        <a:t>0.23989218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020401724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accent3"/>
                          </a:solidFill>
                        </a:rPr>
                        <a:t>Text-Matching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</a:rPr>
                        <a:t>Cosine + AP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</a:rPr>
                        <a:t>0.22821204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3547181464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>
                          <a:effectLst/>
                          <a:latin typeface="Aptos Narrow" panose="020B0004020202020204" pitchFamily="34" charset="0"/>
                        </a:rPr>
                        <a:t>PubMedBert + Euclidean Dist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0.22461815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2387377679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11960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>
                          <a:effectLst/>
                          <a:latin typeface="Aptos Narrow" panose="020B0004020202020204" pitchFamily="34" charset="0"/>
                        </a:rPr>
                        <a:t>Biobert + Euclidean Dist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0.21293801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4021665721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11960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>
                          <a:effectLst/>
                          <a:latin typeface="Aptos Narrow" panose="020B0004020202020204" pitchFamily="34" charset="0"/>
                        </a:rPr>
                        <a:t>LLama_32_3B + Euclidean Dist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0.21203953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848450259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>
                          <a:effectLst/>
                          <a:latin typeface="Aptos Narrow" panose="020B0004020202020204" pitchFamily="34" charset="0"/>
                        </a:rPr>
                        <a:t>LLama + Euclidean Dist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0.20395328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94930250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11960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>
                          <a:effectLst/>
                          <a:latin typeface="Aptos Narrow" panose="020B0004020202020204" pitchFamily="34" charset="0"/>
                        </a:rPr>
                        <a:t>E5_Large + Euclidean Dist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0.19856244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981707794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11960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>
                          <a:effectLst/>
                          <a:latin typeface="Aptos Narrow" panose="020B0004020202020204" pitchFamily="34" charset="0"/>
                        </a:rPr>
                        <a:t>ModernBert + Euclidean Dist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0.19407008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4223298831"/>
                  </a:ext>
                </a:extLst>
              </a:tr>
              <a:tr h="298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11960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>
                          <a:effectLst/>
                          <a:latin typeface="Aptos Narrow" panose="020B0004020202020204" pitchFamily="34" charset="0"/>
                        </a:rPr>
                        <a:t>GTR_T5_Large + Euclidean Dist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0.17520216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335601274"/>
                  </a:ext>
                </a:extLst>
              </a:tr>
              <a:tr h="21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11960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>
                          <a:effectLst/>
                          <a:latin typeface="Aptos Narrow" panose="020B0004020202020204" pitchFamily="34" charset="0"/>
                        </a:rPr>
                        <a:t>Phi4 + Euclidean Dist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0.17160827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2432634286"/>
                  </a:ext>
                </a:extLst>
              </a:tr>
              <a:tr h="298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11960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Medllama_7B + Euclidean </a:t>
                      </a:r>
                      <a:r>
                        <a:rPr lang="en-US" sz="800" b="0" dirty="0" err="1">
                          <a:effectLst/>
                          <a:latin typeface="Aptos Narrow" panose="020B0004020202020204" pitchFamily="34" charset="0"/>
                        </a:rPr>
                        <a:t>Dist</a:t>
                      </a:r>
                      <a:endParaRPr lang="en-US" sz="800" b="0" dirty="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dirty="0">
                          <a:effectLst/>
                          <a:latin typeface="Aptos Narrow" panose="020B0004020202020204" pitchFamily="34" charset="0"/>
                        </a:rPr>
                        <a:t>0.15363881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261706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E4A0298-5E84-03A9-69BD-971FDA451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218599"/>
              </p:ext>
            </p:extLst>
          </p:nvPr>
        </p:nvGraphicFramePr>
        <p:xfrm>
          <a:off x="6437746" y="323715"/>
          <a:ext cx="5614732" cy="6321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404">
                  <a:extLst>
                    <a:ext uri="{9D8B030D-6E8A-4147-A177-3AD203B41FA5}">
                      <a16:colId xmlns:a16="http://schemas.microsoft.com/office/drawing/2014/main" val="3177516889"/>
                    </a:ext>
                  </a:extLst>
                </a:gridCol>
                <a:gridCol w="1717578">
                  <a:extLst>
                    <a:ext uri="{9D8B030D-6E8A-4147-A177-3AD203B41FA5}">
                      <a16:colId xmlns:a16="http://schemas.microsoft.com/office/drawing/2014/main" val="523317735"/>
                    </a:ext>
                  </a:extLst>
                </a:gridCol>
                <a:gridCol w="2937750">
                  <a:extLst>
                    <a:ext uri="{9D8B030D-6E8A-4147-A177-3AD203B41FA5}">
                      <a16:colId xmlns:a16="http://schemas.microsoft.com/office/drawing/2014/main" val="2056308797"/>
                    </a:ext>
                  </a:extLst>
                </a:gridCol>
              </a:tblGrid>
              <a:tr h="339043">
                <a:tc>
                  <a:txBody>
                    <a:bodyPr/>
                    <a:lstStyle/>
                    <a:p>
                      <a:r>
                        <a:rPr lang="en-US" sz="800" dirty="0"/>
                        <a:t>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Methods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Standardization Accuracy 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WHO 5th Edition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8664"/>
                  </a:ext>
                </a:extLst>
              </a:tr>
              <a:tr h="22610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MiniLM_L12_v2 + Euclidean </a:t>
                      </a:r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Dist</a:t>
                      </a:r>
                      <a:endParaRPr lang="en-US" sz="800" b="0" kern="120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0.66795741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643621850"/>
                  </a:ext>
                </a:extLst>
              </a:tr>
              <a:tr h="22610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mpnet_base</a:t>
                      </a:r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+ Euclidean </a:t>
                      </a:r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Dist</a:t>
                      </a:r>
                      <a:endParaRPr lang="en-US" sz="800" b="0" kern="120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0.66505324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2923122740"/>
                  </a:ext>
                </a:extLst>
              </a:tr>
              <a:tr h="22610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LTE-3 + Euclidean </a:t>
                      </a:r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Dist</a:t>
                      </a:r>
                      <a:endParaRPr lang="en-US" sz="800" b="0" kern="120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0.66118103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662268947"/>
                  </a:ext>
                </a:extLst>
              </a:tr>
              <a:tr h="22610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MiniLM_L6_v2 + Euclidean </a:t>
                      </a:r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Dist</a:t>
                      </a:r>
                      <a:endParaRPr lang="en-US" sz="800" b="0" kern="120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0.65827686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011435067"/>
                  </a:ext>
                </a:extLst>
              </a:tr>
              <a:tr h="21968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  <a:endParaRPr lang="en-US" sz="800" b="0" kern="1200" noProof="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LTE-3 + AP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0.65053243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2001886976"/>
                  </a:ext>
                </a:extLst>
              </a:tr>
              <a:tr h="21968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  <a:endParaRPr lang="en-US" sz="800" b="0" kern="1200" noProof="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LTE-3 + </a:t>
                      </a:r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KMeans</a:t>
                      </a:r>
                      <a:endParaRPr lang="en-US" sz="800" b="0" kern="120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0.64085189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212604679"/>
                  </a:ext>
                </a:extLst>
              </a:tr>
              <a:tr h="21968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  <a:endParaRPr lang="en-US" sz="800" b="0" kern="1200" noProof="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ADA002 + Euclidean </a:t>
                      </a:r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Dist</a:t>
                      </a:r>
                      <a:endParaRPr lang="en-US" sz="800" b="0" kern="120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0.6321394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2775858198"/>
                  </a:ext>
                </a:extLst>
              </a:tr>
              <a:tr h="21968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  <a:endParaRPr lang="en-US" sz="800" b="0" kern="1200" noProof="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ADA002 + AP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0.63020329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71338281"/>
                  </a:ext>
                </a:extLst>
              </a:tr>
              <a:tr h="22610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ADA002 + </a:t>
                      </a:r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KMeans</a:t>
                      </a:r>
                      <a:endParaRPr lang="en-US" sz="800" b="0" kern="120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0.60793804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3521891832"/>
                  </a:ext>
                </a:extLst>
              </a:tr>
              <a:tr h="22610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Roberta + Euclidean </a:t>
                      </a:r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Dist</a:t>
                      </a:r>
                      <a:endParaRPr lang="en-US" sz="800" b="0" kern="120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0.57889642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741085275"/>
                  </a:ext>
                </a:extLst>
              </a:tr>
              <a:tr h="22610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Medllama</a:t>
                      </a:r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+ Euclidean </a:t>
                      </a:r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Dist</a:t>
                      </a:r>
                      <a:endParaRPr lang="en-US" sz="800" b="0" kern="120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0.31558567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92314115"/>
                  </a:ext>
                </a:extLst>
              </a:tr>
              <a:tr h="22610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 err="1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Levenshtein</a:t>
                      </a:r>
                      <a:endParaRPr lang="en-US" sz="800" b="0" kern="1200" dirty="0">
                        <a:solidFill>
                          <a:schemeClr val="accent3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0.30590513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2950213849"/>
                  </a:ext>
                </a:extLst>
              </a:tr>
              <a:tr h="22610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 err="1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Levenshtein</a:t>
                      </a:r>
                      <a:r>
                        <a:rPr lang="en-US" sz="800" b="0" kern="120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+ AP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0.28654405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2147432743"/>
                  </a:ext>
                </a:extLst>
              </a:tr>
              <a:tr h="21968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LLama_33_70B + Euclidean </a:t>
                      </a:r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Dist</a:t>
                      </a:r>
                      <a:endParaRPr lang="en-US" sz="800" b="0" kern="120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0.27008712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506931024"/>
                  </a:ext>
                </a:extLst>
              </a:tr>
              <a:tr h="22610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 err="1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Jarro</a:t>
                      </a:r>
                      <a:r>
                        <a:rPr lang="en-US" sz="800" b="0" kern="120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Winkler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0.23426912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357548240"/>
                  </a:ext>
                </a:extLst>
              </a:tr>
              <a:tr h="21968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 err="1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Jarro</a:t>
                      </a:r>
                      <a:r>
                        <a:rPr lang="en-US" sz="800" b="0" kern="120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Winkler + AP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0.23233301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253369807"/>
                  </a:ext>
                </a:extLst>
              </a:tr>
              <a:tr h="22610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Cosine + AP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0.21974831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020401724"/>
                  </a:ext>
                </a:extLst>
              </a:tr>
              <a:tr h="17782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Cosine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accent3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0.2178122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3547181464"/>
                  </a:ext>
                </a:extLst>
              </a:tr>
              <a:tr h="22610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  <a:endParaRPr lang="en-US" sz="800" b="0" kern="1200" noProof="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PubMedBert + Euclidean Dist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0.20522749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2387377679"/>
                  </a:ext>
                </a:extLst>
              </a:tr>
              <a:tr h="16323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  <a:endParaRPr lang="en-US" sz="800" b="0" kern="1200" noProof="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LLama_32_3B + Euclidean Dist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0.20038722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4021665721"/>
                  </a:ext>
                </a:extLst>
              </a:tr>
              <a:tr h="18078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  <a:endParaRPr lang="en-US" sz="800" b="0" kern="1200" noProof="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LLama</a:t>
                      </a:r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+ Euclidean </a:t>
                      </a:r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Dist</a:t>
                      </a:r>
                      <a:endParaRPr lang="en-US" sz="800" b="0" kern="120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0.196515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848450259"/>
                  </a:ext>
                </a:extLst>
              </a:tr>
              <a:tr h="15215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Biobert</a:t>
                      </a:r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+ Euclidean </a:t>
                      </a:r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Dist</a:t>
                      </a:r>
                      <a:endParaRPr lang="en-US" sz="800" b="0" kern="120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0.19554695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194930250"/>
                  </a:ext>
                </a:extLst>
              </a:tr>
              <a:tr h="22610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  <a:endParaRPr lang="en-US" sz="800" b="0" kern="1200" noProof="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ModernBert</a:t>
                      </a:r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+ Euclidean </a:t>
                      </a:r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Dist</a:t>
                      </a:r>
                      <a:endParaRPr lang="en-US" sz="800" b="0" kern="120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0.17909003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981707794"/>
                  </a:ext>
                </a:extLst>
              </a:tr>
              <a:tr h="183737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  <a:endParaRPr lang="en-US" sz="800" b="0" kern="1200" noProof="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E5_Large + Euclidean Dist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0.16747338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4223298831"/>
                  </a:ext>
                </a:extLst>
              </a:tr>
              <a:tr h="22486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GTR_T5_Large + Euclidean </a:t>
                      </a:r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Dist</a:t>
                      </a:r>
                      <a:endParaRPr lang="en-US" sz="800" b="0" kern="120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0.15198451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335601274"/>
                  </a:ext>
                </a:extLst>
              </a:tr>
              <a:tr h="179622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  <a:endParaRPr lang="en-US" sz="800" b="0" kern="1200" noProof="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Phi4 + Euclidean </a:t>
                      </a:r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Dist</a:t>
                      </a:r>
                      <a:endParaRPr lang="en-US" sz="800" b="0" kern="120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0.14908035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2432634286"/>
                  </a:ext>
                </a:extLst>
              </a:tr>
              <a:tr h="21968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noProof="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Text-Embeddings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Medllama_7B + Euclidean </a:t>
                      </a:r>
                      <a:r>
                        <a:rPr lang="en-US" sz="800" b="0" kern="1200" dirty="0" err="1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Dist</a:t>
                      </a:r>
                      <a:endParaRPr lang="en-US" sz="800" b="0" kern="1200" dirty="0">
                        <a:solidFill>
                          <a:schemeClr val="dk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800" b="0" kern="1200" dirty="0">
                          <a:solidFill>
                            <a:schemeClr val="dk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0.13649564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2617066"/>
                  </a:ext>
                </a:extLst>
              </a:tr>
            </a:tbl>
          </a:graphicData>
        </a:graphic>
      </p:graphicFrame>
      <p:sp>
        <p:nvSpPr>
          <p:cNvPr id="2" name="Title 5">
            <a:extLst>
              <a:ext uri="{FF2B5EF4-FFF2-40B4-BE49-F238E27FC236}">
                <a16:creationId xmlns:a16="http://schemas.microsoft.com/office/drawing/2014/main" id="{9C39C44B-F0EF-3938-8FD6-0AF6C09F0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523"/>
            <a:ext cx="3345105" cy="221673"/>
          </a:xfrm>
        </p:spPr>
        <p:txBody>
          <a:bodyPr/>
          <a:lstStyle/>
          <a:p>
            <a:pPr algn="ctr"/>
            <a:r>
              <a:rPr lang="en-US" sz="2400" dirty="0"/>
              <a:t>Model ACCURACY</a:t>
            </a:r>
          </a:p>
        </p:txBody>
      </p:sp>
    </p:spTree>
    <p:extLst>
      <p:ext uri="{BB962C8B-B14F-4D97-AF65-F5344CB8AC3E}">
        <p14:creationId xmlns:p14="http://schemas.microsoft.com/office/powerpoint/2010/main" val="1819409345"/>
      </p:ext>
    </p:extLst>
  </p:cSld>
  <p:clrMapOvr>
    <a:masterClrMapping/>
  </p:clrMapOvr>
</p:sld>
</file>

<file path=ppt/theme/theme1.xml><?xml version="1.0" encoding="utf-8"?>
<a:theme xmlns:a="http://schemas.openxmlformats.org/drawingml/2006/main" name="RIS_LabArchives_Template">
  <a:themeElements>
    <a:clrScheme name="CHOP Custom">
      <a:dk1>
        <a:srgbClr val="D11960"/>
      </a:dk1>
      <a:lt1>
        <a:srgbClr val="FFFFFE"/>
      </a:lt1>
      <a:dk2>
        <a:srgbClr val="FFFFFE"/>
      </a:dk2>
      <a:lt2>
        <a:srgbClr val="584B3D"/>
      </a:lt2>
      <a:accent1>
        <a:srgbClr val="3E9CC9"/>
      </a:accent1>
      <a:accent2>
        <a:srgbClr val="D11960"/>
      </a:accent2>
      <a:accent3>
        <a:srgbClr val="5C8D29"/>
      </a:accent3>
      <a:accent4>
        <a:srgbClr val="97C5DF"/>
      </a:accent4>
      <a:accent5>
        <a:srgbClr val="E5849B"/>
      </a:accent5>
      <a:accent6>
        <a:srgbClr val="9FBE7E"/>
      </a:accent6>
      <a:hlink>
        <a:srgbClr val="0000FF"/>
      </a:hlink>
      <a:folHlink>
        <a:srgbClr val="800080"/>
      </a:folHlink>
    </a:clrScheme>
    <a:fontScheme name="Custom 1">
      <a:majorFont>
        <a:latin typeface="Arial"/>
        <a:ea typeface=""/>
        <a:cs typeface=""/>
      </a:majorFont>
      <a:minorFont>
        <a:latin typeface="Georgi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novationeco" id="{994BA8A9-91A8-8D4A-A9A8-8E8B7A3944AB}" vid="{60D1369B-A32A-9840-9929-4F474B34A6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3D347118B88A4EA8E9A5FEBC94FD86" ma:contentTypeVersion="8" ma:contentTypeDescription="Create a new document." ma:contentTypeScope="" ma:versionID="e54af44cc39137a71e496aa5089235ef">
  <xsd:schema xmlns:xsd="http://www.w3.org/2001/XMLSchema" xmlns:xs="http://www.w3.org/2001/XMLSchema" xmlns:p="http://schemas.microsoft.com/office/2006/metadata/properties" xmlns:ns2="fcde5e04-944e-4dfc-be86-0a9ace870ff9" xmlns:ns3="e96402cb-0a6e-49e7-8465-cfae72b5129c" xmlns:ns4="34d7e926-6bad-4161-b251-cfc43f69ae87" xmlns:ns5="http://schemas.microsoft.com/sharepoint/v4" targetNamespace="http://schemas.microsoft.com/office/2006/metadata/properties" ma:root="true" ma:fieldsID="4dfd49e6986a0fb6e4e84e6606b80ac7" ns2:_="" ns3:_="" ns4:_="" ns5:_="">
    <xsd:import namespace="fcde5e04-944e-4dfc-be86-0a9ace870ff9"/>
    <xsd:import namespace="e96402cb-0a6e-49e7-8465-cfae72b5129c"/>
    <xsd:import namespace="34d7e926-6bad-4161-b251-cfc43f69ae87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TaxKeywordTaxHTField" minOccurs="0"/>
                <xsd:element ref="ns3:o54b1e4c7e8f4e00a12ce46439e0e974" minOccurs="0"/>
                <xsd:element ref="ns3:h6a4a4262ab844b18de92e197378cee0" minOccurs="0"/>
                <xsd:element ref="ns4:Category" minOccurs="0"/>
                <xsd:element ref="ns5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de5e04-944e-4dfc-be86-0a9ace870ff9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9" nillable="true" ma:taxonomy="true" ma:internalName="TaxKeywordTaxHTField" ma:taxonomyFieldName="TaxKeyword" ma:displayName="Enterprise Keywords" ma:fieldId="{23f27201-bee3-471e-b2e7-b64fd8b7ca38}" ma:taxonomyMulti="true" ma:sspId="096f6f6b-f55a-454e-8dbb-24a06af11355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402cb-0a6e-49e7-8465-cfae72b5129c" elementFormDefault="qualified">
    <xsd:import namespace="http://schemas.microsoft.com/office/2006/documentManagement/types"/>
    <xsd:import namespace="http://schemas.microsoft.com/office/infopath/2007/PartnerControls"/>
    <xsd:element name="o54b1e4c7e8f4e00a12ce46439e0e974" ma:index="11" nillable="true" ma:taxonomy="true" ma:internalName="o54b1e4c7e8f4e00a12ce46439e0e974" ma:taxonomyFieldName="KnowledgeBaseMetadata" ma:displayName="Knowledge Base Tags" ma:fieldId="{854b1e4c-7e8f-4e00-a12c-e46439e0e974}" ma:taxonomyMulti="true" ma:sspId="096f6f6b-f55a-454e-8dbb-24a06af11355" ma:termSetId="0fa4fcc5-20ed-47ab-b5c6-c9c312be74d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6a4a4262ab844b18de92e197378cee0" ma:index="13" nillable="true" ma:taxonomy="true" ma:internalName="h6a4a4262ab844b18de92e197378cee0" ma:taxonomyFieldName="KBPoliciesAndProcedures" ma:displayName="Knowledge Base Policies and Procedures" ma:fieldId="{16a4a426-2ab8-44b1-8de9-2e197378cee0}" ma:taxonomyMulti="true" ma:sspId="096f6f6b-f55a-454e-8dbb-24a06af11355" ma:termSetId="bf388315-c5fb-4b9c-b70e-1e19d0e0d3b2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d7e926-6bad-4161-b251-cfc43f69ae87" elementFormDefault="qualified">
    <xsd:import namespace="http://schemas.microsoft.com/office/2006/documentManagement/types"/>
    <xsd:import namespace="http://schemas.microsoft.com/office/infopath/2007/PartnerControls"/>
    <xsd:element name="Category" ma:index="14" nillable="true" ma:displayName="Category" ma:format="Dropdown" ma:internalName="Category">
      <xsd:simpleType>
        <xsd:restriction base="dms:Choice">
          <xsd:enumeration value="Guidelines"/>
          <xsd:enumeration value="Templates"/>
          <xsd:enumeration value="AAG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5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h6a4a4262ab844b18de92e197378cee0 xmlns="e96402cb-0a6e-49e7-8465-cfae72b5129c">
      <Terms xmlns="http://schemas.microsoft.com/office/infopath/2007/PartnerControls"/>
    </h6a4a4262ab844b18de92e197378cee0>
    <o54b1e4c7e8f4e00a12ce46439e0e974 xmlns="e96402cb-0a6e-49e7-8465-cfae72b5129c">
      <Terms xmlns="http://schemas.microsoft.com/office/infopath/2007/PartnerControls"/>
    </o54b1e4c7e8f4e00a12ce46439e0e974>
    <Category xmlns="34d7e926-6bad-4161-b251-cfc43f69ae87">Templates</Category>
    <TaxKeywordTaxHTField xmlns="fcde5e04-944e-4dfc-be86-0a9ace870ff9">
      <Terms xmlns="http://schemas.microsoft.com/office/infopath/2007/PartnerControls"/>
    </TaxKeywordTaxHTField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8E78B9CA-BC85-4AC4-82A4-AD53C20980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BAC596-346B-4E59-839B-DB15DC7AE2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de5e04-944e-4dfc-be86-0a9ace870ff9"/>
    <ds:schemaRef ds:uri="e96402cb-0a6e-49e7-8465-cfae72b5129c"/>
    <ds:schemaRef ds:uri="34d7e926-6bad-4161-b251-cfc43f69ae87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493EF0-0BE4-4E84-A0BC-FF9879CDB9E8}">
  <ds:schemaRefs>
    <ds:schemaRef ds:uri="http://schemas.microsoft.com/office/2006/metadata/properties"/>
    <ds:schemaRef ds:uri="http://schemas.microsoft.com/office/infopath/2007/PartnerControls"/>
    <ds:schemaRef ds:uri="e96402cb-0a6e-49e7-8465-cfae72b5129c"/>
    <ds:schemaRef ds:uri="34d7e926-6bad-4161-b251-cfc43f69ae87"/>
    <ds:schemaRef ds:uri="fcde5e04-944e-4dfc-be86-0a9ace870ff9"/>
    <ds:schemaRef ds:uri="http://schemas.microsoft.com/sharepoint/v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3298</TotalTime>
  <Words>1096</Words>
  <Application>Microsoft Macintosh PowerPoint</Application>
  <PresentationFormat>Widescreen</PresentationFormat>
  <Paragraphs>321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 Narrow</vt:lpstr>
      <vt:lpstr>Arial</vt:lpstr>
      <vt:lpstr>Calibri</vt:lpstr>
      <vt:lpstr>Chronicle Text G1 Roman</vt:lpstr>
      <vt:lpstr>Georgia</vt:lpstr>
      <vt:lpstr>Rubrik-SemiBold</vt:lpstr>
      <vt:lpstr>Times New Roman</vt:lpstr>
      <vt:lpstr>RIS_LabArchives_Template</vt:lpstr>
      <vt:lpstr>CANTOS: Automated Tumor Name Standardization in the NIH Clinical Trials Registry Using the CANTOS Pipeline</vt:lpstr>
      <vt:lpstr>Background  </vt:lpstr>
      <vt:lpstr>Tumor Name Standardization  </vt:lpstr>
      <vt:lpstr>Unstandardized Tumor Names in CTR</vt:lpstr>
      <vt:lpstr>CANTOS Pipeline</vt:lpstr>
      <vt:lpstr>Overview of Embedding Models</vt:lpstr>
      <vt:lpstr>Model ACCURACY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keywords/>
  <cp:lastModifiedBy>Lahiri, Aditya</cp:lastModifiedBy>
  <cp:revision>20</cp:revision>
  <dcterms:created xsi:type="dcterms:W3CDTF">2018-01-25T18:17:50Z</dcterms:created>
  <dcterms:modified xsi:type="dcterms:W3CDTF">2025-01-23T17:24:55Z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0x010100DF3D347118B88A4EA8E9A5FEBC94FD86</vt:lpwstr>
  </property>
  <property fmtid="{D5CDD505-2E9C-101B-9397-08002B2CF9AE}" pid="3" name="KBPoliciesAndProcedures">
    <vt:lpwstr/>
  </property>
  <property fmtid="{D5CDD505-2E9C-101B-9397-08002B2CF9AE}" pid="4" name="TaxKeyword">
    <vt:lpwstr/>
  </property>
  <property fmtid="{D5CDD505-2E9C-101B-9397-08002B2CF9AE}" pid="5" name="KnowledgeBaseMetadata">
    <vt:lpwstr/>
  </property>
  <property fmtid="{D5CDD505-2E9C-101B-9397-08002B2CF9AE}" pid="6" name="TaxCatchAll">
    <vt:lpwstr/>
  </property>
</Properties>
</file>